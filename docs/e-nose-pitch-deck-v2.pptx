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สวัสดีครับ วันนี้เสนอ "เครื่องดมทุเรียนอัจฉริยะ" เครื่องตรวจความสุกและการเสียของทุเรียนจากกลิ่น ด้วยเซนเซอร์แก๊สหลายตัวบน ESP32 มีสองรุ่นคือ DS-301 เครื่องคัดบนสายพานสำหรับล้ง และ E-100 เครื่องตั้งโต๊ะสำหรับร้านพรีเมียม ทั้งสองรุ่นเป็นแนวคิด ยังไม่ได้สร้างจริง และเรายังไม่มีผลทดลองจากเครื่องของเราเอง</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เริ่มจากข่าวจริงครับ พฤษภาคม 2569 เจ้าหน้าที่พบทุเรียนอ่อนกว่า 500 ลูกในล้งแห่งหนึ่งที่จันทบุรี และสั่งรื้อห้ามส่งออก ข่าวนี้บอกว่าการตรวจแบบสุ่มปล่อยลูกที่มีปัญหาหลุดได้ เครื่องของเราไม่ได้ตัดสินอ่อนหรือแก่ เพราะกลิ่นแยกไม่ได้ แต่ดมหาลูกที่สุกเกินหรือเริ่มเสียทีละลูก ซึ่งเป็นความเสี่ยงระหว่างขนส่งที่ไม่มีใครรู้จนเปิดตู้</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ทำไมเรื่องนี้ใหญ่ ปี 2568 ทุเรียนสดส่งไปจีนราว 939,892 ตัน รวม 58,072 ชิปเมนต์ มูลค่าราว 150,279 ล้านบาท ตามรายงานของ Nation Thailand ขอบเขตข้อมูลอาจต่างจากสถิติส่งออกของไทย ทีมคำนวณว่าต่อชิปเมนต์เฉลี่ยราว 16 ตัน มูลค่าราว 2.6 ล้านบาท เป็นมูลค่าที่เสี่ยง ไม่ใช่ตัวเลขความเสียหาย</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วิธีเดิมคือเคาะฟังเสียง นับวันหลังดอกบาน หรือผ่าวัดน้ำหนักแห้ง ซึ่งทำลายผล จึงทำได้แค่สุ่ม NIR และ GC-MS แพงหรือใช้หน้างานไม่ได้ ทีมค้นงานวิจัยสี่รอบ ยังไม่พบงาน e-nose ที่แยกทุเรียนเน่าจากปกติพร้อมรายงานความแม่นยำ นี่เป็นการค้นของทีม ไม่ได้อ้างว่าไม่มีอยู่ งานที่ใกล้ที่สุดคือ Chiu และคณะ ปี 2025 ใช้ e-nose ราคาถูกกับทุเรียนไทย ต่างจากเราตรงที่เราออกแบบระดับไม่แน่ใจ และสองเครื่องสำหรับล้งและหน้าร้าน เรายังไม่มีผลวัด จึงไม่เทียบความแม่นยำ</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แนวคิดของเราง่ายๆ ดมก่อนตัด ตัดสินจากกลิ่น ไม่ต้องผ่าผล เครื่องดมกลิ่นผลไม้ด้วยเซนเซอร์แก๊สหลายตัว แล้วบอกเกรดความสุกหรือการเสีย เป็นแผนที่ยังไม่ได้ทดสอบ เรายังไม่มีผลทดลองจากเครื่องของเราเอง</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วิธีตัดสินที่วางแผนไว้ เซนเซอร์แต่ละตัวอ่านค่าความต้านทาน Rs ต่อ R0 ที่ลดลงเมื่อมีกลิ่น เรารวมค่าของเซนเซอร์หลายตัวเป็นลายนิ้วมือกลิ่นของลูกนั้น แล้วเทียบกับค่าอ้างอิงของแต่ละเกรดที่จะได้จากการสอบเทียบ ถ้าใกล้เกรดใดชัดเจนก็แสดงเกรดนั้น ถ้าก้ำกึ่งหรือห่างจากทุกเกรด แสดงไม่แน่ใจและให้คนตรวจ ภาพแท่งในสไลด์เป็นภาพประกอบ ไม่มีตัวเลข ค่าเกณฑ์จริงต้องได้จากข้อมูลทุเรียนจริงก่อน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นี่คือ Simulation บนเว็บของทีม ภาพตัด 3 มิติของตัวเครื่อง เห็นห้องดม วาล์ว ห้องเซนเซอร์ ปั๊ม และ ESP32-S3 ปรับสถานะผลไม้จากสดถึงเน่าแล้วอนุภาคแก๊สและกราฟเซนเซอร์เปลี่ยนตาม ตัวเลขทุกตัวเป็นหน่วยสมมติ ไม่ใช่ ppm และไม่ใช่ข้อมูลวัดจริง สแกน QR ท้ายสไลด์เพื่อลองเล่น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ฮาร์ดแวร์ของต้นแบบ ESP32-S3 อ่านเซนเซอร์ TGS2602 และ TGS2603 ผ่าน ADS1115 ส่วน BME688 สองตัว ตัวหนึ่งในห้องเซนเซอร์ อีกตัววัดอากาศอ้างอิง ปั๊มลม 5 โวลต์และวาล์วสามทางสั่งผ่าน MOSFET ลมไหลจากไส้กรองคาร์บอนผ่านวาล์ว ห้องดม ห้องเซนเซอร์ แล้วปั๊มดันออก เป็นผังออกแบบ ยังไม่มีผลวัดจริง</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DS-301 คือเครื่องคัดบนสายพานสำหรับโรงคัดของล้ง สายพานป้อนทุเรียนเข้าตู้ห้องดมที่คร่อมสายพาน มีประตูหน้าและหลัง ขนาดแนวคิดราว 70 คูณ 55 คูณ 65 เซนติเมตร ดมทีละลูกผ่านรอบวัดเส้นฐาน สะสมกลิ่น ดม และล้าง แล้วตัวแยกเลนส่งลงลังสี่ช่องตามไฟเกรดสี่ดวง คือ ยังไม่สุกจากกลิ่นซึ่งเป็นแนวคิดเท่านั้น สุก สุกเกินหรือเริ่มเสีย และไม่แน่ใจส่งคนตรวจ อัตราคัดสูงสุดราว 24 ลูกต่อชั่วโมงต่อห้องดม เป็นประมาณการของทีม สายพานไม่เพิ่มอัตรานี้ ต้องเพิ่มห้องดม มอเตอร์สายพาน ประตู และตัวแยกเลนยังไม่ได้ออกแบบวงจร เครื่องนี้ยังไม่ได้สร้างจริง</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E-100 คือเครื่องดมหน้าร้าน เครื่องเล็กวางบนเคาน์เตอร์หรือแผงขาย ให้ลูกค้าเลือกทุเรียนพรีเมียมแล้วดมเช็กทีละลูกก่อนซื้อ ไฟเกรดและผลหันไปทางลูกค้า เพื่อให้ผู้ซื้อมั่นใจขึ้น ใช้ชุดเซนเซอร์เดียวกับ DS-301 เป็นแนวคิด ยังไม่ได้สร้างจริง ไม่ระบุน้ำหนักหรือราคา</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อีกการใช้งานที่ทีมจำลองไว้คือห้องบ่มทุเรียน ติดเครื่องตรวจที่ผนังห้อง วัดเอทิลีน คาร์บอนไดออกไซด์ อุณหภูมิ และความชื้น และแสดงระดับความสุกของทุเรียนในห้อง สิบลูก ระบบเปิดพัดลมระบายอากาศอัตโนมัติเมื่อค่าเกินเกณฑ์ ภาพนี้เป็นการจำลองทั้งหมด ยังไม่มีข้อมูลวัดจริง</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งบประมาณชุดต้นแบบมีสองแบบ ชุดเดิม TGS สองตัวกับ BME688 สองตัว ประมาณ 3,500 บาท ชุดประหยัด MQ-3 MQ-135 และ BME680 ประมาณ 1,400 ถึง 2,100 บาท ราคาจาก Lazada และ allnewstep วันที่ 26 ตุลาคม 2026 ไม่รวมค่าส่ง ไส้กรอง กล่อง และท่อ ชุดประหยัดเสียเซนเซอร์อมีนกำมะถันและตัวอ้างอิงอากาศ ความแม่นยำที่ลดลงตอบเป็นตัวเลขไม่ได้ ยังไม่มีราคาของ DS-301 และ E-100 เต็มเครื่อง และยังไม่รวมสายพาน ด้านธุรกิจ ลูกค้าหลักคือล้งและผู้ส่งออก ร้านพรีเมียมเป็นกลุ่มทดลองตลาด รายได้จากขายหรือให้เช่าเครื่อง และค่าสมาชิกรายฤดู ซึ่งเป็นข้อเสนอ ยังไม่ได้ทดสอบตลาด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แผนงานสามขั้น ขั้นแรก ต้นแบบชุด A ราว 1,400 ถึง 3,500 บาท เก็บข้อมูลทุเรียนจริง ขั้นสอง ถ้าผลดี เพิ่มเซนเซอร์คุณภาพสูงขึ้น ประมาณ 60,000 ถึง 100,000 บาท ขั้นสาม เพิ่ม NIR และส่งตรวจ GC-MS เป็นเฉลย ตั้งแต่ 1 ถึง 3 แสนบาทขึ้นไป สองขั้นหลังเป็นประมาณการเดิมของทีม ยังไม่ได้ขอใบเสนอราคา แผนทดลอง ดมทุเรียนลูกเดิมทุกวันจนสุกเกิน แบ่งสามคลาส เทียบสองชุดเซนเซอร์ด้วยวิธีเดียวกัน แล้วรายงานตามจริง</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ข้อจำกัดที่ต้องบอกตรงๆ ยังไม่มีผลทดลองจากเครื่องของเราเอง จึงไม่อ้างความแม่นยำ ยังไม่ได้ทดสอบกับทุเรียนจริง เซนเซอร์แก๊สราคาถูกวัดสารรายชนิดไม่ได้ และแยกทุเรียนอ่อนจากแก่จากกลิ่นอย่างเดียวยังไม่มีหลักฐาน งานวิจัยส่วนใหญ่เป็นห้องแล็บ Simulation เป็นค่าจำลอง DS-301 และ E-100 ยังไม่ได้สร้างจริง</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ทีม พี่จร้าาา สาย IoT &amp; Innovation ในงาน IoTE KMITL 2026 Showcase ผู้นำเสนอคือ ณัฐพฤทธ์ เอกประเสริฐ เราขอคำชี้แนะจากกรรมการสามข้อ หนึ่ง ควรเริ่มทดสอบ DS-301 ที่ล้ง หรือ E-100 ที่ร้านก่อน สอง ควรลงทุนเซนเซอร์ระดับ B ตั้งแต่ต้น หรือพิสูจน์ด้วยชุด A ก่อน สาม มีล้งหรือหน่วยงานไหนที่ควรติดต่อเพื่อเก็บข้อมูลจริง</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ขอบคุณครับ สแกน QR เพื่อดูข้อมูลเพิ่มเติม Simulation เครื่อง DS-301 เครื่อง E-100 ห้องบ่มทุเรียน ผังต่อสาย และเอกสารทั้งหมดบนเว็บของทีม ค่าใน Simulation เป็นค่าจำลองทั้งหมด</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TextBox 1"/>
          <p:cNvSpPr txBox="1"/>
          <p:nvPr/>
        </p:nvSpPr>
        <p:spPr>
          <a:xfrm>
            <a:off x="571500" y="381000"/>
            <a:ext cx="10795000" cy="254000"/>
          </a:xfrm>
          <a:prstGeom prst="rect">
            <a:avLst/>
          </a:prstGeom>
          <a:noFill/>
        </p:spPr>
        <p:txBody>
          <a:bodyPr wrap="square" lIns="0" rIns="0" tIns="0" bIns="0" anchor="t">
            <a:spAutoFit/>
          </a:bodyPr>
          <a:lstStyle/>
          <a:p>
            <a:pPr algn="l">
              <a:lnSpc>
                <a:spcPct val="115000"/>
              </a:lnSpc>
            </a:pPr>
            <a:r>
              <a:rPr sz="1500" b="1">
                <a:solidFill>
                  <a:srgbClr val="B9D84A"/>
                </a:solidFill>
                <a:latin typeface="Tahoma"/>
              </a:rPr>
              <a:t>IoT (Internet of Things) · IoTE KMITL 2026 Showcase</a:t>
            </a:r>
          </a:p>
        </p:txBody>
      </p:sp>
      <p:sp>
        <p:nvSpPr>
          <p:cNvPr id="3" name="TextBox 2"/>
          <p:cNvSpPr txBox="1"/>
          <p:nvPr/>
        </p:nvSpPr>
        <p:spPr>
          <a:xfrm>
            <a:off x="571500" y="1587500"/>
            <a:ext cx="11049000" cy="1143000"/>
          </a:xfrm>
          <a:prstGeom prst="rect">
            <a:avLst/>
          </a:prstGeom>
          <a:noFill/>
        </p:spPr>
        <p:txBody>
          <a:bodyPr wrap="square" lIns="0" rIns="0" tIns="0" bIns="0" anchor="t">
            <a:spAutoFit/>
          </a:bodyPr>
          <a:lstStyle/>
          <a:p>
            <a:pPr algn="l">
              <a:lnSpc>
                <a:spcPct val="115000"/>
              </a:lnSpc>
            </a:pPr>
            <a:r>
              <a:rPr sz="6600" b="1">
                <a:solidFill>
                  <a:srgbClr val="F2F6EE"/>
                </a:solidFill>
                <a:latin typeface="Tahoma"/>
              </a:rPr>
              <a:t>เครื่องดมทุเรียนอัจฉริยะ</a:t>
            </a:r>
          </a:p>
        </p:txBody>
      </p:sp>
      <p:sp>
        <p:nvSpPr>
          <p:cNvPr id="4" name="TextBox 3"/>
          <p:cNvSpPr txBox="1"/>
          <p:nvPr/>
        </p:nvSpPr>
        <p:spPr>
          <a:xfrm>
            <a:off x="571500" y="2794000"/>
            <a:ext cx="10160000" cy="698500"/>
          </a:xfrm>
          <a:prstGeom prst="rect">
            <a:avLst/>
          </a:prstGeom>
          <a:noFill/>
        </p:spPr>
        <p:txBody>
          <a:bodyPr wrap="square" lIns="0" rIns="0" tIns="0" bIns="0" anchor="t">
            <a:spAutoFit/>
          </a:bodyPr>
          <a:lstStyle/>
          <a:p>
            <a:pPr algn="l">
              <a:lnSpc>
                <a:spcPct val="115000"/>
              </a:lnSpc>
            </a:pPr>
            <a:r>
              <a:rPr sz="3500" b="1">
                <a:solidFill>
                  <a:srgbClr val="B9D84A"/>
                </a:solidFill>
                <a:latin typeface="Tahoma"/>
              </a:rPr>
              <a:t>จมูกอิเล็กทรอนิกส์ (e-nose)</a:t>
            </a:r>
          </a:p>
        </p:txBody>
      </p:sp>
      <p:sp>
        <p:nvSpPr>
          <p:cNvPr id="5" name="TextBox 4"/>
          <p:cNvSpPr txBox="1"/>
          <p:nvPr/>
        </p:nvSpPr>
        <p:spPr>
          <a:xfrm>
            <a:off x="571500" y="3937000"/>
            <a:ext cx="11049000" cy="889000"/>
          </a:xfrm>
          <a:prstGeom prst="rect">
            <a:avLst/>
          </a:prstGeom>
          <a:noFill/>
        </p:spPr>
        <p:txBody>
          <a:bodyPr wrap="square" lIns="0" rIns="0" tIns="0" bIns="0" anchor="t">
            <a:spAutoFit/>
          </a:bodyPr>
          <a:lstStyle/>
          <a:p>
            <a:pPr algn="l">
              <a:lnSpc>
                <a:spcPct val="115000"/>
              </a:lnSpc>
            </a:pPr>
            <a:r>
              <a:rPr sz="2800" b="0">
                <a:solidFill>
                  <a:srgbClr val="F2F6EE"/>
                </a:solidFill>
                <a:latin typeface="Tahoma"/>
              </a:rPr>
              <a:t>รู้ก่อนว่าทุเรียนสุกพอดีหรือเริ่มเสีย — ด้วยจมูกอิเล็กทรอนิกส์</a:t>
            </a:r>
          </a:p>
        </p:txBody>
      </p:sp>
      <p:sp>
        <p:nvSpPr>
          <p:cNvPr id="6" name="Rounded Rectangle 5"/>
          <p:cNvSpPr/>
          <p:nvPr/>
        </p:nvSpPr>
        <p:spPr>
          <a:xfrm>
            <a:off x="571500" y="5080000"/>
            <a:ext cx="3302000" cy="698500"/>
          </a:xfrm>
          <a:prstGeom prst="roundRect">
            <a:avLst>
              <a:gd name="adj" fmla="val 25454"/>
            </a:avLst>
          </a:prstGeom>
          <a:solidFill>
            <a:srgbClr val="172720"/>
          </a:solidFill>
          <a:ln w="12700">
            <a:solidFill>
              <a:srgbClr val="B9D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5143500"/>
            <a:ext cx="2997200" cy="571500"/>
          </a:xfrm>
          <a:prstGeom prst="rect">
            <a:avLst/>
          </a:prstGeom>
          <a:noFill/>
        </p:spPr>
        <p:txBody>
          <a:bodyPr wrap="square" lIns="0" rIns="0" tIns="0" bIns="0" anchor="ctr">
            <a:spAutoFit/>
          </a:bodyPr>
          <a:lstStyle/>
          <a:p>
            <a:pPr algn="ctr">
              <a:lnSpc>
                <a:spcPct val="115000"/>
              </a:lnSpc>
            </a:pPr>
            <a:r>
              <a:rPr sz="1700" b="1">
                <a:solidFill>
                  <a:srgbClr val="B9D84A"/>
                </a:solidFill>
                <a:latin typeface="Tahoma"/>
              </a:rPr>
              <a:t>DS-301</a:t>
            </a:r>
          </a:p>
          <a:p>
            <a:pPr algn="ctr">
              <a:lnSpc>
                <a:spcPct val="115000"/>
              </a:lnSpc>
            </a:pPr>
            <a:r>
              <a:rPr sz="1700" b="1">
                <a:solidFill>
                  <a:srgbClr val="F2F6EE"/>
                </a:solidFill>
                <a:latin typeface="Tahoma"/>
              </a:rPr>
              <a:t>เครื่องคัด · สายพาน</a:t>
            </a:r>
          </a:p>
        </p:txBody>
      </p:sp>
      <p:sp>
        <p:nvSpPr>
          <p:cNvPr id="8" name="Rounded Rectangle 7"/>
          <p:cNvSpPr/>
          <p:nvPr/>
        </p:nvSpPr>
        <p:spPr>
          <a:xfrm>
            <a:off x="4064000" y="5080000"/>
            <a:ext cx="3302000" cy="698500"/>
          </a:xfrm>
          <a:prstGeom prst="roundRect">
            <a:avLst>
              <a:gd name="adj" fmla="val 25454"/>
            </a:avLst>
          </a:prstGeom>
          <a:solidFill>
            <a:srgbClr val="172720"/>
          </a:solidFill>
          <a:ln w="12700">
            <a:solidFill>
              <a:srgbClr val="B9D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16400" y="5143500"/>
            <a:ext cx="2997200" cy="571500"/>
          </a:xfrm>
          <a:prstGeom prst="rect">
            <a:avLst/>
          </a:prstGeom>
          <a:noFill/>
        </p:spPr>
        <p:txBody>
          <a:bodyPr wrap="square" lIns="0" rIns="0" tIns="0" bIns="0" anchor="ctr">
            <a:spAutoFit/>
          </a:bodyPr>
          <a:lstStyle/>
          <a:p>
            <a:pPr algn="ctr">
              <a:lnSpc>
                <a:spcPct val="115000"/>
              </a:lnSpc>
            </a:pPr>
            <a:r>
              <a:rPr sz="1700" b="1">
                <a:solidFill>
                  <a:srgbClr val="B9D84A"/>
                </a:solidFill>
                <a:latin typeface="Tahoma"/>
              </a:rPr>
              <a:t>E-100</a:t>
            </a:r>
          </a:p>
          <a:p>
            <a:pPr algn="ctr">
              <a:lnSpc>
                <a:spcPct val="115000"/>
              </a:lnSpc>
            </a:pPr>
            <a:r>
              <a:rPr sz="1700" b="1">
                <a:solidFill>
                  <a:srgbClr val="F2F6EE"/>
                </a:solidFill>
                <a:latin typeface="Tahoma"/>
              </a:rPr>
              <a:t>เครื่องดม · หน้าร้าน</a:t>
            </a:r>
          </a:p>
        </p:txBody>
      </p:sp>
      <p:sp>
        <p:nvSpPr>
          <p:cNvPr id="10" name="Rounded Rectangle 9"/>
          <p:cNvSpPr/>
          <p:nvPr/>
        </p:nvSpPr>
        <p:spPr>
          <a:xfrm>
            <a:off x="7556500" y="5194300"/>
            <a:ext cx="4064000" cy="469900"/>
          </a:xfrm>
          <a:prstGeom prst="roundRect">
            <a:avLst>
              <a:gd name="adj" fmla="val 48648"/>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56500" y="5194300"/>
            <a:ext cx="4064000" cy="469900"/>
          </a:xfrm>
          <a:prstGeom prst="rect">
            <a:avLst/>
          </a:prstGeom>
          <a:noFill/>
        </p:spPr>
        <p:txBody>
          <a:bodyPr wrap="square" lIns="0" rIns="0" tIns="0" bIns="0" anchor="ctr">
            <a:spAutoFit/>
          </a:bodyPr>
          <a:lstStyle/>
          <a:p>
            <a:pPr algn="ctr">
              <a:lnSpc>
                <a:spcPct val="115000"/>
              </a:lnSpc>
            </a:pPr>
            <a:r>
              <a:rPr sz="1500" b="1">
                <a:solidFill>
                  <a:srgbClr val="E3A21A"/>
                </a:solidFill>
                <a:latin typeface="Tahoma"/>
              </a:rPr>
              <a:t>แนวคิด · ยังไม่ได้สร้างจริง</a:t>
            </a:r>
          </a:p>
        </p:txBody>
      </p:sp>
      <p:sp>
        <p:nvSpPr>
          <p:cNvPr id="12" name="TextBox 11"/>
          <p:cNvSpPr txBox="1"/>
          <p:nvPr/>
        </p:nvSpPr>
        <p:spPr>
          <a:xfrm>
            <a:off x="571500" y="6254750"/>
            <a:ext cx="11049000" cy="317500"/>
          </a:xfrm>
          <a:prstGeom prst="rect">
            <a:avLst/>
          </a:prstGeom>
          <a:noFill/>
        </p:spPr>
        <p:txBody>
          <a:bodyPr wrap="square" lIns="0" rIns="0" tIns="0" bIns="0" anchor="t">
            <a:spAutoFit/>
          </a:bodyPr>
          <a:lstStyle/>
          <a:p>
            <a:pPr algn="l">
              <a:lnSpc>
                <a:spcPct val="115000"/>
              </a:lnSpc>
            </a:pPr>
            <a:r>
              <a:rPr sz="1400" b="0">
                <a:solidFill>
                  <a:srgbClr val="A3B6AA"/>
                </a:solidFill>
                <a:latin typeface="Tahoma"/>
              </a:rPr>
              <a:t>ทีม พี่จร้าาา · IoTE KMITL 2026 · สาย IoT &amp; Innovation · ผู้นำเสนอ ณัฐพฤทธ์ เอกประเสริฐ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TextBox 1"/>
          <p:cNvSpPr txBox="1"/>
          <p:nvPr/>
        </p:nvSpPr>
        <p:spPr>
          <a:xfrm>
            <a:off x="571500" y="254000"/>
            <a:ext cx="7620000" cy="254000"/>
          </a:xfrm>
          <a:prstGeom prst="rect">
            <a:avLst/>
          </a:prstGeom>
          <a:noFill/>
        </p:spPr>
        <p:txBody>
          <a:bodyPr wrap="square" lIns="0" rIns="0" tIns="0" bIns="0" anchor="t">
            <a:spAutoFit/>
          </a:bodyPr>
          <a:lstStyle/>
          <a:p>
            <a:pPr algn="l">
              <a:lnSpc>
                <a:spcPct val="115000"/>
              </a:lnSpc>
            </a:pPr>
            <a:r>
              <a:rPr sz="1400" b="0">
                <a:solidFill>
                  <a:srgbClr val="A3B6AA"/>
                </a:solidFill>
                <a:latin typeface="Tahoma"/>
              </a:rPr>
              <a:t>เครื่องดมทุเรียนอัจฉริยะ  ·  </a:t>
            </a:r>
            <a:r>
              <a:rPr sz="1400" b="0">
                <a:solidFill>
                  <a:srgbClr val="B9D84A"/>
                </a:solidFill>
                <a:latin typeface="Tahoma"/>
              </a:rPr>
              <a:t>ปัญหา</a:t>
            </a:r>
          </a:p>
        </p:txBody>
      </p:sp>
      <p:sp>
        <p:nvSpPr>
          <p:cNvPr id="3" name="TextBox 2"/>
          <p:cNvSpPr txBox="1"/>
          <p:nvPr/>
        </p:nvSpPr>
        <p:spPr>
          <a:xfrm>
            <a:off x="571500" y="558800"/>
            <a:ext cx="9525000" cy="698500"/>
          </a:xfrm>
          <a:prstGeom prst="rect">
            <a:avLst/>
          </a:prstGeom>
          <a:noFill/>
        </p:spPr>
        <p:txBody>
          <a:bodyPr wrap="square" lIns="0" rIns="0" tIns="0" bIns="0" anchor="t">
            <a:spAutoFit/>
          </a:bodyPr>
          <a:lstStyle/>
          <a:p>
            <a:pPr algn="l">
              <a:lnSpc>
                <a:spcPct val="115000"/>
              </a:lnSpc>
            </a:pPr>
            <a:r>
              <a:rPr sz="3500" b="1">
                <a:solidFill>
                  <a:srgbClr val="F2F6EE"/>
                </a:solidFill>
                <a:latin typeface="Tahoma"/>
              </a:rPr>
              <a:t>ตรวจแบบสุ่ม ลูกที่มีปัญหาหลุดได้</a:t>
            </a:r>
          </a:p>
        </p:txBody>
      </p:sp>
      <p:sp>
        <p:nvSpPr>
          <p:cNvPr id="4" name="Rounded Rectangle 3"/>
          <p:cNvSpPr/>
          <p:nvPr/>
        </p:nvSpPr>
        <p:spPr>
          <a:xfrm>
            <a:off x="8064500" y="304800"/>
            <a:ext cx="3556000" cy="355600"/>
          </a:xfrm>
          <a:prstGeom prst="roundRect">
            <a:avLst>
              <a:gd name="adj" fmla="val 50000"/>
            </a:avLst>
          </a:prstGeom>
          <a:solidFill>
            <a:srgbClr val="22351A"/>
          </a:solidFill>
          <a:ln w="12700">
            <a:solidFill>
              <a:srgbClr val="B9D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64500" y="304800"/>
            <a:ext cx="3556000" cy="355600"/>
          </a:xfrm>
          <a:prstGeom prst="rect">
            <a:avLst/>
          </a:prstGeom>
          <a:noFill/>
        </p:spPr>
        <p:txBody>
          <a:bodyPr wrap="square" lIns="0" rIns="0" tIns="0" bIns="0" anchor="ctr">
            <a:spAutoFit/>
          </a:bodyPr>
          <a:lstStyle/>
          <a:p>
            <a:pPr algn="ctr">
              <a:lnSpc>
                <a:spcPct val="115000"/>
              </a:lnSpc>
            </a:pPr>
            <a:r>
              <a:rPr sz="1300" b="1">
                <a:solidFill>
                  <a:srgbClr val="B9D84A"/>
                </a:solidFill>
                <a:latin typeface="Tahoma"/>
              </a:rPr>
              <a:t>ข้อมูลจากแหล่งอ้างอิง</a:t>
            </a:r>
          </a:p>
        </p:txBody>
      </p:sp>
      <p:sp>
        <p:nvSpPr>
          <p:cNvPr id="6" name="TextBox 5"/>
          <p:cNvSpPr txBox="1"/>
          <p:nvPr/>
        </p:nvSpPr>
        <p:spPr>
          <a:xfrm>
            <a:off x="571500" y="1333500"/>
            <a:ext cx="6350000" cy="2286000"/>
          </a:xfrm>
          <a:prstGeom prst="rect">
            <a:avLst/>
          </a:prstGeom>
          <a:noFill/>
        </p:spPr>
        <p:txBody>
          <a:bodyPr wrap="square" lIns="0" rIns="0" tIns="0" bIns="0" anchor="t">
            <a:spAutoFit/>
          </a:bodyPr>
          <a:lstStyle/>
          <a:p>
            <a:pPr algn="l">
              <a:lnSpc>
                <a:spcPct val="115000"/>
              </a:lnSpc>
            </a:pPr>
            <a:r>
              <a:rPr sz="16000" b="1">
                <a:solidFill>
                  <a:srgbClr val="E3A21A"/>
                </a:solidFill>
                <a:latin typeface="Tahoma"/>
              </a:rPr>
              <a:t>500+</a:t>
            </a:r>
          </a:p>
        </p:txBody>
      </p:sp>
      <p:sp>
        <p:nvSpPr>
          <p:cNvPr id="7" name="TextBox 6"/>
          <p:cNvSpPr txBox="1"/>
          <p:nvPr/>
        </p:nvSpPr>
        <p:spPr>
          <a:xfrm>
            <a:off x="6413500" y="2540000"/>
            <a:ext cx="4445000" cy="1016000"/>
          </a:xfrm>
          <a:prstGeom prst="rect">
            <a:avLst/>
          </a:prstGeom>
          <a:noFill/>
        </p:spPr>
        <p:txBody>
          <a:bodyPr wrap="square" lIns="0" rIns="0" tIns="0" bIns="0" anchor="t">
            <a:spAutoFit/>
          </a:bodyPr>
          <a:lstStyle/>
          <a:p>
            <a:pPr algn="l">
              <a:lnSpc>
                <a:spcPct val="115000"/>
              </a:lnSpc>
            </a:pPr>
            <a:r>
              <a:rPr sz="6000" b="1">
                <a:solidFill>
                  <a:srgbClr val="F2F6EE"/>
                </a:solidFill>
                <a:latin typeface="Tahoma"/>
              </a:rPr>
              <a:t>ลูก</a:t>
            </a:r>
          </a:p>
        </p:txBody>
      </p:sp>
      <p:sp>
        <p:nvSpPr>
          <p:cNvPr id="8" name="TextBox 7"/>
          <p:cNvSpPr txBox="1"/>
          <p:nvPr/>
        </p:nvSpPr>
        <p:spPr>
          <a:xfrm>
            <a:off x="571500" y="3746500"/>
            <a:ext cx="11049000" cy="825500"/>
          </a:xfrm>
          <a:prstGeom prst="rect">
            <a:avLst/>
          </a:prstGeom>
          <a:noFill/>
        </p:spPr>
        <p:txBody>
          <a:bodyPr wrap="square" lIns="0" rIns="0" tIns="0" bIns="0" anchor="t">
            <a:spAutoFit/>
          </a:bodyPr>
          <a:lstStyle/>
          <a:p>
            <a:pPr algn="l">
              <a:lnSpc>
                <a:spcPct val="115000"/>
              </a:lnSpc>
            </a:pPr>
            <a:r>
              <a:rPr sz="2600" b="1">
                <a:solidFill>
                  <a:srgbClr val="F2F6EE"/>
                </a:solidFill>
                <a:latin typeface="Tahoma"/>
              </a:rPr>
              <a:t>ทุเรียนอ่อนหลุดการสุ่มตรวจ พบในล้งที่จันทบุรี สั่งรื้อ ห้ามส่งออก</a:t>
            </a:r>
          </a:p>
        </p:txBody>
      </p:sp>
      <p:sp>
        <p:nvSpPr>
          <p:cNvPr id="9" name="Rounded Rectangle 8"/>
          <p:cNvSpPr/>
          <p:nvPr/>
        </p:nvSpPr>
        <p:spPr>
          <a:xfrm>
            <a:off x="571500" y="4826000"/>
            <a:ext cx="11049000" cy="1016000"/>
          </a:xfrm>
          <a:prstGeom prst="roundRect">
            <a:avLst>
              <a:gd name="adj" fmla="val 17500"/>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 y="4826000"/>
            <a:ext cx="11049000" cy="1016000"/>
          </a:xfrm>
          <a:prstGeom prst="rect">
            <a:avLst/>
          </a:prstGeom>
          <a:noFill/>
        </p:spPr>
        <p:txBody>
          <a:bodyPr wrap="square" lIns="0" rIns="0" tIns="0" bIns="0" anchor="ctr">
            <a:spAutoFit/>
          </a:bodyPr>
          <a:lstStyle/>
          <a:p>
            <a:pPr algn="ctr">
              <a:lnSpc>
                <a:spcPct val="115000"/>
              </a:lnSpc>
            </a:pPr>
            <a:r>
              <a:rPr sz="2200" b="1">
                <a:solidFill>
                  <a:srgbClr val="F2F6EE"/>
                </a:solidFill>
                <a:latin typeface="Tahoma"/>
              </a:rPr>
              <a:t>เครื่องนี้ดมหาลูกสุกเกิน/เริ่มเสีย ไม่ได้ตัดสินอ่อน/แก่</a:t>
            </a:r>
          </a:p>
          <a:p>
            <a:pPr algn="ctr">
              <a:lnSpc>
                <a:spcPct val="115000"/>
              </a:lnSpc>
            </a:pPr>
            <a:r>
              <a:rPr sz="2200" b="1">
                <a:solidFill>
                  <a:srgbClr val="E3A21A"/>
                </a:solidFill>
                <a:latin typeface="Tahoma"/>
              </a:rPr>
              <a:t>ความเสี่ยงสุกเกินระหว่างขนส่ง ไม่มีใครรู้จนเปิดตู้ (ทีมประเมิน)</a:t>
            </a:r>
          </a:p>
        </p:txBody>
      </p:sp>
      <p:sp>
        <p:nvSpPr>
          <p:cNvPr id="11" name="TextBox 10"/>
          <p:cNvSpPr txBox="1"/>
          <p:nvPr/>
        </p:nvSpPr>
        <p:spPr>
          <a:xfrm>
            <a:off x="571500" y="6096000"/>
            <a:ext cx="11049000" cy="254000"/>
          </a:xfrm>
          <a:prstGeom prst="rect">
            <a:avLst/>
          </a:prstGeom>
          <a:noFill/>
        </p:spPr>
        <p:txBody>
          <a:bodyPr wrap="square" lIns="0" rIns="0" tIns="0" bIns="0" anchor="t">
            <a:spAutoFit/>
          </a:bodyPr>
          <a:lstStyle/>
          <a:p>
            <a:pPr algn="l">
              <a:lnSpc>
                <a:spcPct val="115000"/>
              </a:lnSpc>
            </a:pPr>
            <a:r>
              <a:rPr sz="1200" b="0">
                <a:solidFill>
                  <a:srgbClr val="A3B6AA"/>
                </a:solidFill>
                <a:latin typeface="Tahoma"/>
              </a:rPr>
              <a:t>ที่มา: Thai PBS — thaipbs.or.th/news/content/505466 (พ.ค. 2569)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TextBox 1"/>
          <p:cNvSpPr txBox="1"/>
          <p:nvPr/>
        </p:nvSpPr>
        <p:spPr>
          <a:xfrm>
            <a:off x="571500" y="254000"/>
            <a:ext cx="7620000" cy="254000"/>
          </a:xfrm>
          <a:prstGeom prst="rect">
            <a:avLst/>
          </a:prstGeom>
          <a:noFill/>
        </p:spPr>
        <p:txBody>
          <a:bodyPr wrap="square" lIns="0" rIns="0" tIns="0" bIns="0" anchor="t">
            <a:spAutoFit/>
          </a:bodyPr>
          <a:lstStyle/>
          <a:p>
            <a:pPr algn="l">
              <a:lnSpc>
                <a:spcPct val="115000"/>
              </a:lnSpc>
            </a:pPr>
            <a:r>
              <a:rPr sz="1400" b="0">
                <a:solidFill>
                  <a:srgbClr val="A3B6AA"/>
                </a:solidFill>
                <a:latin typeface="Tahoma"/>
              </a:rPr>
              <a:t>เครื่องดมทุเรียนอัจฉริยะ  ·  </a:t>
            </a:r>
            <a:r>
              <a:rPr sz="1400" b="0">
                <a:solidFill>
                  <a:srgbClr val="B9D84A"/>
                </a:solidFill>
                <a:latin typeface="Tahoma"/>
              </a:rPr>
              <a:t>ทำไมสำคัญ</a:t>
            </a:r>
          </a:p>
        </p:txBody>
      </p:sp>
      <p:sp>
        <p:nvSpPr>
          <p:cNvPr id="3" name="TextBox 2"/>
          <p:cNvSpPr txBox="1"/>
          <p:nvPr/>
        </p:nvSpPr>
        <p:spPr>
          <a:xfrm>
            <a:off x="571500" y="558800"/>
            <a:ext cx="9525000" cy="698500"/>
          </a:xfrm>
          <a:prstGeom prst="rect">
            <a:avLst/>
          </a:prstGeom>
          <a:noFill/>
        </p:spPr>
        <p:txBody>
          <a:bodyPr wrap="square" lIns="0" rIns="0" tIns="0" bIns="0" anchor="t">
            <a:spAutoFit/>
          </a:bodyPr>
          <a:lstStyle/>
          <a:p>
            <a:pPr algn="l">
              <a:lnSpc>
                <a:spcPct val="115000"/>
              </a:lnSpc>
            </a:pPr>
            <a:r>
              <a:rPr sz="3500" b="1">
                <a:solidFill>
                  <a:srgbClr val="F2F6EE"/>
                </a:solidFill>
                <a:latin typeface="Tahoma"/>
              </a:rPr>
              <a:t>สินค้าแสนล้านบาท</a:t>
            </a:r>
          </a:p>
        </p:txBody>
      </p:sp>
      <p:sp>
        <p:nvSpPr>
          <p:cNvPr id="4" name="Rounded Rectangle 3"/>
          <p:cNvSpPr/>
          <p:nvPr/>
        </p:nvSpPr>
        <p:spPr>
          <a:xfrm>
            <a:off x="8064500" y="304800"/>
            <a:ext cx="3556000" cy="355600"/>
          </a:xfrm>
          <a:prstGeom prst="roundRect">
            <a:avLst>
              <a:gd name="adj" fmla="val 50000"/>
            </a:avLst>
          </a:prstGeom>
          <a:solidFill>
            <a:srgbClr val="22351A"/>
          </a:solidFill>
          <a:ln w="12700">
            <a:solidFill>
              <a:srgbClr val="B9D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64500" y="304800"/>
            <a:ext cx="3556000" cy="355600"/>
          </a:xfrm>
          <a:prstGeom prst="rect">
            <a:avLst/>
          </a:prstGeom>
          <a:noFill/>
        </p:spPr>
        <p:txBody>
          <a:bodyPr wrap="square" lIns="0" rIns="0" tIns="0" bIns="0" anchor="ctr">
            <a:spAutoFit/>
          </a:bodyPr>
          <a:lstStyle/>
          <a:p>
            <a:pPr algn="ctr">
              <a:lnSpc>
                <a:spcPct val="115000"/>
              </a:lnSpc>
            </a:pPr>
            <a:r>
              <a:rPr sz="1300" b="1">
                <a:solidFill>
                  <a:srgbClr val="B9D84A"/>
                </a:solidFill>
                <a:latin typeface="Tahoma"/>
              </a:rPr>
              <a:t>ข้อมูลจากแหล่งอ้างอิง</a:t>
            </a:r>
          </a:p>
        </p:txBody>
      </p:sp>
      <p:sp>
        <p:nvSpPr>
          <p:cNvPr id="6" name="Rounded Rectangle 5"/>
          <p:cNvSpPr/>
          <p:nvPr/>
        </p:nvSpPr>
        <p:spPr>
          <a:xfrm>
            <a:off x="571500" y="1460500"/>
            <a:ext cx="5334000" cy="3175000"/>
          </a:xfrm>
          <a:prstGeom prst="roundRect">
            <a:avLst>
              <a:gd name="adj" fmla="val 56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5500" y="1778000"/>
            <a:ext cx="4826000" cy="1270000"/>
          </a:xfrm>
          <a:prstGeom prst="rect">
            <a:avLst/>
          </a:prstGeom>
          <a:noFill/>
        </p:spPr>
        <p:txBody>
          <a:bodyPr wrap="square" lIns="0" rIns="0" tIns="0" bIns="0" anchor="t">
            <a:spAutoFit/>
          </a:bodyPr>
          <a:lstStyle/>
          <a:p>
            <a:pPr algn="l">
              <a:lnSpc>
                <a:spcPct val="115000"/>
              </a:lnSpc>
            </a:pPr>
            <a:r>
              <a:rPr sz="7500" b="1">
                <a:solidFill>
                  <a:srgbClr val="B9D84A"/>
                </a:solidFill>
                <a:latin typeface="Tahoma"/>
              </a:rPr>
              <a:t>939,892</a:t>
            </a:r>
          </a:p>
        </p:txBody>
      </p:sp>
      <p:sp>
        <p:nvSpPr>
          <p:cNvPr id="8" name="TextBox 7"/>
          <p:cNvSpPr txBox="1"/>
          <p:nvPr/>
        </p:nvSpPr>
        <p:spPr>
          <a:xfrm>
            <a:off x="825500" y="3175000"/>
            <a:ext cx="4826000" cy="1270000"/>
          </a:xfrm>
          <a:prstGeom prst="rect">
            <a:avLst/>
          </a:prstGeom>
          <a:noFill/>
        </p:spPr>
        <p:txBody>
          <a:bodyPr wrap="square" lIns="0" rIns="0" tIns="0" bIns="0" anchor="t">
            <a:spAutoFit/>
          </a:bodyPr>
          <a:lstStyle/>
          <a:p>
            <a:pPr algn="l">
              <a:lnSpc>
                <a:spcPct val="115000"/>
              </a:lnSpc>
            </a:pPr>
            <a:r>
              <a:rPr sz="2300" b="0">
                <a:solidFill>
                  <a:srgbClr val="F2F6EE"/>
                </a:solidFill>
                <a:latin typeface="Tahoma"/>
              </a:rPr>
              <a:t>ตัน ทุเรียนสดไปจีน (ปี 2568)</a:t>
            </a:r>
          </a:p>
          <a:p>
            <a:pPr algn="l">
              <a:lnSpc>
                <a:spcPct val="115000"/>
              </a:lnSpc>
            </a:pPr>
            <a:r>
              <a:rPr sz="2300" b="0">
                <a:solidFill>
                  <a:srgbClr val="F2F6EE"/>
                </a:solidFill>
                <a:latin typeface="Tahoma"/>
              </a:rPr>
              <a:t>58,072 ชิปเมนต์ ตามรายงาน*</a:t>
            </a:r>
          </a:p>
        </p:txBody>
      </p:sp>
      <p:sp>
        <p:nvSpPr>
          <p:cNvPr id="9" name="Rounded Rectangle 8"/>
          <p:cNvSpPr/>
          <p:nvPr/>
        </p:nvSpPr>
        <p:spPr>
          <a:xfrm>
            <a:off x="6286500" y="1460500"/>
            <a:ext cx="5334000" cy="3175000"/>
          </a:xfrm>
          <a:prstGeom prst="roundRect">
            <a:avLst>
              <a:gd name="adj" fmla="val 56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40500" y="1841500"/>
            <a:ext cx="4826000" cy="1206500"/>
          </a:xfrm>
          <a:prstGeom prst="rect">
            <a:avLst/>
          </a:prstGeom>
          <a:noFill/>
        </p:spPr>
        <p:txBody>
          <a:bodyPr wrap="square" lIns="0" rIns="0" tIns="0" bIns="0" anchor="t">
            <a:spAutoFit/>
          </a:bodyPr>
          <a:lstStyle/>
          <a:p>
            <a:pPr algn="l">
              <a:lnSpc>
                <a:spcPct val="115000"/>
              </a:lnSpc>
            </a:pPr>
            <a:r>
              <a:rPr sz="7500" b="1">
                <a:solidFill>
                  <a:srgbClr val="B9D84A"/>
                </a:solidFill>
                <a:latin typeface="Tahoma"/>
              </a:rPr>
              <a:t>150,279</a:t>
            </a:r>
          </a:p>
        </p:txBody>
      </p:sp>
      <p:sp>
        <p:nvSpPr>
          <p:cNvPr id="11" name="TextBox 10"/>
          <p:cNvSpPr txBox="1"/>
          <p:nvPr/>
        </p:nvSpPr>
        <p:spPr>
          <a:xfrm>
            <a:off x="6540500" y="3175000"/>
            <a:ext cx="4826000" cy="1270000"/>
          </a:xfrm>
          <a:prstGeom prst="rect">
            <a:avLst/>
          </a:prstGeom>
          <a:noFill/>
        </p:spPr>
        <p:txBody>
          <a:bodyPr wrap="square" lIns="0" rIns="0" tIns="0" bIns="0" anchor="t">
            <a:spAutoFit/>
          </a:bodyPr>
          <a:lstStyle/>
          <a:p>
            <a:pPr algn="l">
              <a:lnSpc>
                <a:spcPct val="115000"/>
              </a:lnSpc>
            </a:pPr>
            <a:r>
              <a:rPr sz="2300" b="0">
                <a:solidFill>
                  <a:srgbClr val="F2F6EE"/>
                </a:solidFill>
                <a:latin typeface="Tahoma"/>
              </a:rPr>
              <a:t>ล้านบาท มูลค่าทุเรียนสด</a:t>
            </a:r>
          </a:p>
          <a:p>
            <a:pPr algn="l">
              <a:lnSpc>
                <a:spcPct val="115000"/>
              </a:lnSpc>
            </a:pPr>
            <a:r>
              <a:rPr sz="2300" b="0">
                <a:solidFill>
                  <a:srgbClr val="F2F6EE"/>
                </a:solidFill>
                <a:latin typeface="Tahoma"/>
              </a:rPr>
              <a:t>ไปจีน ตามรายงาน* (ปี 2568)</a:t>
            </a:r>
          </a:p>
        </p:txBody>
      </p:sp>
      <p:sp>
        <p:nvSpPr>
          <p:cNvPr id="12" name="Rounded Rectangle 11"/>
          <p:cNvSpPr/>
          <p:nvPr/>
        </p:nvSpPr>
        <p:spPr>
          <a:xfrm>
            <a:off x="571500" y="4826000"/>
            <a:ext cx="11049000" cy="762000"/>
          </a:xfrm>
          <a:prstGeom prst="roundRect">
            <a:avLst>
              <a:gd name="adj" fmla="val 23333"/>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1500" y="4826000"/>
            <a:ext cx="11049000" cy="762000"/>
          </a:xfrm>
          <a:prstGeom prst="rect">
            <a:avLst/>
          </a:prstGeom>
          <a:noFill/>
        </p:spPr>
        <p:txBody>
          <a:bodyPr wrap="square" lIns="0" rIns="0" tIns="0" bIns="0" anchor="ctr">
            <a:spAutoFit/>
          </a:bodyPr>
          <a:lstStyle/>
          <a:p>
            <a:pPr algn="ctr">
              <a:lnSpc>
                <a:spcPct val="115000"/>
              </a:lnSpc>
            </a:pPr>
            <a:r>
              <a:rPr sz="2000" b="1">
                <a:solidFill>
                  <a:srgbClr val="F2F6EE"/>
                </a:solidFill>
                <a:latin typeface="Tahoma"/>
              </a:rPr>
              <a:t>ต่อชิปเมนต์เฉลี่ยราว 2.6 ล้านบาท (ประมาณ · คำนวณโดยทีม)</a:t>
            </a:r>
          </a:p>
          <a:p>
            <a:pPr algn="ctr">
              <a:lnSpc>
                <a:spcPct val="115000"/>
              </a:lnSpc>
            </a:pPr>
            <a:r>
              <a:rPr sz="2000" b="1">
                <a:solidFill>
                  <a:srgbClr val="E3A21A"/>
                </a:solidFill>
                <a:latin typeface="Tahoma"/>
              </a:rPr>
              <a:t>มูลค่าที่เสี่ยง ไม่ใช่ตัวเลขความเสียหาย</a:t>
            </a:r>
          </a:p>
        </p:txBody>
      </p:sp>
      <p:sp>
        <p:nvSpPr>
          <p:cNvPr id="14" name="TextBox 13"/>
          <p:cNvSpPr txBox="1"/>
          <p:nvPr/>
        </p:nvSpPr>
        <p:spPr>
          <a:xfrm>
            <a:off x="571500" y="5842000"/>
            <a:ext cx="11049000" cy="254000"/>
          </a:xfrm>
          <a:prstGeom prst="rect">
            <a:avLst/>
          </a:prstGeom>
          <a:noFill/>
        </p:spPr>
        <p:txBody>
          <a:bodyPr wrap="square" lIns="0" rIns="0" tIns="0" bIns="0" anchor="t">
            <a:spAutoFit/>
          </a:bodyPr>
          <a:lstStyle/>
          <a:p>
            <a:pPr algn="l">
              <a:lnSpc>
                <a:spcPct val="115000"/>
              </a:lnSpc>
            </a:pPr>
            <a:r>
              <a:rPr sz="1200" b="0">
                <a:solidFill>
                  <a:srgbClr val="A3B6AA"/>
                </a:solidFill>
                <a:latin typeface="Tahoma"/>
              </a:rPr>
              <a:t>ที่มา: Nation Thailand (nationthailand.com/business/trade/40063289) · *ขอบเขตข้อมูลอาจต่างจากสถิติส่งออกของไทย</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TextBox 1"/>
          <p:cNvSpPr txBox="1"/>
          <p:nvPr/>
        </p:nvSpPr>
        <p:spPr>
          <a:xfrm>
            <a:off x="571500" y="254000"/>
            <a:ext cx="7620000" cy="254000"/>
          </a:xfrm>
          <a:prstGeom prst="rect">
            <a:avLst/>
          </a:prstGeom>
          <a:noFill/>
        </p:spPr>
        <p:txBody>
          <a:bodyPr wrap="square" lIns="0" rIns="0" tIns="0" bIns="0" anchor="t">
            <a:spAutoFit/>
          </a:bodyPr>
          <a:lstStyle/>
          <a:p>
            <a:pPr algn="l">
              <a:lnSpc>
                <a:spcPct val="115000"/>
              </a:lnSpc>
            </a:pPr>
            <a:r>
              <a:rPr sz="1400" b="0">
                <a:solidFill>
                  <a:srgbClr val="A3B6AA"/>
                </a:solidFill>
                <a:latin typeface="Tahoma"/>
              </a:rPr>
              <a:t>เครื่องดมทุเรียนอัจฉริยะ  ·  </a:t>
            </a:r>
            <a:r>
              <a:rPr sz="1400" b="0">
                <a:solidFill>
                  <a:srgbClr val="B9D84A"/>
                </a:solidFill>
                <a:latin typeface="Tahoma"/>
              </a:rPr>
              <a:t>วิธีเดิม &amp; ช่องว่าง</a:t>
            </a:r>
          </a:p>
        </p:txBody>
      </p:sp>
      <p:sp>
        <p:nvSpPr>
          <p:cNvPr id="3" name="TextBox 2"/>
          <p:cNvSpPr txBox="1"/>
          <p:nvPr/>
        </p:nvSpPr>
        <p:spPr>
          <a:xfrm>
            <a:off x="571500" y="558800"/>
            <a:ext cx="9525000" cy="698500"/>
          </a:xfrm>
          <a:prstGeom prst="rect">
            <a:avLst/>
          </a:prstGeom>
          <a:noFill/>
        </p:spPr>
        <p:txBody>
          <a:bodyPr wrap="square" lIns="0" rIns="0" tIns="0" bIns="0" anchor="t">
            <a:spAutoFit/>
          </a:bodyPr>
          <a:lstStyle/>
          <a:p>
            <a:pPr algn="l">
              <a:lnSpc>
                <a:spcPct val="115000"/>
              </a:lnSpc>
            </a:pPr>
            <a:r>
              <a:rPr sz="3500" b="1">
                <a:solidFill>
                  <a:srgbClr val="F2F6EE"/>
                </a:solidFill>
                <a:latin typeface="Tahoma"/>
              </a:rPr>
              <a:t>วิธีเดิม ทำได้แค่สุ่ม</a:t>
            </a:r>
          </a:p>
        </p:txBody>
      </p:sp>
      <p:sp>
        <p:nvSpPr>
          <p:cNvPr id="4" name="Rounded Rectangle 3"/>
          <p:cNvSpPr/>
          <p:nvPr/>
        </p:nvSpPr>
        <p:spPr>
          <a:xfrm>
            <a:off x="8064500" y="304800"/>
            <a:ext cx="3556000" cy="355600"/>
          </a:xfrm>
          <a:prstGeom prst="roundRect">
            <a:avLst>
              <a:gd name="adj" fmla="val 50000"/>
            </a:avLst>
          </a:prstGeom>
          <a:solidFill>
            <a:srgbClr val="22351A"/>
          </a:solidFill>
          <a:ln w="12700">
            <a:solidFill>
              <a:srgbClr val="B9D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64500" y="304800"/>
            <a:ext cx="3556000" cy="355600"/>
          </a:xfrm>
          <a:prstGeom prst="rect">
            <a:avLst/>
          </a:prstGeom>
          <a:noFill/>
        </p:spPr>
        <p:txBody>
          <a:bodyPr wrap="square" lIns="0" rIns="0" tIns="0" bIns="0" anchor="ctr">
            <a:spAutoFit/>
          </a:bodyPr>
          <a:lstStyle/>
          <a:p>
            <a:pPr algn="ctr">
              <a:lnSpc>
                <a:spcPct val="115000"/>
              </a:lnSpc>
            </a:pPr>
            <a:r>
              <a:rPr sz="1300" b="1">
                <a:solidFill>
                  <a:srgbClr val="B9D84A"/>
                </a:solidFill>
                <a:latin typeface="Tahoma"/>
              </a:rPr>
              <a:t>ข้อมูลจากแหล่งอ้างอิง</a:t>
            </a:r>
          </a:p>
        </p:txBody>
      </p:sp>
      <p:sp>
        <p:nvSpPr>
          <p:cNvPr id="6" name="Rounded Rectangle 5"/>
          <p:cNvSpPr/>
          <p:nvPr/>
        </p:nvSpPr>
        <p:spPr>
          <a:xfrm>
            <a:off x="571500" y="1460500"/>
            <a:ext cx="5334000" cy="1270000"/>
          </a:xfrm>
          <a:prstGeom prst="roundRect">
            <a:avLst>
              <a:gd name="adj" fmla="val 14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1524000"/>
            <a:ext cx="5029200" cy="1143000"/>
          </a:xfrm>
          <a:prstGeom prst="rect">
            <a:avLst/>
          </a:prstGeom>
          <a:noFill/>
        </p:spPr>
        <p:txBody>
          <a:bodyPr wrap="square" lIns="0" rIns="0" tIns="0" bIns="0" anchor="ctr">
            <a:spAutoFit/>
          </a:bodyPr>
          <a:lstStyle/>
          <a:p>
            <a:pPr algn="l">
              <a:lnSpc>
                <a:spcPct val="115000"/>
              </a:lnSpc>
            </a:pPr>
            <a:r>
              <a:rPr sz="2300" b="1">
                <a:solidFill>
                  <a:srgbClr val="F2F6EE"/>
                </a:solidFill>
                <a:latin typeface="Tahoma"/>
              </a:rPr>
              <a:t>ผ่าวัดน้ำหนักแห้ง</a:t>
            </a:r>
          </a:p>
          <a:p>
            <a:pPr algn="l">
              <a:lnSpc>
                <a:spcPct val="115000"/>
              </a:lnSpc>
            </a:pPr>
            <a:r>
              <a:rPr sz="2300" b="1">
                <a:solidFill>
                  <a:srgbClr val="E3A21A"/>
                </a:solidFill>
                <a:latin typeface="Tahoma"/>
              </a:rPr>
              <a:t>ทำลายผล จึงทำได้แค่สุ่ม</a:t>
            </a:r>
          </a:p>
        </p:txBody>
      </p:sp>
      <p:sp>
        <p:nvSpPr>
          <p:cNvPr id="8" name="Rounded Rectangle 7"/>
          <p:cNvSpPr/>
          <p:nvPr/>
        </p:nvSpPr>
        <p:spPr>
          <a:xfrm>
            <a:off x="6286500" y="1460500"/>
            <a:ext cx="5334000" cy="1270000"/>
          </a:xfrm>
          <a:prstGeom prst="roundRect">
            <a:avLst>
              <a:gd name="adj" fmla="val 14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8900" y="1524000"/>
            <a:ext cx="5029200" cy="1143000"/>
          </a:xfrm>
          <a:prstGeom prst="rect">
            <a:avLst/>
          </a:prstGeom>
          <a:noFill/>
        </p:spPr>
        <p:txBody>
          <a:bodyPr wrap="square" lIns="0" rIns="0" tIns="0" bIns="0" anchor="ctr">
            <a:spAutoFit/>
          </a:bodyPr>
          <a:lstStyle/>
          <a:p>
            <a:pPr algn="l">
              <a:lnSpc>
                <a:spcPct val="115000"/>
              </a:lnSpc>
            </a:pPr>
            <a:r>
              <a:rPr sz="2300" b="1">
                <a:solidFill>
                  <a:srgbClr val="F2F6EE"/>
                </a:solidFill>
                <a:latin typeface="Tahoma"/>
              </a:rPr>
              <a:t>เคาะฟังเสียง · นับวัน</a:t>
            </a:r>
          </a:p>
          <a:p>
            <a:pPr algn="l">
              <a:lnSpc>
                <a:spcPct val="115000"/>
              </a:lnSpc>
            </a:pPr>
            <a:r>
              <a:rPr sz="2300" b="1">
                <a:solidFill>
                  <a:srgbClr val="A3B6AA"/>
                </a:solidFill>
                <a:latin typeface="Tahoma"/>
              </a:rPr>
              <a:t>ขึ้นกับทักษะ ไม่บอกสภาพหลังตัด</a:t>
            </a:r>
          </a:p>
        </p:txBody>
      </p:sp>
      <p:sp>
        <p:nvSpPr>
          <p:cNvPr id="10" name="Rounded Rectangle 9"/>
          <p:cNvSpPr/>
          <p:nvPr/>
        </p:nvSpPr>
        <p:spPr>
          <a:xfrm>
            <a:off x="571500" y="2921000"/>
            <a:ext cx="5334000" cy="1270000"/>
          </a:xfrm>
          <a:prstGeom prst="roundRect">
            <a:avLst>
              <a:gd name="adj" fmla="val 14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3900" y="2984500"/>
            <a:ext cx="5029200" cy="1143000"/>
          </a:xfrm>
          <a:prstGeom prst="rect">
            <a:avLst/>
          </a:prstGeom>
          <a:noFill/>
        </p:spPr>
        <p:txBody>
          <a:bodyPr wrap="square" lIns="0" rIns="0" tIns="0" bIns="0" anchor="ctr">
            <a:spAutoFit/>
          </a:bodyPr>
          <a:lstStyle/>
          <a:p>
            <a:pPr algn="l">
              <a:lnSpc>
                <a:spcPct val="115000"/>
              </a:lnSpc>
            </a:pPr>
            <a:r>
              <a:rPr sz="2300" b="1">
                <a:solidFill>
                  <a:srgbClr val="F2F6EE"/>
                </a:solidFill>
                <a:latin typeface="Tahoma"/>
              </a:rPr>
              <a:t>NIR</a:t>
            </a:r>
          </a:p>
          <a:p>
            <a:pPr algn="l">
              <a:lnSpc>
                <a:spcPct val="115000"/>
              </a:lnSpc>
            </a:pPr>
            <a:r>
              <a:rPr sz="2300" b="1">
                <a:solidFill>
                  <a:srgbClr val="A3B6AA"/>
                </a:solidFill>
                <a:latin typeface="Tahoma"/>
              </a:rPr>
              <a:t>แพง · แม่นจำกัด</a:t>
            </a:r>
          </a:p>
        </p:txBody>
      </p:sp>
      <p:sp>
        <p:nvSpPr>
          <p:cNvPr id="12" name="Rounded Rectangle 11"/>
          <p:cNvSpPr/>
          <p:nvPr/>
        </p:nvSpPr>
        <p:spPr>
          <a:xfrm>
            <a:off x="6286500" y="2921000"/>
            <a:ext cx="5334000" cy="1270000"/>
          </a:xfrm>
          <a:prstGeom prst="roundRect">
            <a:avLst>
              <a:gd name="adj" fmla="val 14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8900" y="2984500"/>
            <a:ext cx="5029200" cy="1143000"/>
          </a:xfrm>
          <a:prstGeom prst="rect">
            <a:avLst/>
          </a:prstGeom>
          <a:noFill/>
        </p:spPr>
        <p:txBody>
          <a:bodyPr wrap="square" lIns="0" rIns="0" tIns="0" bIns="0" anchor="ctr">
            <a:spAutoFit/>
          </a:bodyPr>
          <a:lstStyle/>
          <a:p>
            <a:pPr algn="l">
              <a:lnSpc>
                <a:spcPct val="115000"/>
              </a:lnSpc>
            </a:pPr>
            <a:r>
              <a:rPr sz="2300" b="1">
                <a:solidFill>
                  <a:srgbClr val="F2F6EE"/>
                </a:solidFill>
                <a:latin typeface="Tahoma"/>
              </a:rPr>
              <a:t>GC-MS</a:t>
            </a:r>
          </a:p>
          <a:p>
            <a:pPr algn="l">
              <a:lnSpc>
                <a:spcPct val="115000"/>
              </a:lnSpc>
            </a:pPr>
            <a:r>
              <a:rPr sz="2300" b="1">
                <a:solidFill>
                  <a:srgbClr val="A3B6AA"/>
                </a:solidFill>
                <a:latin typeface="Tahoma"/>
              </a:rPr>
              <a:t>แม่นสุด แต่ใช้หน้างานไม่ได้</a:t>
            </a:r>
          </a:p>
        </p:txBody>
      </p:sp>
      <p:sp>
        <p:nvSpPr>
          <p:cNvPr id="14" name="Rounded Rectangle 13"/>
          <p:cNvSpPr/>
          <p:nvPr/>
        </p:nvSpPr>
        <p:spPr>
          <a:xfrm>
            <a:off x="571500" y="4445000"/>
            <a:ext cx="11049000" cy="1587500"/>
          </a:xfrm>
          <a:prstGeom prst="roundRect">
            <a:avLst>
              <a:gd name="adj" fmla="val 11200"/>
            </a:avLst>
          </a:prstGeom>
          <a:solidFill>
            <a:srgbClr val="22351A"/>
          </a:solidFill>
          <a:ln w="12700">
            <a:solidFill>
              <a:srgbClr val="B9D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500" y="4540250"/>
            <a:ext cx="10541000" cy="444500"/>
          </a:xfrm>
          <a:prstGeom prst="rect">
            <a:avLst/>
          </a:prstGeom>
          <a:noFill/>
        </p:spPr>
        <p:txBody>
          <a:bodyPr wrap="square" lIns="0" rIns="0" tIns="0" bIns="0" anchor="t">
            <a:spAutoFit/>
          </a:bodyPr>
          <a:lstStyle/>
          <a:p>
            <a:pPr algn="l">
              <a:lnSpc>
                <a:spcPct val="115000"/>
              </a:lnSpc>
            </a:pPr>
            <a:r>
              <a:rPr sz="2100" b="1">
                <a:solidFill>
                  <a:srgbClr val="B9D84A"/>
                </a:solidFill>
                <a:latin typeface="Tahoma"/>
              </a:rPr>
              <a:t>ช่องว่างงานวิจัย</a:t>
            </a:r>
          </a:p>
        </p:txBody>
      </p:sp>
      <p:sp>
        <p:nvSpPr>
          <p:cNvPr id="16" name="TextBox 15"/>
          <p:cNvSpPr txBox="1"/>
          <p:nvPr/>
        </p:nvSpPr>
        <p:spPr>
          <a:xfrm>
            <a:off x="825500" y="4953000"/>
            <a:ext cx="10541000" cy="1016000"/>
          </a:xfrm>
          <a:prstGeom prst="rect">
            <a:avLst/>
          </a:prstGeom>
          <a:noFill/>
        </p:spPr>
        <p:txBody>
          <a:bodyPr wrap="square" lIns="0" rIns="0" tIns="0" bIns="0" anchor="t">
            <a:spAutoFit/>
          </a:bodyPr>
          <a:lstStyle/>
          <a:p>
            <a:pPr algn="l">
              <a:lnSpc>
                <a:spcPct val="115000"/>
              </a:lnSpc>
            </a:pPr>
            <a:r>
              <a:rPr sz="1600" b="1">
                <a:solidFill>
                  <a:srgbClr val="F2F6EE"/>
                </a:solidFill>
                <a:latin typeface="Tahoma"/>
              </a:rPr>
              <a:t>ค้น 4 รอบ ไม่พบ e-nose แยกทุเรียนเน่า vs ปกติ พร้อมความแม่นยำ (การค้นของทีม ไม่ได้อ้างว่าไม่มีอยู่)</a:t>
            </a:r>
          </a:p>
          <a:p>
            <a:pPr algn="l">
              <a:lnSpc>
                <a:spcPct val="115000"/>
              </a:lnSpc>
            </a:pPr>
            <a:r>
              <a:rPr sz="1600" b="1">
                <a:solidFill>
                  <a:srgbClr val="A3B6AA"/>
                </a:solidFill>
                <a:latin typeface="Tahoma"/>
              </a:rPr>
              <a:t>ใกล้สุด: Chiu et al. 2025 (e-nose ทุเรียนไทย) · ต่างที่เรามี "ไม่แน่ใจ" + 2 เครื่องภาคสนาม · ไม่เทียบความแม่นยำ</a:t>
            </a:r>
          </a:p>
        </p:txBody>
      </p:sp>
      <p:sp>
        <p:nvSpPr>
          <p:cNvPr id="17" name="TextBox 16"/>
          <p:cNvSpPr txBox="1"/>
          <p:nvPr/>
        </p:nvSpPr>
        <p:spPr>
          <a:xfrm>
            <a:off x="571500" y="6191250"/>
            <a:ext cx="11049000" cy="254000"/>
          </a:xfrm>
          <a:prstGeom prst="rect">
            <a:avLst/>
          </a:prstGeom>
          <a:noFill/>
        </p:spPr>
        <p:txBody>
          <a:bodyPr wrap="square" lIns="0" rIns="0" tIns="0" bIns="0" anchor="t">
            <a:spAutoFit/>
          </a:bodyPr>
          <a:lstStyle/>
          <a:p>
            <a:pPr algn="l">
              <a:lnSpc>
                <a:spcPct val="115000"/>
              </a:lnSpc>
            </a:pPr>
            <a:r>
              <a:rPr sz="1200" b="0">
                <a:solidFill>
                  <a:srgbClr val="A3B6AA"/>
                </a:solidFill>
                <a:latin typeface="Tahoma"/>
              </a:rPr>
              <a:t>ที่มา: ประชาชาติธุรกิจ ผ่าน LINE Today (26 ก.พ. 2569), ISHS · การค้นงานวิจัยของทีม · Chiu et al. 2025, PeerJ 13:e19936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TextBox 1"/>
          <p:cNvSpPr txBox="1"/>
          <p:nvPr/>
        </p:nvSpPr>
        <p:spPr>
          <a:xfrm>
            <a:off x="571500" y="254000"/>
            <a:ext cx="7620000" cy="254000"/>
          </a:xfrm>
          <a:prstGeom prst="rect">
            <a:avLst/>
          </a:prstGeom>
          <a:noFill/>
        </p:spPr>
        <p:txBody>
          <a:bodyPr wrap="square" lIns="0" rIns="0" tIns="0" bIns="0" anchor="t">
            <a:spAutoFit/>
          </a:bodyPr>
          <a:lstStyle/>
          <a:p>
            <a:pPr algn="l">
              <a:lnSpc>
                <a:spcPct val="115000"/>
              </a:lnSpc>
            </a:pPr>
            <a:r>
              <a:rPr sz="1400" b="0">
                <a:solidFill>
                  <a:srgbClr val="A3B6AA"/>
                </a:solidFill>
                <a:latin typeface="Tahoma"/>
              </a:rPr>
              <a:t>เครื่องดมทุเรียนอัจฉริยะ  ·  </a:t>
            </a:r>
            <a:r>
              <a:rPr sz="1400" b="0">
                <a:solidFill>
                  <a:srgbClr val="B9D84A"/>
                </a:solidFill>
                <a:latin typeface="Tahoma"/>
              </a:rPr>
              <a:t>แนวคิด</a:t>
            </a:r>
          </a:p>
        </p:txBody>
      </p:sp>
      <p:sp>
        <p:nvSpPr>
          <p:cNvPr id="3" name="TextBox 2"/>
          <p:cNvSpPr txBox="1"/>
          <p:nvPr/>
        </p:nvSpPr>
        <p:spPr>
          <a:xfrm>
            <a:off x="571500" y="558800"/>
            <a:ext cx="9525000" cy="698500"/>
          </a:xfrm>
          <a:prstGeom prst="rect">
            <a:avLst/>
          </a:prstGeom>
          <a:noFill/>
        </p:spPr>
        <p:txBody>
          <a:bodyPr wrap="square" lIns="0" rIns="0" tIns="0" bIns="0" anchor="t">
            <a:spAutoFit/>
          </a:bodyPr>
          <a:lstStyle/>
          <a:p>
            <a:pPr algn="l">
              <a:lnSpc>
                <a:spcPct val="115000"/>
              </a:lnSpc>
            </a:pPr>
            <a:r>
              <a:rPr sz="3500" b="1">
                <a:solidFill>
                  <a:srgbClr val="F2F6EE"/>
                </a:solidFill>
                <a:latin typeface="Tahoma"/>
              </a:rPr>
              <a:t>ดมก่อนตัด · ไม่ต้องผ่าผล</a:t>
            </a:r>
          </a:p>
        </p:txBody>
      </p:sp>
      <p:sp>
        <p:nvSpPr>
          <p:cNvPr id="4" name="Rounded Rectangle 3"/>
          <p:cNvSpPr/>
          <p:nvPr/>
        </p:nvSpPr>
        <p:spPr>
          <a:xfrm>
            <a:off x="8064500" y="304800"/>
            <a:ext cx="3556000" cy="355600"/>
          </a:xfrm>
          <a:prstGeom prst="roundRect">
            <a:avLst>
              <a:gd name="adj" fmla="val 50000"/>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64500" y="304800"/>
            <a:ext cx="3556000" cy="355600"/>
          </a:xfrm>
          <a:prstGeom prst="rect">
            <a:avLst/>
          </a:prstGeom>
          <a:noFill/>
        </p:spPr>
        <p:txBody>
          <a:bodyPr wrap="square" lIns="0" rIns="0" tIns="0" bIns="0" anchor="ctr">
            <a:spAutoFit/>
          </a:bodyPr>
          <a:lstStyle/>
          <a:p>
            <a:pPr algn="ctr">
              <a:lnSpc>
                <a:spcPct val="115000"/>
              </a:lnSpc>
            </a:pPr>
            <a:r>
              <a:rPr sz="1300" b="1">
                <a:solidFill>
                  <a:srgbClr val="E3A21A"/>
                </a:solidFill>
                <a:latin typeface="Tahoma"/>
              </a:rPr>
              <a:t>แผน · ยังไม่ได้ทดสอบ</a:t>
            </a:r>
          </a:p>
        </p:txBody>
      </p:sp>
      <p:sp>
        <p:nvSpPr>
          <p:cNvPr id="6" name="Rounded Rectangle 5"/>
          <p:cNvSpPr/>
          <p:nvPr/>
        </p:nvSpPr>
        <p:spPr>
          <a:xfrm>
            <a:off x="571500" y="1651000"/>
            <a:ext cx="3302000" cy="2095500"/>
          </a:xfrm>
          <a:prstGeom prst="roundRect">
            <a:avLst>
              <a:gd name="adj" fmla="val 8484"/>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1714500"/>
            <a:ext cx="2997200" cy="1968500"/>
          </a:xfrm>
          <a:prstGeom prst="rect">
            <a:avLst/>
          </a:prstGeom>
          <a:noFill/>
        </p:spPr>
        <p:txBody>
          <a:bodyPr wrap="square" lIns="0" rIns="0" tIns="0" bIns="0" anchor="ctr">
            <a:spAutoFit/>
          </a:bodyPr>
          <a:lstStyle/>
          <a:p>
            <a:pPr algn="ctr">
              <a:lnSpc>
                <a:spcPct val="115000"/>
              </a:lnSpc>
            </a:pPr>
            <a:r>
              <a:rPr sz="3200" b="1">
                <a:solidFill>
                  <a:srgbClr val="B9D84A"/>
                </a:solidFill>
                <a:latin typeface="Tahoma"/>
              </a:rPr>
              <a:t>1</a:t>
            </a:r>
          </a:p>
          <a:p>
            <a:pPr algn="ctr">
              <a:lnSpc>
                <a:spcPct val="115000"/>
              </a:lnSpc>
            </a:pPr>
            <a:r>
              <a:rPr sz="3200" b="1">
                <a:solidFill>
                  <a:srgbClr val="F2F6EE"/>
                </a:solidFill>
                <a:latin typeface="Tahoma"/>
              </a:rPr>
              <a:t>ดม</a:t>
            </a:r>
          </a:p>
          <a:p>
            <a:pPr algn="ctr">
              <a:lnSpc>
                <a:spcPct val="115000"/>
              </a:lnSpc>
            </a:pPr>
            <a:r>
              <a:rPr sz="3200" b="1">
                <a:solidFill>
                  <a:srgbClr val="A3B6AA"/>
                </a:solidFill>
                <a:latin typeface="Tahoma"/>
              </a:rPr>
              <a:t>เซนเซอร์แก๊สหลายตัว</a:t>
            </a:r>
          </a:p>
        </p:txBody>
      </p:sp>
      <p:sp>
        <p:nvSpPr>
          <p:cNvPr id="8" name="TextBox 7"/>
          <p:cNvSpPr txBox="1"/>
          <p:nvPr/>
        </p:nvSpPr>
        <p:spPr>
          <a:xfrm>
            <a:off x="3873500" y="2286000"/>
            <a:ext cx="635000" cy="508000"/>
          </a:xfrm>
          <a:prstGeom prst="rect">
            <a:avLst/>
          </a:prstGeom>
          <a:noFill/>
        </p:spPr>
        <p:txBody>
          <a:bodyPr wrap="square" lIns="0" rIns="0" tIns="0" bIns="0" anchor="ctr">
            <a:spAutoFit/>
          </a:bodyPr>
          <a:lstStyle/>
          <a:p>
            <a:pPr algn="ctr">
              <a:lnSpc>
                <a:spcPct val="115000"/>
              </a:lnSpc>
            </a:pPr>
            <a:r>
              <a:rPr sz="4000" b="1">
                <a:solidFill>
                  <a:srgbClr val="B9D84A"/>
                </a:solidFill>
                <a:latin typeface="Tahoma"/>
              </a:rPr>
              <a:t>→</a:t>
            </a:r>
          </a:p>
        </p:txBody>
      </p:sp>
      <p:sp>
        <p:nvSpPr>
          <p:cNvPr id="9" name="Rounded Rectangle 8"/>
          <p:cNvSpPr/>
          <p:nvPr/>
        </p:nvSpPr>
        <p:spPr>
          <a:xfrm>
            <a:off x="4508500" y="1651000"/>
            <a:ext cx="3302000" cy="2095500"/>
          </a:xfrm>
          <a:prstGeom prst="roundRect">
            <a:avLst>
              <a:gd name="adj" fmla="val 8484"/>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0900" y="1714500"/>
            <a:ext cx="2997200" cy="1968500"/>
          </a:xfrm>
          <a:prstGeom prst="rect">
            <a:avLst/>
          </a:prstGeom>
          <a:noFill/>
        </p:spPr>
        <p:txBody>
          <a:bodyPr wrap="square" lIns="0" rIns="0" tIns="0" bIns="0" anchor="ctr">
            <a:spAutoFit/>
          </a:bodyPr>
          <a:lstStyle/>
          <a:p>
            <a:pPr algn="ctr">
              <a:lnSpc>
                <a:spcPct val="115000"/>
              </a:lnSpc>
            </a:pPr>
            <a:r>
              <a:rPr sz="3200" b="1">
                <a:solidFill>
                  <a:srgbClr val="B9D84A"/>
                </a:solidFill>
                <a:latin typeface="Tahoma"/>
              </a:rPr>
              <a:t>2</a:t>
            </a:r>
          </a:p>
          <a:p>
            <a:pPr algn="ctr">
              <a:lnSpc>
                <a:spcPct val="115000"/>
              </a:lnSpc>
            </a:pPr>
            <a:r>
              <a:rPr sz="3200" b="1">
                <a:solidFill>
                  <a:srgbClr val="F2F6EE"/>
                </a:solidFill>
                <a:latin typeface="Tahoma"/>
              </a:rPr>
              <a:t>อ่าน</a:t>
            </a:r>
          </a:p>
          <a:p>
            <a:pPr algn="ctr">
              <a:lnSpc>
                <a:spcPct val="115000"/>
              </a:lnSpc>
            </a:pPr>
            <a:r>
              <a:rPr sz="3200" b="1">
                <a:solidFill>
                  <a:srgbClr val="A3B6AA"/>
                </a:solidFill>
                <a:latin typeface="Tahoma"/>
              </a:rPr>
              <a:t>ลายนิ้วมือกลิ่น</a:t>
            </a:r>
          </a:p>
        </p:txBody>
      </p:sp>
      <p:sp>
        <p:nvSpPr>
          <p:cNvPr id="11" name="TextBox 10"/>
          <p:cNvSpPr txBox="1"/>
          <p:nvPr/>
        </p:nvSpPr>
        <p:spPr>
          <a:xfrm>
            <a:off x="7810500" y="2286000"/>
            <a:ext cx="635000" cy="508000"/>
          </a:xfrm>
          <a:prstGeom prst="rect">
            <a:avLst/>
          </a:prstGeom>
          <a:noFill/>
        </p:spPr>
        <p:txBody>
          <a:bodyPr wrap="square" lIns="0" rIns="0" tIns="0" bIns="0" anchor="ctr">
            <a:spAutoFit/>
          </a:bodyPr>
          <a:lstStyle/>
          <a:p>
            <a:pPr algn="ctr">
              <a:lnSpc>
                <a:spcPct val="115000"/>
              </a:lnSpc>
            </a:pPr>
            <a:r>
              <a:rPr sz="4000" b="1">
                <a:solidFill>
                  <a:srgbClr val="B9D84A"/>
                </a:solidFill>
                <a:latin typeface="Tahoma"/>
              </a:rPr>
              <a:t>→</a:t>
            </a:r>
          </a:p>
        </p:txBody>
      </p:sp>
      <p:sp>
        <p:nvSpPr>
          <p:cNvPr id="12" name="Rounded Rectangle 11"/>
          <p:cNvSpPr/>
          <p:nvPr/>
        </p:nvSpPr>
        <p:spPr>
          <a:xfrm>
            <a:off x="8445500" y="1651000"/>
            <a:ext cx="3175000" cy="2095500"/>
          </a:xfrm>
          <a:prstGeom prst="roundRect">
            <a:avLst>
              <a:gd name="adj" fmla="val 8484"/>
            </a:avLst>
          </a:prstGeom>
          <a:solidFill>
            <a:srgbClr val="22351A"/>
          </a:solidFill>
          <a:ln w="12700">
            <a:solidFill>
              <a:srgbClr val="B9D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7900" y="1714500"/>
            <a:ext cx="2870200" cy="1968500"/>
          </a:xfrm>
          <a:prstGeom prst="rect">
            <a:avLst/>
          </a:prstGeom>
          <a:noFill/>
        </p:spPr>
        <p:txBody>
          <a:bodyPr wrap="square" lIns="0" rIns="0" tIns="0" bIns="0" anchor="ctr">
            <a:spAutoFit/>
          </a:bodyPr>
          <a:lstStyle/>
          <a:p>
            <a:pPr algn="ctr">
              <a:lnSpc>
                <a:spcPct val="115000"/>
              </a:lnSpc>
            </a:pPr>
            <a:r>
              <a:rPr sz="3200" b="1">
                <a:solidFill>
                  <a:srgbClr val="B9D84A"/>
                </a:solidFill>
                <a:latin typeface="Tahoma"/>
              </a:rPr>
              <a:t>3</a:t>
            </a:r>
          </a:p>
          <a:p>
            <a:pPr algn="ctr">
              <a:lnSpc>
                <a:spcPct val="115000"/>
              </a:lnSpc>
            </a:pPr>
            <a:r>
              <a:rPr sz="3200" b="1">
                <a:solidFill>
                  <a:srgbClr val="B9D84A"/>
                </a:solidFill>
                <a:latin typeface="Tahoma"/>
              </a:rPr>
              <a:t>ตัดสิน</a:t>
            </a:r>
          </a:p>
          <a:p>
            <a:pPr algn="ctr">
              <a:lnSpc>
                <a:spcPct val="115000"/>
              </a:lnSpc>
            </a:pPr>
            <a:r>
              <a:rPr sz="3200" b="1">
                <a:solidFill>
                  <a:srgbClr val="A3B6AA"/>
                </a:solidFill>
                <a:latin typeface="Tahoma"/>
              </a:rPr>
              <a:t>เกรด + ไฟสี</a:t>
            </a:r>
          </a:p>
        </p:txBody>
      </p:sp>
      <p:sp>
        <p:nvSpPr>
          <p:cNvPr id="14" name="TextBox 13"/>
          <p:cNvSpPr txBox="1"/>
          <p:nvPr/>
        </p:nvSpPr>
        <p:spPr>
          <a:xfrm>
            <a:off x="571500" y="4127500"/>
            <a:ext cx="11049000" cy="698500"/>
          </a:xfrm>
          <a:prstGeom prst="rect">
            <a:avLst/>
          </a:prstGeom>
          <a:noFill/>
        </p:spPr>
        <p:txBody>
          <a:bodyPr wrap="square" lIns="0" rIns="0" tIns="0" bIns="0" anchor="t">
            <a:spAutoFit/>
          </a:bodyPr>
          <a:lstStyle/>
          <a:p>
            <a:pPr algn="ctr">
              <a:lnSpc>
                <a:spcPct val="115000"/>
              </a:lnSpc>
            </a:pPr>
            <a:r>
              <a:rPr sz="3000" b="1">
                <a:solidFill>
                  <a:srgbClr val="F2F6EE"/>
                </a:solidFill>
                <a:latin typeface="Tahoma"/>
              </a:rPr>
              <a:t>ไม่ผ่าผล · ดมได้ทุกลูก · บอกได้ว่า "ไม่แน่ใจ"</a:t>
            </a:r>
          </a:p>
        </p:txBody>
      </p:sp>
      <p:sp>
        <p:nvSpPr>
          <p:cNvPr id="15" name="Rounded Rectangle 14"/>
          <p:cNvSpPr/>
          <p:nvPr/>
        </p:nvSpPr>
        <p:spPr>
          <a:xfrm>
            <a:off x="571500" y="5080000"/>
            <a:ext cx="11049000" cy="825500"/>
          </a:xfrm>
          <a:prstGeom prst="roundRect">
            <a:avLst>
              <a:gd name="adj" fmla="val 21538"/>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1500" y="5080000"/>
            <a:ext cx="11049000" cy="825500"/>
          </a:xfrm>
          <a:prstGeom prst="rect">
            <a:avLst/>
          </a:prstGeom>
          <a:noFill/>
        </p:spPr>
        <p:txBody>
          <a:bodyPr wrap="square" lIns="0" rIns="0" tIns="0" bIns="0" anchor="ctr">
            <a:spAutoFit/>
          </a:bodyPr>
          <a:lstStyle/>
          <a:p>
            <a:pPr algn="ctr">
              <a:lnSpc>
                <a:spcPct val="115000"/>
              </a:lnSpc>
            </a:pPr>
            <a:r>
              <a:rPr sz="2400" b="1">
                <a:solidFill>
                  <a:srgbClr val="E3A21A"/>
                </a:solidFill>
                <a:latin typeface="Tahoma"/>
              </a:rPr>
              <a:t>ยังไม่มีผลทดลองของเราเอง · ไม่อ้างความแม่นยำ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TextBox 1"/>
          <p:cNvSpPr txBox="1"/>
          <p:nvPr/>
        </p:nvSpPr>
        <p:spPr>
          <a:xfrm>
            <a:off x="571500" y="254000"/>
            <a:ext cx="7620000" cy="254000"/>
          </a:xfrm>
          <a:prstGeom prst="rect">
            <a:avLst/>
          </a:prstGeom>
          <a:noFill/>
        </p:spPr>
        <p:txBody>
          <a:bodyPr wrap="square" lIns="0" rIns="0" tIns="0" bIns="0" anchor="t">
            <a:spAutoFit/>
          </a:bodyPr>
          <a:lstStyle/>
          <a:p>
            <a:pPr algn="l">
              <a:lnSpc>
                <a:spcPct val="115000"/>
              </a:lnSpc>
            </a:pPr>
            <a:r>
              <a:rPr sz="1400" b="0">
                <a:solidFill>
                  <a:srgbClr val="A3B6AA"/>
                </a:solidFill>
                <a:latin typeface="Tahoma"/>
              </a:rPr>
              <a:t>เครื่องดมทุเรียนอัจฉริยะ  ·  </a:t>
            </a:r>
            <a:r>
              <a:rPr sz="1400" b="0">
                <a:solidFill>
                  <a:srgbClr val="B9D84A"/>
                </a:solidFill>
                <a:latin typeface="Tahoma"/>
              </a:rPr>
              <a:t>วิธีตัดสิน (แผน)</a:t>
            </a:r>
          </a:p>
        </p:txBody>
      </p:sp>
      <p:sp>
        <p:nvSpPr>
          <p:cNvPr id="3" name="TextBox 2"/>
          <p:cNvSpPr txBox="1"/>
          <p:nvPr/>
        </p:nvSpPr>
        <p:spPr>
          <a:xfrm>
            <a:off x="571500" y="558800"/>
            <a:ext cx="9525000" cy="698500"/>
          </a:xfrm>
          <a:prstGeom prst="rect">
            <a:avLst/>
          </a:prstGeom>
          <a:noFill/>
        </p:spPr>
        <p:txBody>
          <a:bodyPr wrap="square" lIns="0" rIns="0" tIns="0" bIns="0" anchor="t">
            <a:spAutoFit/>
          </a:bodyPr>
          <a:lstStyle/>
          <a:p>
            <a:pPr algn="l">
              <a:lnSpc>
                <a:spcPct val="115000"/>
              </a:lnSpc>
            </a:pPr>
            <a:r>
              <a:rPr sz="3500" b="1">
                <a:solidFill>
                  <a:srgbClr val="F2F6EE"/>
                </a:solidFill>
                <a:latin typeface="Tahoma"/>
              </a:rPr>
              <a:t>ลายนิ้วมือกลิ่น → เทียบเกณฑ์ → เกรด</a:t>
            </a:r>
          </a:p>
        </p:txBody>
      </p:sp>
      <p:sp>
        <p:nvSpPr>
          <p:cNvPr id="4" name="Rounded Rectangle 3"/>
          <p:cNvSpPr/>
          <p:nvPr/>
        </p:nvSpPr>
        <p:spPr>
          <a:xfrm>
            <a:off x="8064500" y="304800"/>
            <a:ext cx="3556000" cy="355600"/>
          </a:xfrm>
          <a:prstGeom prst="roundRect">
            <a:avLst>
              <a:gd name="adj" fmla="val 50000"/>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64500" y="304800"/>
            <a:ext cx="3556000" cy="355600"/>
          </a:xfrm>
          <a:prstGeom prst="rect">
            <a:avLst/>
          </a:prstGeom>
          <a:noFill/>
        </p:spPr>
        <p:txBody>
          <a:bodyPr wrap="square" lIns="0" rIns="0" tIns="0" bIns="0" anchor="ctr">
            <a:spAutoFit/>
          </a:bodyPr>
          <a:lstStyle/>
          <a:p>
            <a:pPr algn="ctr">
              <a:lnSpc>
                <a:spcPct val="115000"/>
              </a:lnSpc>
            </a:pPr>
            <a:r>
              <a:rPr sz="1300" b="1">
                <a:solidFill>
                  <a:srgbClr val="E3A21A"/>
                </a:solidFill>
                <a:latin typeface="Tahoma"/>
              </a:rPr>
              <a:t>แผน · ยังไม่ได้ทดสอบ</a:t>
            </a:r>
          </a:p>
        </p:txBody>
      </p:sp>
      <p:sp>
        <p:nvSpPr>
          <p:cNvPr id="6" name="Rounded Rectangle 5"/>
          <p:cNvSpPr/>
          <p:nvPr/>
        </p:nvSpPr>
        <p:spPr>
          <a:xfrm>
            <a:off x="571500" y="1524000"/>
            <a:ext cx="3556000" cy="2667000"/>
          </a:xfrm>
          <a:prstGeom prst="roundRect">
            <a:avLst>
              <a:gd name="adj" fmla="val 6666"/>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1619250"/>
            <a:ext cx="3175000" cy="381000"/>
          </a:xfrm>
          <a:prstGeom prst="rect">
            <a:avLst/>
          </a:prstGeom>
          <a:noFill/>
        </p:spPr>
        <p:txBody>
          <a:bodyPr wrap="square" lIns="0" rIns="0" tIns="0" bIns="0" anchor="t">
            <a:spAutoFit/>
          </a:bodyPr>
          <a:lstStyle/>
          <a:p>
            <a:pPr algn="ctr">
              <a:lnSpc>
                <a:spcPct val="115000"/>
              </a:lnSpc>
            </a:pPr>
            <a:r>
              <a:rPr sz="1900" b="1">
                <a:solidFill>
                  <a:srgbClr val="B9D84A"/>
                </a:solidFill>
                <a:latin typeface="Tahoma"/>
              </a:rPr>
              <a:t>ลายนิ้วมือกลิ่น</a:t>
            </a:r>
          </a:p>
        </p:txBody>
      </p:sp>
      <p:sp>
        <p:nvSpPr>
          <p:cNvPr id="8" name="TextBox 7"/>
          <p:cNvSpPr txBox="1"/>
          <p:nvPr/>
        </p:nvSpPr>
        <p:spPr>
          <a:xfrm>
            <a:off x="762000" y="1936750"/>
            <a:ext cx="3175000" cy="317500"/>
          </a:xfrm>
          <a:prstGeom prst="rect">
            <a:avLst/>
          </a:prstGeom>
          <a:noFill/>
        </p:spPr>
        <p:txBody>
          <a:bodyPr wrap="square" lIns="0" rIns="0" tIns="0" bIns="0" anchor="t">
            <a:spAutoFit/>
          </a:bodyPr>
          <a:lstStyle/>
          <a:p>
            <a:pPr algn="ctr">
              <a:lnSpc>
                <a:spcPct val="115000"/>
              </a:lnSpc>
            </a:pPr>
            <a:r>
              <a:rPr sz="1200" b="0">
                <a:solidFill>
                  <a:srgbClr val="A3B6AA"/>
                </a:solidFill>
                <a:latin typeface="Tahoma"/>
              </a:rPr>
              <a:t>Rs/R0 ที่ลดลง ของเซนเซอร์ 3 ตัว</a:t>
            </a:r>
          </a:p>
        </p:txBody>
      </p:sp>
      <p:sp>
        <p:nvSpPr>
          <p:cNvPr id="9" name="Rounded Rectangle 8"/>
          <p:cNvSpPr/>
          <p:nvPr/>
        </p:nvSpPr>
        <p:spPr>
          <a:xfrm>
            <a:off x="1174750" y="2698750"/>
            <a:ext cx="508000" cy="952500"/>
          </a:xfrm>
          <a:prstGeom prst="roundRect">
            <a:avLst>
              <a:gd name="adj" fmla="val 10000"/>
            </a:avLst>
          </a:prstGeom>
          <a:solidFill>
            <a:srgbClr val="B9D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9500" y="3727450"/>
            <a:ext cx="698500" cy="254000"/>
          </a:xfrm>
          <a:prstGeom prst="rect">
            <a:avLst/>
          </a:prstGeom>
          <a:noFill/>
        </p:spPr>
        <p:txBody>
          <a:bodyPr wrap="square" lIns="0" rIns="0" tIns="0" bIns="0" anchor="t">
            <a:spAutoFit/>
          </a:bodyPr>
          <a:lstStyle/>
          <a:p>
            <a:pPr algn="ctr">
              <a:lnSpc>
                <a:spcPct val="115000"/>
              </a:lnSpc>
            </a:pPr>
            <a:r>
              <a:rPr sz="1000" b="0">
                <a:solidFill>
                  <a:srgbClr val="A3B6AA"/>
                </a:solidFill>
                <a:latin typeface="Tahoma"/>
              </a:rPr>
              <a:t>TGS2602</a:t>
            </a:r>
          </a:p>
        </p:txBody>
      </p:sp>
      <p:sp>
        <p:nvSpPr>
          <p:cNvPr id="11" name="Rounded Rectangle 10"/>
          <p:cNvSpPr/>
          <p:nvPr/>
        </p:nvSpPr>
        <p:spPr>
          <a:xfrm>
            <a:off x="1873250" y="2952750"/>
            <a:ext cx="508000" cy="698500"/>
          </a:xfrm>
          <a:prstGeom prst="roundRect">
            <a:avLst>
              <a:gd name="adj" fmla="val 10000"/>
            </a:avLst>
          </a:prstGeom>
          <a:solidFill>
            <a:srgbClr val="B9D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78000" y="3727450"/>
            <a:ext cx="698500" cy="254000"/>
          </a:xfrm>
          <a:prstGeom prst="rect">
            <a:avLst/>
          </a:prstGeom>
          <a:noFill/>
        </p:spPr>
        <p:txBody>
          <a:bodyPr wrap="square" lIns="0" rIns="0" tIns="0" bIns="0" anchor="t">
            <a:spAutoFit/>
          </a:bodyPr>
          <a:lstStyle/>
          <a:p>
            <a:pPr algn="ctr">
              <a:lnSpc>
                <a:spcPct val="115000"/>
              </a:lnSpc>
            </a:pPr>
            <a:r>
              <a:rPr sz="1000" b="0">
                <a:solidFill>
                  <a:srgbClr val="A3B6AA"/>
                </a:solidFill>
                <a:latin typeface="Tahoma"/>
              </a:rPr>
              <a:t>TGS2603</a:t>
            </a:r>
          </a:p>
        </p:txBody>
      </p:sp>
      <p:sp>
        <p:nvSpPr>
          <p:cNvPr id="13" name="Rounded Rectangle 12"/>
          <p:cNvSpPr/>
          <p:nvPr/>
        </p:nvSpPr>
        <p:spPr>
          <a:xfrm>
            <a:off x="2571750" y="2444750"/>
            <a:ext cx="508000" cy="1206500"/>
          </a:xfrm>
          <a:prstGeom prst="roundRect">
            <a:avLst>
              <a:gd name="adj" fmla="val 10000"/>
            </a:avLst>
          </a:prstGeom>
          <a:solidFill>
            <a:srgbClr val="B9D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76500" y="3727450"/>
            <a:ext cx="698500" cy="254000"/>
          </a:xfrm>
          <a:prstGeom prst="rect">
            <a:avLst/>
          </a:prstGeom>
          <a:noFill/>
        </p:spPr>
        <p:txBody>
          <a:bodyPr wrap="square" lIns="0" rIns="0" tIns="0" bIns="0" anchor="t">
            <a:spAutoFit/>
          </a:bodyPr>
          <a:lstStyle/>
          <a:p>
            <a:pPr algn="ctr">
              <a:lnSpc>
                <a:spcPct val="115000"/>
              </a:lnSpc>
            </a:pPr>
            <a:r>
              <a:rPr sz="1000" b="0">
                <a:solidFill>
                  <a:srgbClr val="A3B6AA"/>
                </a:solidFill>
                <a:latin typeface="Tahoma"/>
              </a:rPr>
              <a:t>BME688</a:t>
            </a:r>
          </a:p>
        </p:txBody>
      </p:sp>
      <p:sp>
        <p:nvSpPr>
          <p:cNvPr id="15" name="TextBox 14"/>
          <p:cNvSpPr txBox="1"/>
          <p:nvPr/>
        </p:nvSpPr>
        <p:spPr>
          <a:xfrm>
            <a:off x="4127500" y="2413000"/>
            <a:ext cx="635000" cy="508000"/>
          </a:xfrm>
          <a:prstGeom prst="rect">
            <a:avLst/>
          </a:prstGeom>
          <a:noFill/>
        </p:spPr>
        <p:txBody>
          <a:bodyPr wrap="square" lIns="0" rIns="0" tIns="0" bIns="0" anchor="ctr">
            <a:spAutoFit/>
          </a:bodyPr>
          <a:lstStyle/>
          <a:p>
            <a:pPr algn="ctr">
              <a:lnSpc>
                <a:spcPct val="115000"/>
              </a:lnSpc>
            </a:pPr>
            <a:r>
              <a:rPr sz="4000" b="1">
                <a:solidFill>
                  <a:srgbClr val="B9D84A"/>
                </a:solidFill>
                <a:latin typeface="Tahoma"/>
              </a:rPr>
              <a:t>→</a:t>
            </a:r>
          </a:p>
        </p:txBody>
      </p:sp>
      <p:sp>
        <p:nvSpPr>
          <p:cNvPr id="16" name="Rounded Rectangle 15"/>
          <p:cNvSpPr/>
          <p:nvPr/>
        </p:nvSpPr>
        <p:spPr>
          <a:xfrm>
            <a:off x="4762500" y="1524000"/>
            <a:ext cx="3302000" cy="2667000"/>
          </a:xfrm>
          <a:prstGeom prst="roundRect">
            <a:avLst>
              <a:gd name="adj" fmla="val 6666"/>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53000" y="1619250"/>
            <a:ext cx="2921000" cy="381000"/>
          </a:xfrm>
          <a:prstGeom prst="rect">
            <a:avLst/>
          </a:prstGeom>
          <a:noFill/>
        </p:spPr>
        <p:txBody>
          <a:bodyPr wrap="square" lIns="0" rIns="0" tIns="0" bIns="0" anchor="t">
            <a:spAutoFit/>
          </a:bodyPr>
          <a:lstStyle/>
          <a:p>
            <a:pPr algn="ctr">
              <a:lnSpc>
                <a:spcPct val="115000"/>
              </a:lnSpc>
            </a:pPr>
            <a:r>
              <a:rPr sz="1900" b="1">
                <a:solidFill>
                  <a:srgbClr val="B9D84A"/>
                </a:solidFill>
                <a:latin typeface="Tahoma"/>
              </a:rPr>
              <a:t>เทียบเกณฑ์ (จะสอบเทียบ)</a:t>
            </a:r>
          </a:p>
        </p:txBody>
      </p:sp>
      <p:sp>
        <p:nvSpPr>
          <p:cNvPr id="18" name="TextBox 17"/>
          <p:cNvSpPr txBox="1"/>
          <p:nvPr/>
        </p:nvSpPr>
        <p:spPr>
          <a:xfrm>
            <a:off x="4953000" y="2159000"/>
            <a:ext cx="2921000" cy="1905000"/>
          </a:xfrm>
          <a:prstGeom prst="rect">
            <a:avLst/>
          </a:prstGeom>
          <a:noFill/>
        </p:spPr>
        <p:txBody>
          <a:bodyPr wrap="square" lIns="0" rIns="0" tIns="0" bIns="0" anchor="t">
            <a:spAutoFit/>
          </a:bodyPr>
          <a:lstStyle/>
          <a:p>
            <a:pPr algn="ctr">
              <a:lnSpc>
                <a:spcPct val="115000"/>
              </a:lnSpc>
            </a:pPr>
            <a:r>
              <a:rPr sz="1800" b="1">
                <a:solidFill>
                  <a:srgbClr val="F2F6EE"/>
                </a:solidFill>
                <a:latin typeface="Tahoma"/>
              </a:rPr>
              <a:t>ใกล้เกรดใดชัดเจน</a:t>
            </a:r>
          </a:p>
          <a:p>
            <a:pPr algn="ctr">
              <a:lnSpc>
                <a:spcPct val="115000"/>
              </a:lnSpc>
            </a:pPr>
            <a:r>
              <a:rPr sz="1800" b="1">
                <a:solidFill>
                  <a:srgbClr val="F2F6EE"/>
                </a:solidFill>
                <a:latin typeface="Tahoma"/>
              </a:rPr>
              <a:t>→ แสดงเกรดนั้น</a:t>
            </a:r>
          </a:p>
          <a:p>
            <a:pPr algn="ctr">
              <a:lnSpc>
                <a:spcPct val="115000"/>
              </a:lnSpc>
            </a:pPr>
            <a:r>
              <a:rPr sz="1800" b="1">
                <a:solidFill>
                  <a:srgbClr val="F2F6EE"/>
                </a:solidFill>
                <a:latin typeface="Tahoma"/>
              </a:rPr>
              <a:t/>
            </a:r>
          </a:p>
          <a:p>
            <a:pPr algn="ctr">
              <a:lnSpc>
                <a:spcPct val="115000"/>
              </a:lnSpc>
            </a:pPr>
            <a:r>
              <a:rPr sz="1800" b="1">
                <a:solidFill>
                  <a:srgbClr val="F2F6EE"/>
                </a:solidFill>
                <a:latin typeface="Tahoma"/>
              </a:rPr>
              <a:t>ก้ำกึ่ง / ห่างทุกเกรด</a:t>
            </a:r>
          </a:p>
          <a:p>
            <a:pPr algn="ctr">
              <a:lnSpc>
                <a:spcPct val="115000"/>
              </a:lnSpc>
            </a:pPr>
            <a:r>
              <a:rPr sz="1800" b="1">
                <a:solidFill>
                  <a:srgbClr val="F2F6EE"/>
                </a:solidFill>
                <a:latin typeface="Tahoma"/>
              </a:rPr>
              <a:t>→ "ไม่แน่ใจ"</a:t>
            </a:r>
          </a:p>
        </p:txBody>
      </p:sp>
      <p:sp>
        <p:nvSpPr>
          <p:cNvPr id="19" name="TextBox 18"/>
          <p:cNvSpPr txBox="1"/>
          <p:nvPr/>
        </p:nvSpPr>
        <p:spPr>
          <a:xfrm>
            <a:off x="8064500" y="2413000"/>
            <a:ext cx="635000" cy="508000"/>
          </a:xfrm>
          <a:prstGeom prst="rect">
            <a:avLst/>
          </a:prstGeom>
          <a:noFill/>
        </p:spPr>
        <p:txBody>
          <a:bodyPr wrap="square" lIns="0" rIns="0" tIns="0" bIns="0" anchor="ctr">
            <a:spAutoFit/>
          </a:bodyPr>
          <a:lstStyle/>
          <a:p>
            <a:pPr algn="ctr">
              <a:lnSpc>
                <a:spcPct val="115000"/>
              </a:lnSpc>
            </a:pPr>
            <a:r>
              <a:rPr sz="4000" b="1">
                <a:solidFill>
                  <a:srgbClr val="B9D84A"/>
                </a:solidFill>
                <a:latin typeface="Tahoma"/>
              </a:rPr>
              <a:t>→</a:t>
            </a:r>
          </a:p>
        </p:txBody>
      </p:sp>
      <p:sp>
        <p:nvSpPr>
          <p:cNvPr id="20" name="Rounded Rectangle 19"/>
          <p:cNvSpPr/>
          <p:nvPr/>
        </p:nvSpPr>
        <p:spPr>
          <a:xfrm>
            <a:off x="8699500" y="1524000"/>
            <a:ext cx="2921000" cy="571500"/>
          </a:xfrm>
          <a:prstGeom prst="roundRect">
            <a:avLst>
              <a:gd name="adj" fmla="val 31111"/>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51900" y="1587500"/>
            <a:ext cx="2616200" cy="444500"/>
          </a:xfrm>
          <a:prstGeom prst="rect">
            <a:avLst/>
          </a:prstGeom>
          <a:noFill/>
        </p:spPr>
        <p:txBody>
          <a:bodyPr wrap="square" lIns="0" rIns="0" tIns="0" bIns="0" anchor="ctr">
            <a:spAutoFit/>
          </a:bodyPr>
          <a:lstStyle/>
          <a:p>
            <a:pPr algn="ctr">
              <a:lnSpc>
                <a:spcPct val="115000"/>
              </a:lnSpc>
            </a:pPr>
            <a:r>
              <a:rPr sz="1700" b="1">
                <a:solidFill>
                  <a:srgbClr val="4CAF50"/>
                </a:solidFill>
                <a:latin typeface="Tahoma"/>
              </a:rPr>
              <a:t>ยังไม่สุก (จากกลิ่น)*</a:t>
            </a:r>
          </a:p>
        </p:txBody>
      </p:sp>
      <p:sp>
        <p:nvSpPr>
          <p:cNvPr id="22" name="Rounded Rectangle 21"/>
          <p:cNvSpPr/>
          <p:nvPr/>
        </p:nvSpPr>
        <p:spPr>
          <a:xfrm>
            <a:off x="8699500" y="2190750"/>
            <a:ext cx="2921000" cy="571500"/>
          </a:xfrm>
          <a:prstGeom prst="roundRect">
            <a:avLst>
              <a:gd name="adj" fmla="val 31111"/>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51900" y="2254250"/>
            <a:ext cx="2616200" cy="444500"/>
          </a:xfrm>
          <a:prstGeom prst="rect">
            <a:avLst/>
          </a:prstGeom>
          <a:noFill/>
        </p:spPr>
        <p:txBody>
          <a:bodyPr wrap="square" lIns="0" rIns="0" tIns="0" bIns="0" anchor="ctr">
            <a:spAutoFit/>
          </a:bodyPr>
          <a:lstStyle/>
          <a:p>
            <a:pPr algn="ctr">
              <a:lnSpc>
                <a:spcPct val="115000"/>
              </a:lnSpc>
            </a:pPr>
            <a:r>
              <a:rPr sz="2200" b="1">
                <a:solidFill>
                  <a:srgbClr val="F2C230"/>
                </a:solidFill>
                <a:latin typeface="Tahoma"/>
              </a:rPr>
              <a:t>สุก</a:t>
            </a:r>
          </a:p>
        </p:txBody>
      </p:sp>
      <p:sp>
        <p:nvSpPr>
          <p:cNvPr id="24" name="Rounded Rectangle 23"/>
          <p:cNvSpPr/>
          <p:nvPr/>
        </p:nvSpPr>
        <p:spPr>
          <a:xfrm>
            <a:off x="8699500" y="2857500"/>
            <a:ext cx="2921000" cy="571500"/>
          </a:xfrm>
          <a:prstGeom prst="roundRect">
            <a:avLst>
              <a:gd name="adj" fmla="val 31111"/>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51900" y="2921000"/>
            <a:ext cx="2616200" cy="444500"/>
          </a:xfrm>
          <a:prstGeom prst="rect">
            <a:avLst/>
          </a:prstGeom>
          <a:noFill/>
        </p:spPr>
        <p:txBody>
          <a:bodyPr wrap="square" lIns="0" rIns="0" tIns="0" bIns="0" anchor="ctr">
            <a:spAutoFit/>
          </a:bodyPr>
          <a:lstStyle/>
          <a:p>
            <a:pPr algn="ctr">
              <a:lnSpc>
                <a:spcPct val="115000"/>
              </a:lnSpc>
            </a:pPr>
            <a:r>
              <a:rPr sz="1900" b="1">
                <a:solidFill>
                  <a:srgbClr val="E58A3F"/>
                </a:solidFill>
                <a:latin typeface="Tahoma"/>
              </a:rPr>
              <a:t>สุกเกิน/เริ่มเสีย</a:t>
            </a:r>
          </a:p>
        </p:txBody>
      </p:sp>
      <p:sp>
        <p:nvSpPr>
          <p:cNvPr id="26" name="Rounded Rectangle 25"/>
          <p:cNvSpPr/>
          <p:nvPr/>
        </p:nvSpPr>
        <p:spPr>
          <a:xfrm>
            <a:off x="8699500" y="3524250"/>
            <a:ext cx="2921000" cy="666750"/>
          </a:xfrm>
          <a:prstGeom prst="roundRect">
            <a:avLst>
              <a:gd name="adj" fmla="val 26666"/>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51900" y="3587750"/>
            <a:ext cx="2616200" cy="539750"/>
          </a:xfrm>
          <a:prstGeom prst="rect">
            <a:avLst/>
          </a:prstGeom>
          <a:noFill/>
        </p:spPr>
        <p:txBody>
          <a:bodyPr wrap="square" lIns="0" rIns="0" tIns="0" bIns="0" anchor="ctr">
            <a:spAutoFit/>
          </a:bodyPr>
          <a:lstStyle/>
          <a:p>
            <a:pPr algn="ctr">
              <a:lnSpc>
                <a:spcPct val="115000"/>
              </a:lnSpc>
            </a:pPr>
            <a:r>
              <a:rPr sz="1900" b="1">
                <a:solidFill>
                  <a:srgbClr val="6FB7FF"/>
                </a:solidFill>
                <a:latin typeface="Tahoma"/>
              </a:rPr>
              <a:t>ไม่แน่ใจ → คนตรวจ</a:t>
            </a:r>
          </a:p>
        </p:txBody>
      </p:sp>
      <p:sp>
        <p:nvSpPr>
          <p:cNvPr id="28" name="Rounded Rectangle 27"/>
          <p:cNvSpPr/>
          <p:nvPr/>
        </p:nvSpPr>
        <p:spPr>
          <a:xfrm>
            <a:off x="571500" y="4445000"/>
            <a:ext cx="11049000" cy="1397000"/>
          </a:xfrm>
          <a:prstGeom prst="roundRect">
            <a:avLst>
              <a:gd name="adj" fmla="val 12727"/>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5500" y="4540250"/>
            <a:ext cx="10541000" cy="1206500"/>
          </a:xfrm>
          <a:prstGeom prst="rect">
            <a:avLst/>
          </a:prstGeom>
          <a:noFill/>
        </p:spPr>
        <p:txBody>
          <a:bodyPr wrap="square" lIns="0" rIns="0" tIns="0" bIns="0" anchor="ctr">
            <a:spAutoFit/>
          </a:bodyPr>
          <a:lstStyle/>
          <a:p>
            <a:pPr algn="l">
              <a:lnSpc>
                <a:spcPct val="115000"/>
              </a:lnSpc>
            </a:pPr>
            <a:r>
              <a:rPr sz="2100" b="1">
                <a:solidFill>
                  <a:srgbClr val="F2F6EE"/>
                </a:solidFill>
                <a:latin typeface="Tahoma"/>
              </a:rPr>
              <a:t>ภาพแท่งเป็นภาพประกอบ ไม่ใช่ข้อมูลวัดจริง</a:t>
            </a:r>
          </a:p>
          <a:p>
            <a:pPr algn="l">
              <a:lnSpc>
                <a:spcPct val="115000"/>
              </a:lnSpc>
            </a:pPr>
            <a:r>
              <a:rPr sz="2100" b="1">
                <a:solidFill>
                  <a:srgbClr val="F2F6EE"/>
                </a:solidFill>
                <a:latin typeface="Tahoma"/>
              </a:rPr>
              <a:t>เกณฑ์จริงต้องได้จากข้อมูลทุเรียนจริงก่อน (แผนเก็บข้อมูล)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TextBox 1"/>
          <p:cNvSpPr txBox="1"/>
          <p:nvPr/>
        </p:nvSpPr>
        <p:spPr>
          <a:xfrm>
            <a:off x="571500" y="254000"/>
            <a:ext cx="7620000" cy="254000"/>
          </a:xfrm>
          <a:prstGeom prst="rect">
            <a:avLst/>
          </a:prstGeom>
          <a:noFill/>
        </p:spPr>
        <p:txBody>
          <a:bodyPr wrap="square" lIns="0" rIns="0" tIns="0" bIns="0" anchor="t">
            <a:spAutoFit/>
          </a:bodyPr>
          <a:lstStyle/>
          <a:p>
            <a:pPr algn="l">
              <a:lnSpc>
                <a:spcPct val="115000"/>
              </a:lnSpc>
            </a:pPr>
            <a:r>
              <a:rPr sz="1400" b="0">
                <a:solidFill>
                  <a:srgbClr val="A3B6AA"/>
                </a:solidFill>
                <a:latin typeface="Tahoma"/>
              </a:rPr>
              <a:t>เครื่องดมทุเรียนอัจฉริยะ  ·  </a:t>
            </a:r>
            <a:r>
              <a:rPr sz="1400" b="0">
                <a:solidFill>
                  <a:srgbClr val="B9D84A"/>
                </a:solidFill>
                <a:latin typeface="Tahoma"/>
              </a:rPr>
              <a:t>Simulation</a:t>
            </a:r>
          </a:p>
        </p:txBody>
      </p:sp>
      <p:sp>
        <p:nvSpPr>
          <p:cNvPr id="3" name="TextBox 2"/>
          <p:cNvSpPr txBox="1"/>
          <p:nvPr/>
        </p:nvSpPr>
        <p:spPr>
          <a:xfrm>
            <a:off x="571500" y="558800"/>
            <a:ext cx="9525000" cy="698500"/>
          </a:xfrm>
          <a:prstGeom prst="rect">
            <a:avLst/>
          </a:prstGeom>
          <a:noFill/>
        </p:spPr>
        <p:txBody>
          <a:bodyPr wrap="square" lIns="0" rIns="0" tIns="0" bIns="0" anchor="t">
            <a:spAutoFit/>
          </a:bodyPr>
          <a:lstStyle/>
          <a:p>
            <a:pPr algn="l">
              <a:lnSpc>
                <a:spcPct val="115000"/>
              </a:lnSpc>
            </a:pPr>
            <a:r>
              <a:rPr sz="3500" b="1">
                <a:solidFill>
                  <a:srgbClr val="F2F6EE"/>
                </a:solidFill>
                <a:latin typeface="Tahoma"/>
              </a:rPr>
              <a:t>เห็นภายในเครื่อง</a:t>
            </a:r>
          </a:p>
        </p:txBody>
      </p:sp>
      <p:sp>
        <p:nvSpPr>
          <p:cNvPr id="4" name="Rounded Rectangle 3"/>
          <p:cNvSpPr/>
          <p:nvPr/>
        </p:nvSpPr>
        <p:spPr>
          <a:xfrm>
            <a:off x="8064500" y="304800"/>
            <a:ext cx="3556000" cy="355600"/>
          </a:xfrm>
          <a:prstGeom prst="roundRect">
            <a:avLst>
              <a:gd name="adj" fmla="val 50000"/>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64500" y="304800"/>
            <a:ext cx="3556000" cy="355600"/>
          </a:xfrm>
          <a:prstGeom prst="rect">
            <a:avLst/>
          </a:prstGeom>
          <a:noFill/>
        </p:spPr>
        <p:txBody>
          <a:bodyPr wrap="square" lIns="0" rIns="0" tIns="0" bIns="0" anchor="ctr">
            <a:spAutoFit/>
          </a:bodyPr>
          <a:lstStyle/>
          <a:p>
            <a:pPr algn="ctr">
              <a:lnSpc>
                <a:spcPct val="115000"/>
              </a:lnSpc>
            </a:pPr>
            <a:r>
              <a:rPr sz="1300" b="1">
                <a:solidFill>
                  <a:srgbClr val="E3A21A"/>
                </a:solidFill>
                <a:latin typeface="Tahoma"/>
              </a:rPr>
              <a:t>SIMULATION · ไม่ใช่ข้อมูลวัดจริง</a:t>
            </a:r>
          </a:p>
        </p:txBody>
      </p:sp>
      <p:sp>
        <p:nvSpPr>
          <p:cNvPr id="6" name="Rounded Rectangle 5"/>
          <p:cNvSpPr/>
          <p:nvPr/>
        </p:nvSpPr>
        <p:spPr>
          <a:xfrm>
            <a:off x="533400" y="1536700"/>
            <a:ext cx="7442200" cy="4102100"/>
          </a:xfrm>
          <a:prstGeom prst="roundRect">
            <a:avLst>
              <a:gd name="adj" fmla="val 2786"/>
            </a:avLst>
          </a:prstGeom>
          <a:solidFill>
            <a:srgbClr val="0A110D"/>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op-sim.png"/>
          <p:cNvPicPr>
            <a:picLocks noChangeAspect="1"/>
          </p:cNvPicPr>
          <p:nvPr/>
        </p:nvPicPr>
        <p:blipFill>
          <a:blip r:embed="rId2"/>
          <a:stretch>
            <a:fillRect/>
          </a:stretch>
        </p:blipFill>
        <p:spPr>
          <a:xfrm>
            <a:off x="571500" y="1574800"/>
            <a:ext cx="7366000" cy="4025900"/>
          </a:xfrm>
          <a:prstGeom prst="rect">
            <a:avLst/>
          </a:prstGeom>
        </p:spPr>
      </p:pic>
      <p:sp>
        <p:nvSpPr>
          <p:cNvPr id="8" name="Rounded Rectangle 7"/>
          <p:cNvSpPr/>
          <p:nvPr/>
        </p:nvSpPr>
        <p:spPr>
          <a:xfrm>
            <a:off x="8191500" y="1365250"/>
            <a:ext cx="3429000" cy="1270000"/>
          </a:xfrm>
          <a:prstGeom prst="roundRect">
            <a:avLst>
              <a:gd name="adj" fmla="val 14000"/>
            </a:avLst>
          </a:prstGeom>
          <a:solidFill>
            <a:srgbClr val="22351A"/>
          </a:solidFill>
          <a:ln w="12700">
            <a:solidFill>
              <a:srgbClr val="B9D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43900" y="1428750"/>
            <a:ext cx="3124200" cy="1143000"/>
          </a:xfrm>
          <a:prstGeom prst="rect">
            <a:avLst/>
          </a:prstGeom>
          <a:noFill/>
        </p:spPr>
        <p:txBody>
          <a:bodyPr wrap="square" lIns="0" rIns="0" tIns="0" bIns="0" anchor="ctr">
            <a:spAutoFit/>
          </a:bodyPr>
          <a:lstStyle/>
          <a:p>
            <a:pPr algn="ctr">
              <a:lnSpc>
                <a:spcPct val="115000"/>
              </a:lnSpc>
            </a:pPr>
            <a:r>
              <a:rPr sz="2600" b="1">
                <a:solidFill>
                  <a:srgbClr val="B9D84A"/>
                </a:solidFill>
                <a:latin typeface="Tahoma"/>
              </a:rPr>
              <a:t>สด → เน่า</a:t>
            </a:r>
          </a:p>
        </p:txBody>
      </p:sp>
      <p:sp>
        <p:nvSpPr>
          <p:cNvPr id="10" name="Rounded Rectangle 9"/>
          <p:cNvSpPr/>
          <p:nvPr/>
        </p:nvSpPr>
        <p:spPr>
          <a:xfrm>
            <a:off x="8191500" y="2825750"/>
            <a:ext cx="3429000" cy="1460500"/>
          </a:xfrm>
          <a:prstGeom prst="roundRect">
            <a:avLst>
              <a:gd name="adj" fmla="val 12173"/>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3900" y="2889250"/>
            <a:ext cx="3124200" cy="1333500"/>
          </a:xfrm>
          <a:prstGeom prst="rect">
            <a:avLst/>
          </a:prstGeom>
          <a:noFill/>
        </p:spPr>
        <p:txBody>
          <a:bodyPr wrap="square" lIns="0" rIns="0" tIns="0" bIns="0" anchor="ctr">
            <a:spAutoFit/>
          </a:bodyPr>
          <a:lstStyle/>
          <a:p>
            <a:pPr algn="ctr">
              <a:lnSpc>
                <a:spcPct val="115000"/>
              </a:lnSpc>
            </a:pPr>
            <a:r>
              <a:rPr sz="1900" b="1">
                <a:solidFill>
                  <a:srgbClr val="F2F6EE"/>
                </a:solidFill>
                <a:latin typeface="Tahoma"/>
              </a:rPr>
              <a:t>แก๊สในห้องดม</a:t>
            </a:r>
          </a:p>
          <a:p>
            <a:pPr algn="ctr">
              <a:lnSpc>
                <a:spcPct val="115000"/>
              </a:lnSpc>
            </a:pPr>
            <a:r>
              <a:rPr sz="1900" b="1">
                <a:solidFill>
                  <a:srgbClr val="F2F6EE"/>
                </a:solidFill>
                <a:latin typeface="Tahoma"/>
              </a:rPr>
              <a:t>และกราฟเซนเซอร์</a:t>
            </a:r>
          </a:p>
          <a:p>
            <a:pPr algn="ctr">
              <a:lnSpc>
                <a:spcPct val="115000"/>
              </a:lnSpc>
            </a:pPr>
            <a:r>
              <a:rPr sz="1900" b="1">
                <a:solidFill>
                  <a:srgbClr val="F2F6EE"/>
                </a:solidFill>
                <a:latin typeface="Tahoma"/>
              </a:rPr>
              <a:t>เปลี่ยนตาม</a:t>
            </a:r>
          </a:p>
        </p:txBody>
      </p:sp>
      <p:sp>
        <p:nvSpPr>
          <p:cNvPr id="12" name="Rounded Rectangle 11"/>
          <p:cNvSpPr/>
          <p:nvPr/>
        </p:nvSpPr>
        <p:spPr>
          <a:xfrm>
            <a:off x="8191500" y="4476750"/>
            <a:ext cx="3429000" cy="1333500"/>
          </a:xfrm>
          <a:prstGeom prst="roundRect">
            <a:avLst>
              <a:gd name="adj" fmla="val 13333"/>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43900" y="4540250"/>
            <a:ext cx="3124200" cy="1206500"/>
          </a:xfrm>
          <a:prstGeom prst="rect">
            <a:avLst/>
          </a:prstGeom>
          <a:noFill/>
        </p:spPr>
        <p:txBody>
          <a:bodyPr wrap="square" lIns="0" rIns="0" tIns="0" bIns="0" anchor="ctr">
            <a:spAutoFit/>
          </a:bodyPr>
          <a:lstStyle/>
          <a:p>
            <a:pPr algn="ctr">
              <a:lnSpc>
                <a:spcPct val="115000"/>
              </a:lnSpc>
            </a:pPr>
            <a:r>
              <a:rPr sz="2000" b="1">
                <a:solidFill>
                  <a:srgbClr val="E3A21A"/>
                </a:solidFill>
                <a:latin typeface="Tahoma"/>
              </a:rPr>
              <a:t>หน่วยสมมติ (a.u.)</a:t>
            </a:r>
          </a:p>
          <a:p>
            <a:pPr algn="ctr">
              <a:lnSpc>
                <a:spcPct val="115000"/>
              </a:lnSpc>
            </a:pPr>
            <a:r>
              <a:rPr sz="2000" b="1">
                <a:solidFill>
                  <a:srgbClr val="E3A21A"/>
                </a:solidFill>
                <a:latin typeface="Tahoma"/>
              </a:rPr>
              <a:t>ไม่ใช่ ppm</a:t>
            </a:r>
          </a:p>
        </p:txBody>
      </p:sp>
      <p:sp>
        <p:nvSpPr>
          <p:cNvPr id="14" name="TextBox 13"/>
          <p:cNvSpPr txBox="1"/>
          <p:nvPr/>
        </p:nvSpPr>
        <p:spPr>
          <a:xfrm>
            <a:off x="571500" y="6191250"/>
            <a:ext cx="11049000" cy="254000"/>
          </a:xfrm>
          <a:prstGeom prst="rect">
            <a:avLst/>
          </a:prstGeom>
          <a:noFill/>
        </p:spPr>
        <p:txBody>
          <a:bodyPr wrap="square" lIns="0" rIns="0" tIns="0" bIns="0" anchor="t">
            <a:spAutoFit/>
          </a:bodyPr>
          <a:lstStyle/>
          <a:p>
            <a:pPr algn="l">
              <a:lnSpc>
                <a:spcPct val="115000"/>
              </a:lnSpc>
            </a:pPr>
            <a:r>
              <a:rPr sz="1200" b="0">
                <a:solidFill>
                  <a:srgbClr val="A3B6AA"/>
                </a:solidFill>
                <a:latin typeface="Tahoma"/>
              </a:rPr>
              <a:t>ภาพจาก moolek02.github.io/e-nose-hub/simulation.html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TextBox 1"/>
          <p:cNvSpPr txBox="1"/>
          <p:nvPr/>
        </p:nvSpPr>
        <p:spPr>
          <a:xfrm>
            <a:off x="571500" y="254000"/>
            <a:ext cx="7620000" cy="254000"/>
          </a:xfrm>
          <a:prstGeom prst="rect">
            <a:avLst/>
          </a:prstGeom>
          <a:noFill/>
        </p:spPr>
        <p:txBody>
          <a:bodyPr wrap="square" lIns="0" rIns="0" tIns="0" bIns="0" anchor="t">
            <a:spAutoFit/>
          </a:bodyPr>
          <a:lstStyle/>
          <a:p>
            <a:pPr algn="l">
              <a:lnSpc>
                <a:spcPct val="115000"/>
              </a:lnSpc>
            </a:pPr>
            <a:r>
              <a:rPr sz="1400" b="0">
                <a:solidFill>
                  <a:srgbClr val="A3B6AA"/>
                </a:solidFill>
                <a:latin typeface="Tahoma"/>
              </a:rPr>
              <a:t>เครื่องดมทุเรียนอัจฉริยะ  ·  </a:t>
            </a:r>
            <a:r>
              <a:rPr sz="1400" b="0">
                <a:solidFill>
                  <a:srgbClr val="B9D84A"/>
                </a:solidFill>
                <a:latin typeface="Tahoma"/>
              </a:rPr>
              <a:t>ฮาร์ดแวร์</a:t>
            </a:r>
          </a:p>
        </p:txBody>
      </p:sp>
      <p:sp>
        <p:nvSpPr>
          <p:cNvPr id="3" name="TextBox 2"/>
          <p:cNvSpPr txBox="1"/>
          <p:nvPr/>
        </p:nvSpPr>
        <p:spPr>
          <a:xfrm>
            <a:off x="571500" y="558800"/>
            <a:ext cx="9525000" cy="698500"/>
          </a:xfrm>
          <a:prstGeom prst="rect">
            <a:avLst/>
          </a:prstGeom>
          <a:noFill/>
        </p:spPr>
        <p:txBody>
          <a:bodyPr wrap="square" lIns="0" rIns="0" tIns="0" bIns="0" anchor="t">
            <a:spAutoFit/>
          </a:bodyPr>
          <a:lstStyle/>
          <a:p>
            <a:pPr algn="l">
              <a:lnSpc>
                <a:spcPct val="115000"/>
              </a:lnSpc>
            </a:pPr>
            <a:r>
              <a:rPr sz="3500" b="1">
                <a:solidFill>
                  <a:srgbClr val="F2F6EE"/>
                </a:solidFill>
                <a:latin typeface="Tahoma"/>
              </a:rPr>
              <a:t>ชิ้นส่วนหาซื้อได้</a:t>
            </a:r>
          </a:p>
        </p:txBody>
      </p:sp>
      <p:sp>
        <p:nvSpPr>
          <p:cNvPr id="4" name="Rounded Rectangle 3"/>
          <p:cNvSpPr/>
          <p:nvPr/>
        </p:nvSpPr>
        <p:spPr>
          <a:xfrm>
            <a:off x="8064500" y="304800"/>
            <a:ext cx="3556000" cy="355600"/>
          </a:xfrm>
          <a:prstGeom prst="roundRect">
            <a:avLst>
              <a:gd name="adj" fmla="val 50000"/>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64500" y="304800"/>
            <a:ext cx="3556000" cy="355600"/>
          </a:xfrm>
          <a:prstGeom prst="rect">
            <a:avLst/>
          </a:prstGeom>
          <a:noFill/>
        </p:spPr>
        <p:txBody>
          <a:bodyPr wrap="square" lIns="0" rIns="0" tIns="0" bIns="0" anchor="ctr">
            <a:spAutoFit/>
          </a:bodyPr>
          <a:lstStyle/>
          <a:p>
            <a:pPr algn="ctr">
              <a:lnSpc>
                <a:spcPct val="115000"/>
              </a:lnSpc>
            </a:pPr>
            <a:r>
              <a:rPr sz="1300" b="1">
                <a:solidFill>
                  <a:srgbClr val="E3A21A"/>
                </a:solidFill>
                <a:latin typeface="Tahoma"/>
              </a:rPr>
              <a:t>ผังออกแบบ · ยังไม่มีผลวัดจริง</a:t>
            </a:r>
          </a:p>
        </p:txBody>
      </p:sp>
      <p:sp>
        <p:nvSpPr>
          <p:cNvPr id="6" name="Rounded Rectangle 5"/>
          <p:cNvSpPr/>
          <p:nvPr/>
        </p:nvSpPr>
        <p:spPr>
          <a:xfrm>
            <a:off x="571500" y="1587500"/>
            <a:ext cx="3175000" cy="1016000"/>
          </a:xfrm>
          <a:prstGeom prst="roundRect">
            <a:avLst>
              <a:gd name="adj" fmla="val 17500"/>
            </a:avLst>
          </a:prstGeom>
          <a:solidFill>
            <a:srgbClr val="22351A"/>
          </a:solidFill>
          <a:ln w="12700">
            <a:solidFill>
              <a:srgbClr val="B9D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1651000"/>
            <a:ext cx="2870200" cy="889000"/>
          </a:xfrm>
          <a:prstGeom prst="rect">
            <a:avLst/>
          </a:prstGeom>
          <a:noFill/>
        </p:spPr>
        <p:txBody>
          <a:bodyPr wrap="square" lIns="0" rIns="0" tIns="0" bIns="0" anchor="ctr">
            <a:spAutoFit/>
          </a:bodyPr>
          <a:lstStyle/>
          <a:p>
            <a:pPr algn="ctr">
              <a:lnSpc>
                <a:spcPct val="115000"/>
              </a:lnSpc>
            </a:pPr>
            <a:r>
              <a:rPr sz="2100" b="1">
                <a:solidFill>
                  <a:srgbClr val="B9D84A"/>
                </a:solidFill>
                <a:latin typeface="Tahoma"/>
              </a:rPr>
              <a:t>ESP32-S3</a:t>
            </a:r>
          </a:p>
          <a:p>
            <a:pPr algn="ctr">
              <a:lnSpc>
                <a:spcPct val="115000"/>
              </a:lnSpc>
            </a:pPr>
            <a:r>
              <a:rPr sz="2100" b="1">
                <a:solidFill>
                  <a:srgbClr val="F2F6EE"/>
                </a:solidFill>
                <a:latin typeface="Tahoma"/>
              </a:rPr>
              <a:t>สมองของเครื่อง</a:t>
            </a:r>
          </a:p>
        </p:txBody>
      </p:sp>
      <p:sp>
        <p:nvSpPr>
          <p:cNvPr id="8" name="TextBox 7"/>
          <p:cNvSpPr txBox="1"/>
          <p:nvPr/>
        </p:nvSpPr>
        <p:spPr>
          <a:xfrm>
            <a:off x="3746500" y="1778000"/>
            <a:ext cx="635000" cy="571500"/>
          </a:xfrm>
          <a:prstGeom prst="rect">
            <a:avLst/>
          </a:prstGeom>
          <a:noFill/>
        </p:spPr>
        <p:txBody>
          <a:bodyPr wrap="square" lIns="0" rIns="0" tIns="0" bIns="0" anchor="ctr">
            <a:spAutoFit/>
          </a:bodyPr>
          <a:lstStyle/>
          <a:p>
            <a:pPr algn="ctr">
              <a:lnSpc>
                <a:spcPct val="115000"/>
              </a:lnSpc>
            </a:pPr>
            <a:r>
              <a:rPr sz="3500" b="1">
                <a:solidFill>
                  <a:srgbClr val="B9D84A"/>
                </a:solidFill>
                <a:latin typeface="Tahoma"/>
              </a:rPr>
              <a:t>⇄</a:t>
            </a:r>
          </a:p>
        </p:txBody>
      </p:sp>
      <p:sp>
        <p:nvSpPr>
          <p:cNvPr id="9" name="Rounded Rectangle 8"/>
          <p:cNvSpPr/>
          <p:nvPr/>
        </p:nvSpPr>
        <p:spPr>
          <a:xfrm>
            <a:off x="4381500" y="1397000"/>
            <a:ext cx="3556000" cy="698500"/>
          </a:xfrm>
          <a:prstGeom prst="roundRect">
            <a:avLst>
              <a:gd name="adj" fmla="val 25454"/>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3900" y="1460500"/>
            <a:ext cx="3251200" cy="571500"/>
          </a:xfrm>
          <a:prstGeom prst="rect">
            <a:avLst/>
          </a:prstGeom>
          <a:noFill/>
        </p:spPr>
        <p:txBody>
          <a:bodyPr wrap="square" lIns="0" rIns="0" tIns="0" bIns="0" anchor="ctr">
            <a:spAutoFit/>
          </a:bodyPr>
          <a:lstStyle/>
          <a:p>
            <a:pPr algn="ctr">
              <a:lnSpc>
                <a:spcPct val="115000"/>
              </a:lnSpc>
            </a:pPr>
            <a:r>
              <a:rPr sz="1800" b="1">
                <a:solidFill>
                  <a:srgbClr val="F2F6EE"/>
                </a:solidFill>
                <a:latin typeface="Tahoma"/>
              </a:rPr>
              <a:t>ADS1115 · ADC 16 บิต</a:t>
            </a:r>
          </a:p>
        </p:txBody>
      </p:sp>
      <p:sp>
        <p:nvSpPr>
          <p:cNvPr id="11" name="Rounded Rectangle 10"/>
          <p:cNvSpPr/>
          <p:nvPr/>
        </p:nvSpPr>
        <p:spPr>
          <a:xfrm>
            <a:off x="8128000" y="1397000"/>
            <a:ext cx="3492500" cy="698500"/>
          </a:xfrm>
          <a:prstGeom prst="roundRect">
            <a:avLst>
              <a:gd name="adj" fmla="val 25454"/>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80400" y="1460500"/>
            <a:ext cx="3187700" cy="571500"/>
          </a:xfrm>
          <a:prstGeom prst="rect">
            <a:avLst/>
          </a:prstGeom>
          <a:noFill/>
        </p:spPr>
        <p:txBody>
          <a:bodyPr wrap="square" lIns="0" rIns="0" tIns="0" bIns="0" anchor="ctr">
            <a:spAutoFit/>
          </a:bodyPr>
          <a:lstStyle/>
          <a:p>
            <a:pPr algn="ctr">
              <a:lnSpc>
                <a:spcPct val="115000"/>
              </a:lnSpc>
            </a:pPr>
            <a:r>
              <a:rPr sz="1800" b="1">
                <a:solidFill>
                  <a:srgbClr val="F2F6EE"/>
                </a:solidFill>
                <a:latin typeface="Tahoma"/>
              </a:rPr>
              <a:t>TGS2602 · TGS2603</a:t>
            </a:r>
          </a:p>
        </p:txBody>
      </p:sp>
      <p:sp>
        <p:nvSpPr>
          <p:cNvPr id="13" name="Rounded Rectangle 12"/>
          <p:cNvSpPr/>
          <p:nvPr/>
        </p:nvSpPr>
        <p:spPr>
          <a:xfrm>
            <a:off x="4381500" y="2286000"/>
            <a:ext cx="3556000" cy="698500"/>
          </a:xfrm>
          <a:prstGeom prst="roundRect">
            <a:avLst>
              <a:gd name="adj" fmla="val 25454"/>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3900" y="2349500"/>
            <a:ext cx="3251200" cy="571500"/>
          </a:xfrm>
          <a:prstGeom prst="rect">
            <a:avLst/>
          </a:prstGeom>
          <a:noFill/>
        </p:spPr>
        <p:txBody>
          <a:bodyPr wrap="square" lIns="0" rIns="0" tIns="0" bIns="0" anchor="ctr">
            <a:spAutoFit/>
          </a:bodyPr>
          <a:lstStyle/>
          <a:p>
            <a:pPr algn="ctr">
              <a:lnSpc>
                <a:spcPct val="115000"/>
              </a:lnSpc>
            </a:pPr>
            <a:r>
              <a:rPr sz="1800" b="1">
                <a:solidFill>
                  <a:srgbClr val="F2F6EE"/>
                </a:solidFill>
                <a:latin typeface="Tahoma"/>
              </a:rPr>
              <a:t>BME688 #1 · ห้องเซนเซอร์</a:t>
            </a:r>
          </a:p>
        </p:txBody>
      </p:sp>
      <p:sp>
        <p:nvSpPr>
          <p:cNvPr id="15" name="Rounded Rectangle 14"/>
          <p:cNvSpPr/>
          <p:nvPr/>
        </p:nvSpPr>
        <p:spPr>
          <a:xfrm>
            <a:off x="8128000" y="2286000"/>
            <a:ext cx="3492500" cy="698500"/>
          </a:xfrm>
          <a:prstGeom prst="roundRect">
            <a:avLst>
              <a:gd name="adj" fmla="val 25454"/>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400" y="2349500"/>
            <a:ext cx="3187700" cy="571500"/>
          </a:xfrm>
          <a:prstGeom prst="rect">
            <a:avLst/>
          </a:prstGeom>
          <a:noFill/>
        </p:spPr>
        <p:txBody>
          <a:bodyPr wrap="square" lIns="0" rIns="0" tIns="0" bIns="0" anchor="ctr">
            <a:spAutoFit/>
          </a:bodyPr>
          <a:lstStyle/>
          <a:p>
            <a:pPr algn="ctr">
              <a:lnSpc>
                <a:spcPct val="115000"/>
              </a:lnSpc>
            </a:pPr>
            <a:r>
              <a:rPr sz="1800" b="1">
                <a:solidFill>
                  <a:srgbClr val="F2F6EE"/>
                </a:solidFill>
                <a:latin typeface="Tahoma"/>
              </a:rPr>
              <a:t>BME688 #2 · อากาศอ้างอิง</a:t>
            </a:r>
          </a:p>
        </p:txBody>
      </p:sp>
      <p:sp>
        <p:nvSpPr>
          <p:cNvPr id="17" name="Rounded Rectangle 16"/>
          <p:cNvSpPr/>
          <p:nvPr/>
        </p:nvSpPr>
        <p:spPr>
          <a:xfrm>
            <a:off x="4381500" y="3175000"/>
            <a:ext cx="3556000" cy="698500"/>
          </a:xfrm>
          <a:prstGeom prst="roundRect">
            <a:avLst>
              <a:gd name="adj" fmla="val 25454"/>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3900" y="3238500"/>
            <a:ext cx="3251200" cy="571500"/>
          </a:xfrm>
          <a:prstGeom prst="rect">
            <a:avLst/>
          </a:prstGeom>
          <a:noFill/>
        </p:spPr>
        <p:txBody>
          <a:bodyPr wrap="square" lIns="0" rIns="0" tIns="0" bIns="0" anchor="ctr">
            <a:spAutoFit/>
          </a:bodyPr>
          <a:lstStyle/>
          <a:p>
            <a:pPr algn="ctr">
              <a:lnSpc>
                <a:spcPct val="115000"/>
              </a:lnSpc>
            </a:pPr>
            <a:r>
              <a:rPr sz="1800" b="1">
                <a:solidFill>
                  <a:srgbClr val="F2F6EE"/>
                </a:solidFill>
                <a:latin typeface="Tahoma"/>
              </a:rPr>
              <a:t>ปั๊มลม 5V</a:t>
            </a:r>
          </a:p>
        </p:txBody>
      </p:sp>
      <p:sp>
        <p:nvSpPr>
          <p:cNvPr id="19" name="Rounded Rectangle 18"/>
          <p:cNvSpPr/>
          <p:nvPr/>
        </p:nvSpPr>
        <p:spPr>
          <a:xfrm>
            <a:off x="8128000" y="3175000"/>
            <a:ext cx="3492500" cy="698500"/>
          </a:xfrm>
          <a:prstGeom prst="roundRect">
            <a:avLst>
              <a:gd name="adj" fmla="val 25454"/>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80400" y="3238500"/>
            <a:ext cx="3187700" cy="571500"/>
          </a:xfrm>
          <a:prstGeom prst="rect">
            <a:avLst/>
          </a:prstGeom>
          <a:noFill/>
        </p:spPr>
        <p:txBody>
          <a:bodyPr wrap="square" lIns="0" rIns="0" tIns="0" bIns="0" anchor="ctr">
            <a:spAutoFit/>
          </a:bodyPr>
          <a:lstStyle/>
          <a:p>
            <a:pPr algn="ctr">
              <a:lnSpc>
                <a:spcPct val="115000"/>
              </a:lnSpc>
            </a:pPr>
            <a:r>
              <a:rPr sz="1800" b="1">
                <a:solidFill>
                  <a:srgbClr val="F2F6EE"/>
                </a:solidFill>
                <a:latin typeface="Tahoma"/>
              </a:rPr>
              <a:t>วาล์ว 3 ทาง</a:t>
            </a:r>
          </a:p>
        </p:txBody>
      </p:sp>
      <p:sp>
        <p:nvSpPr>
          <p:cNvPr id="21" name="TextBox 20"/>
          <p:cNvSpPr txBox="1"/>
          <p:nvPr/>
        </p:nvSpPr>
        <p:spPr>
          <a:xfrm>
            <a:off x="571500" y="2857500"/>
            <a:ext cx="3556000" cy="952500"/>
          </a:xfrm>
          <a:prstGeom prst="rect">
            <a:avLst/>
          </a:prstGeom>
          <a:noFill/>
        </p:spPr>
        <p:txBody>
          <a:bodyPr wrap="square" lIns="0" rIns="0" tIns="0" bIns="0" anchor="t">
            <a:spAutoFit/>
          </a:bodyPr>
          <a:lstStyle/>
          <a:p>
            <a:pPr algn="l">
              <a:lnSpc>
                <a:spcPct val="115000"/>
              </a:lnSpc>
            </a:pPr>
            <a:r>
              <a:rPr sz="1500" b="0">
                <a:solidFill>
                  <a:srgbClr val="A3B6AA"/>
                </a:solidFill>
                <a:latin typeface="Tahoma"/>
              </a:rPr>
              <a:t>I²C · ปั๊ม/วาล์ว</a:t>
            </a:r>
          </a:p>
          <a:p>
            <a:pPr algn="l">
              <a:lnSpc>
                <a:spcPct val="115000"/>
              </a:lnSpc>
            </a:pPr>
            <a:r>
              <a:rPr sz="1500" b="0">
                <a:solidFill>
                  <a:srgbClr val="A3B6AA"/>
                </a:solidFill>
                <a:latin typeface="Tahoma"/>
              </a:rPr>
              <a:t>ผ่าน MOSFET</a:t>
            </a:r>
          </a:p>
        </p:txBody>
      </p:sp>
      <p:sp>
        <p:nvSpPr>
          <p:cNvPr id="22" name="TextBox 21"/>
          <p:cNvSpPr txBox="1"/>
          <p:nvPr/>
        </p:nvSpPr>
        <p:spPr>
          <a:xfrm>
            <a:off x="571500" y="4127500"/>
            <a:ext cx="5715000" cy="381000"/>
          </a:xfrm>
          <a:prstGeom prst="rect">
            <a:avLst/>
          </a:prstGeom>
          <a:noFill/>
        </p:spPr>
        <p:txBody>
          <a:bodyPr wrap="square" lIns="0" rIns="0" tIns="0" bIns="0" anchor="t">
            <a:spAutoFit/>
          </a:bodyPr>
          <a:lstStyle/>
          <a:p>
            <a:pPr algn="l">
              <a:lnSpc>
                <a:spcPct val="115000"/>
              </a:lnSpc>
            </a:pPr>
            <a:r>
              <a:rPr sz="2100" b="1">
                <a:solidFill>
                  <a:srgbClr val="B9D84A"/>
                </a:solidFill>
                <a:latin typeface="Tahoma"/>
              </a:rPr>
              <a:t>เส้นทางลม</a:t>
            </a:r>
          </a:p>
        </p:txBody>
      </p:sp>
      <p:sp>
        <p:nvSpPr>
          <p:cNvPr id="23" name="Rounded Rectangle 22"/>
          <p:cNvSpPr/>
          <p:nvPr/>
        </p:nvSpPr>
        <p:spPr>
          <a:xfrm>
            <a:off x="571500" y="4572000"/>
            <a:ext cx="1905000" cy="889000"/>
          </a:xfrm>
          <a:prstGeom prst="roundRect">
            <a:avLst>
              <a:gd name="adj" fmla="val 20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900" y="4635500"/>
            <a:ext cx="1600200" cy="762000"/>
          </a:xfrm>
          <a:prstGeom prst="rect">
            <a:avLst/>
          </a:prstGeom>
          <a:noFill/>
        </p:spPr>
        <p:txBody>
          <a:bodyPr wrap="square" lIns="0" rIns="0" tIns="0" bIns="0" anchor="ctr">
            <a:spAutoFit/>
          </a:bodyPr>
          <a:lstStyle/>
          <a:p>
            <a:pPr algn="ctr">
              <a:lnSpc>
                <a:spcPct val="115000"/>
              </a:lnSpc>
            </a:pPr>
            <a:r>
              <a:rPr sz="1600" b="1">
                <a:solidFill>
                  <a:srgbClr val="F2F6EE"/>
                </a:solidFill>
                <a:latin typeface="Tahoma"/>
              </a:rPr>
              <a:t>ไส้กรอง คาร์บอน</a:t>
            </a:r>
          </a:p>
        </p:txBody>
      </p:sp>
      <p:sp>
        <p:nvSpPr>
          <p:cNvPr id="25" name="TextBox 24"/>
          <p:cNvSpPr txBox="1"/>
          <p:nvPr/>
        </p:nvSpPr>
        <p:spPr>
          <a:xfrm>
            <a:off x="2476500" y="4699000"/>
            <a:ext cx="381000" cy="508000"/>
          </a:xfrm>
          <a:prstGeom prst="rect">
            <a:avLst/>
          </a:prstGeom>
          <a:noFill/>
        </p:spPr>
        <p:txBody>
          <a:bodyPr wrap="square" lIns="0" rIns="0" tIns="0" bIns="0" anchor="ctr">
            <a:spAutoFit/>
          </a:bodyPr>
          <a:lstStyle/>
          <a:p>
            <a:pPr algn="ctr">
              <a:lnSpc>
                <a:spcPct val="115000"/>
              </a:lnSpc>
            </a:pPr>
            <a:r>
              <a:rPr sz="2800" b="1">
                <a:solidFill>
                  <a:srgbClr val="B9D84A"/>
                </a:solidFill>
                <a:latin typeface="Tahoma"/>
              </a:rPr>
              <a:t>→</a:t>
            </a:r>
          </a:p>
        </p:txBody>
      </p:sp>
      <p:sp>
        <p:nvSpPr>
          <p:cNvPr id="26" name="Rounded Rectangle 25"/>
          <p:cNvSpPr/>
          <p:nvPr/>
        </p:nvSpPr>
        <p:spPr>
          <a:xfrm>
            <a:off x="2857500" y="4572000"/>
            <a:ext cx="1905000" cy="889000"/>
          </a:xfrm>
          <a:prstGeom prst="roundRect">
            <a:avLst>
              <a:gd name="adj" fmla="val 20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09900" y="4635500"/>
            <a:ext cx="1600200" cy="762000"/>
          </a:xfrm>
          <a:prstGeom prst="rect">
            <a:avLst/>
          </a:prstGeom>
          <a:noFill/>
        </p:spPr>
        <p:txBody>
          <a:bodyPr wrap="square" lIns="0" rIns="0" tIns="0" bIns="0" anchor="ctr">
            <a:spAutoFit/>
          </a:bodyPr>
          <a:lstStyle/>
          <a:p>
            <a:pPr algn="ctr">
              <a:lnSpc>
                <a:spcPct val="115000"/>
              </a:lnSpc>
            </a:pPr>
            <a:r>
              <a:rPr sz="1600" b="1">
                <a:solidFill>
                  <a:srgbClr val="F2F6EE"/>
                </a:solidFill>
                <a:latin typeface="Tahoma"/>
              </a:rPr>
              <a:t>วาล์ว 3 ทาง</a:t>
            </a:r>
          </a:p>
        </p:txBody>
      </p:sp>
      <p:sp>
        <p:nvSpPr>
          <p:cNvPr id="28" name="TextBox 27"/>
          <p:cNvSpPr txBox="1"/>
          <p:nvPr/>
        </p:nvSpPr>
        <p:spPr>
          <a:xfrm>
            <a:off x="4762500" y="4699000"/>
            <a:ext cx="381000" cy="508000"/>
          </a:xfrm>
          <a:prstGeom prst="rect">
            <a:avLst/>
          </a:prstGeom>
          <a:noFill/>
        </p:spPr>
        <p:txBody>
          <a:bodyPr wrap="square" lIns="0" rIns="0" tIns="0" bIns="0" anchor="ctr">
            <a:spAutoFit/>
          </a:bodyPr>
          <a:lstStyle/>
          <a:p>
            <a:pPr algn="ctr">
              <a:lnSpc>
                <a:spcPct val="115000"/>
              </a:lnSpc>
            </a:pPr>
            <a:r>
              <a:rPr sz="2800" b="1">
                <a:solidFill>
                  <a:srgbClr val="B9D84A"/>
                </a:solidFill>
                <a:latin typeface="Tahoma"/>
              </a:rPr>
              <a:t>→</a:t>
            </a:r>
          </a:p>
        </p:txBody>
      </p:sp>
      <p:sp>
        <p:nvSpPr>
          <p:cNvPr id="29" name="Rounded Rectangle 28"/>
          <p:cNvSpPr/>
          <p:nvPr/>
        </p:nvSpPr>
        <p:spPr>
          <a:xfrm>
            <a:off x="5143500" y="4572000"/>
            <a:ext cx="1905000" cy="889000"/>
          </a:xfrm>
          <a:prstGeom prst="roundRect">
            <a:avLst>
              <a:gd name="adj" fmla="val 20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95900" y="4635500"/>
            <a:ext cx="1600200" cy="762000"/>
          </a:xfrm>
          <a:prstGeom prst="rect">
            <a:avLst/>
          </a:prstGeom>
          <a:noFill/>
        </p:spPr>
        <p:txBody>
          <a:bodyPr wrap="square" lIns="0" rIns="0" tIns="0" bIns="0" anchor="ctr">
            <a:spAutoFit/>
          </a:bodyPr>
          <a:lstStyle/>
          <a:p>
            <a:pPr algn="ctr">
              <a:lnSpc>
                <a:spcPct val="115000"/>
              </a:lnSpc>
            </a:pPr>
            <a:r>
              <a:rPr sz="1600" b="1">
                <a:solidFill>
                  <a:srgbClr val="F2F6EE"/>
                </a:solidFill>
                <a:latin typeface="Tahoma"/>
              </a:rPr>
              <a:t>ห้องดม</a:t>
            </a:r>
          </a:p>
        </p:txBody>
      </p:sp>
      <p:sp>
        <p:nvSpPr>
          <p:cNvPr id="31" name="TextBox 30"/>
          <p:cNvSpPr txBox="1"/>
          <p:nvPr/>
        </p:nvSpPr>
        <p:spPr>
          <a:xfrm>
            <a:off x="7048500" y="4699000"/>
            <a:ext cx="381000" cy="508000"/>
          </a:xfrm>
          <a:prstGeom prst="rect">
            <a:avLst/>
          </a:prstGeom>
          <a:noFill/>
        </p:spPr>
        <p:txBody>
          <a:bodyPr wrap="square" lIns="0" rIns="0" tIns="0" bIns="0" anchor="ctr">
            <a:spAutoFit/>
          </a:bodyPr>
          <a:lstStyle/>
          <a:p>
            <a:pPr algn="ctr">
              <a:lnSpc>
                <a:spcPct val="115000"/>
              </a:lnSpc>
            </a:pPr>
            <a:r>
              <a:rPr sz="2800" b="1">
                <a:solidFill>
                  <a:srgbClr val="B9D84A"/>
                </a:solidFill>
                <a:latin typeface="Tahoma"/>
              </a:rPr>
              <a:t>→</a:t>
            </a:r>
          </a:p>
        </p:txBody>
      </p:sp>
      <p:sp>
        <p:nvSpPr>
          <p:cNvPr id="32" name="Rounded Rectangle 31"/>
          <p:cNvSpPr/>
          <p:nvPr/>
        </p:nvSpPr>
        <p:spPr>
          <a:xfrm>
            <a:off x="7429500" y="4572000"/>
            <a:ext cx="2095500" cy="889000"/>
          </a:xfrm>
          <a:prstGeom prst="roundRect">
            <a:avLst>
              <a:gd name="adj" fmla="val 20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81900" y="4635500"/>
            <a:ext cx="1790700" cy="762000"/>
          </a:xfrm>
          <a:prstGeom prst="rect">
            <a:avLst/>
          </a:prstGeom>
          <a:noFill/>
        </p:spPr>
        <p:txBody>
          <a:bodyPr wrap="square" lIns="0" rIns="0" tIns="0" bIns="0" anchor="ctr">
            <a:spAutoFit/>
          </a:bodyPr>
          <a:lstStyle/>
          <a:p>
            <a:pPr algn="ctr">
              <a:lnSpc>
                <a:spcPct val="115000"/>
              </a:lnSpc>
            </a:pPr>
            <a:r>
              <a:rPr sz="1600" b="1">
                <a:solidFill>
                  <a:srgbClr val="F2F6EE"/>
                </a:solidFill>
                <a:latin typeface="Tahoma"/>
              </a:rPr>
              <a:t>ห้องเซนเซอร์</a:t>
            </a:r>
          </a:p>
        </p:txBody>
      </p:sp>
      <p:sp>
        <p:nvSpPr>
          <p:cNvPr id="34" name="TextBox 33"/>
          <p:cNvSpPr txBox="1"/>
          <p:nvPr/>
        </p:nvSpPr>
        <p:spPr>
          <a:xfrm>
            <a:off x="9525000" y="4699000"/>
            <a:ext cx="381000" cy="508000"/>
          </a:xfrm>
          <a:prstGeom prst="rect">
            <a:avLst/>
          </a:prstGeom>
          <a:noFill/>
        </p:spPr>
        <p:txBody>
          <a:bodyPr wrap="square" lIns="0" rIns="0" tIns="0" bIns="0" anchor="ctr">
            <a:spAutoFit/>
          </a:bodyPr>
          <a:lstStyle/>
          <a:p>
            <a:pPr algn="ctr">
              <a:lnSpc>
                <a:spcPct val="115000"/>
              </a:lnSpc>
            </a:pPr>
            <a:r>
              <a:rPr sz="2800" b="1">
                <a:solidFill>
                  <a:srgbClr val="B9D84A"/>
                </a:solidFill>
                <a:latin typeface="Tahoma"/>
              </a:rPr>
              <a:t>→</a:t>
            </a:r>
          </a:p>
        </p:txBody>
      </p:sp>
      <p:sp>
        <p:nvSpPr>
          <p:cNvPr id="35" name="Rounded Rectangle 34"/>
          <p:cNvSpPr/>
          <p:nvPr/>
        </p:nvSpPr>
        <p:spPr>
          <a:xfrm>
            <a:off x="9906000" y="4572000"/>
            <a:ext cx="1714500" cy="889000"/>
          </a:xfrm>
          <a:prstGeom prst="roundRect">
            <a:avLst>
              <a:gd name="adj" fmla="val 20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58400" y="4635500"/>
            <a:ext cx="1409700" cy="762000"/>
          </a:xfrm>
          <a:prstGeom prst="rect">
            <a:avLst/>
          </a:prstGeom>
          <a:noFill/>
        </p:spPr>
        <p:txBody>
          <a:bodyPr wrap="square" lIns="0" rIns="0" tIns="0" bIns="0" anchor="ctr">
            <a:spAutoFit/>
          </a:bodyPr>
          <a:lstStyle/>
          <a:p>
            <a:pPr algn="ctr">
              <a:lnSpc>
                <a:spcPct val="115000"/>
              </a:lnSpc>
            </a:pPr>
            <a:r>
              <a:rPr sz="1600" b="1">
                <a:solidFill>
                  <a:srgbClr val="F2F6EE"/>
                </a:solidFill>
                <a:latin typeface="Tahoma"/>
              </a:rPr>
              <a:t>ปั๊มลม</a:t>
            </a:r>
          </a:p>
        </p:txBody>
      </p:sp>
      <p:sp>
        <p:nvSpPr>
          <p:cNvPr id="37" name="TextBox 36"/>
          <p:cNvSpPr txBox="1"/>
          <p:nvPr/>
        </p:nvSpPr>
        <p:spPr>
          <a:xfrm>
            <a:off x="571500" y="5651500"/>
            <a:ext cx="11049000" cy="571500"/>
          </a:xfrm>
          <a:prstGeom prst="rect">
            <a:avLst/>
          </a:prstGeom>
          <a:noFill/>
        </p:spPr>
        <p:txBody>
          <a:bodyPr wrap="square" lIns="0" rIns="0" tIns="0" bIns="0" anchor="t">
            <a:spAutoFit/>
          </a:bodyPr>
          <a:lstStyle/>
          <a:p>
            <a:pPr algn="ctr">
              <a:lnSpc>
                <a:spcPct val="115000"/>
              </a:lnSpc>
            </a:pPr>
            <a:r>
              <a:rPr sz="1800" b="0">
                <a:solidFill>
                  <a:srgbClr val="A3B6AA"/>
                </a:solidFill>
                <a:latin typeface="Tahoma"/>
              </a:rPr>
              <a:t>ดม: ลมผ่านห้องดม · ล้าง: ลมกรองแล้วล้างห้องเซนเซอร์จนค่ากลับเส้นฐาน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TextBox 1"/>
          <p:cNvSpPr txBox="1"/>
          <p:nvPr/>
        </p:nvSpPr>
        <p:spPr>
          <a:xfrm>
            <a:off x="571500" y="254000"/>
            <a:ext cx="7620000" cy="254000"/>
          </a:xfrm>
          <a:prstGeom prst="rect">
            <a:avLst/>
          </a:prstGeom>
          <a:noFill/>
        </p:spPr>
        <p:txBody>
          <a:bodyPr wrap="square" lIns="0" rIns="0" tIns="0" bIns="0" anchor="t">
            <a:spAutoFit/>
          </a:bodyPr>
          <a:lstStyle/>
          <a:p>
            <a:pPr algn="l">
              <a:lnSpc>
                <a:spcPct val="115000"/>
              </a:lnSpc>
            </a:pPr>
            <a:r>
              <a:rPr sz="1400" b="0">
                <a:solidFill>
                  <a:srgbClr val="A3B6AA"/>
                </a:solidFill>
                <a:latin typeface="Tahoma"/>
              </a:rPr>
              <a:t>เครื่องดมทุเรียนอัจฉริยะ  ·  </a:t>
            </a:r>
            <a:r>
              <a:rPr sz="1400" b="0">
                <a:solidFill>
                  <a:srgbClr val="B9D84A"/>
                </a:solidFill>
                <a:latin typeface="Tahoma"/>
              </a:rPr>
              <a:t>เครื่องรุ่นที่ 1</a:t>
            </a:r>
          </a:p>
        </p:txBody>
      </p:sp>
      <p:sp>
        <p:nvSpPr>
          <p:cNvPr id="3" name="TextBox 2"/>
          <p:cNvSpPr txBox="1"/>
          <p:nvPr/>
        </p:nvSpPr>
        <p:spPr>
          <a:xfrm>
            <a:off x="571500" y="558800"/>
            <a:ext cx="9525000" cy="698500"/>
          </a:xfrm>
          <a:prstGeom prst="rect">
            <a:avLst/>
          </a:prstGeom>
          <a:noFill/>
        </p:spPr>
        <p:txBody>
          <a:bodyPr wrap="square" lIns="0" rIns="0" tIns="0" bIns="0" anchor="t">
            <a:spAutoFit/>
          </a:bodyPr>
          <a:lstStyle/>
          <a:p>
            <a:pPr algn="l">
              <a:lnSpc>
                <a:spcPct val="115000"/>
              </a:lnSpc>
            </a:pPr>
            <a:r>
              <a:rPr sz="3500" b="1">
                <a:solidFill>
                  <a:srgbClr val="F2F6EE"/>
                </a:solidFill>
                <a:latin typeface="Tahoma"/>
              </a:rPr>
              <a:t>DS-301 · คัดบนสายพานที่ล้ง</a:t>
            </a:r>
          </a:p>
        </p:txBody>
      </p:sp>
      <p:sp>
        <p:nvSpPr>
          <p:cNvPr id="4" name="Rounded Rectangle 3"/>
          <p:cNvSpPr/>
          <p:nvPr/>
        </p:nvSpPr>
        <p:spPr>
          <a:xfrm>
            <a:off x="8064500" y="304800"/>
            <a:ext cx="3556000" cy="355600"/>
          </a:xfrm>
          <a:prstGeom prst="roundRect">
            <a:avLst>
              <a:gd name="adj" fmla="val 50000"/>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64500" y="304800"/>
            <a:ext cx="3556000" cy="355600"/>
          </a:xfrm>
          <a:prstGeom prst="rect">
            <a:avLst/>
          </a:prstGeom>
          <a:noFill/>
        </p:spPr>
        <p:txBody>
          <a:bodyPr wrap="square" lIns="0" rIns="0" tIns="0" bIns="0" anchor="ctr">
            <a:spAutoFit/>
          </a:bodyPr>
          <a:lstStyle/>
          <a:p>
            <a:pPr algn="ctr">
              <a:lnSpc>
                <a:spcPct val="115000"/>
              </a:lnSpc>
            </a:pPr>
            <a:r>
              <a:rPr sz="1300" b="1">
                <a:solidFill>
                  <a:srgbClr val="E3A21A"/>
                </a:solidFill>
                <a:latin typeface="Tahoma"/>
              </a:rPr>
              <a:t>แนวคิด · ยังไม่ได้สร้างจริง</a:t>
            </a:r>
          </a:p>
        </p:txBody>
      </p:sp>
      <p:sp>
        <p:nvSpPr>
          <p:cNvPr id="6" name="Rounded Rectangle 5"/>
          <p:cNvSpPr/>
          <p:nvPr/>
        </p:nvSpPr>
        <p:spPr>
          <a:xfrm>
            <a:off x="533400" y="1536700"/>
            <a:ext cx="7442200" cy="4102100"/>
          </a:xfrm>
          <a:prstGeom prst="roundRect">
            <a:avLst>
              <a:gd name="adj" fmla="val 2786"/>
            </a:avLst>
          </a:prstGeom>
          <a:solidFill>
            <a:srgbClr val="0A110D"/>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op-ds301.png"/>
          <p:cNvPicPr>
            <a:picLocks noChangeAspect="1"/>
          </p:cNvPicPr>
          <p:nvPr/>
        </p:nvPicPr>
        <p:blipFill>
          <a:blip r:embed="rId2"/>
          <a:stretch>
            <a:fillRect/>
          </a:stretch>
        </p:blipFill>
        <p:spPr>
          <a:xfrm>
            <a:off x="571500" y="1574800"/>
            <a:ext cx="7366000" cy="4025900"/>
          </a:xfrm>
          <a:prstGeom prst="rect">
            <a:avLst/>
          </a:prstGeom>
        </p:spPr>
      </p:pic>
      <p:sp>
        <p:nvSpPr>
          <p:cNvPr id="8" name="Rounded Rectangle 7"/>
          <p:cNvSpPr/>
          <p:nvPr/>
        </p:nvSpPr>
        <p:spPr>
          <a:xfrm>
            <a:off x="8191500" y="1365250"/>
            <a:ext cx="3429000" cy="952500"/>
          </a:xfrm>
          <a:prstGeom prst="roundRect">
            <a:avLst>
              <a:gd name="adj" fmla="val 18666"/>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43900" y="1428750"/>
            <a:ext cx="3124200" cy="825500"/>
          </a:xfrm>
          <a:prstGeom prst="rect">
            <a:avLst/>
          </a:prstGeom>
          <a:noFill/>
        </p:spPr>
        <p:txBody>
          <a:bodyPr wrap="square" lIns="0" rIns="0" tIns="0" bIns="0" anchor="ctr">
            <a:spAutoFit/>
          </a:bodyPr>
          <a:lstStyle/>
          <a:p>
            <a:pPr algn="ctr">
              <a:lnSpc>
                <a:spcPct val="115000"/>
              </a:lnSpc>
            </a:pPr>
            <a:r>
              <a:rPr sz="1700" b="1">
                <a:solidFill>
                  <a:srgbClr val="F2F6EE"/>
                </a:solidFill>
                <a:latin typeface="Tahoma"/>
              </a:rPr>
              <a:t>สายพาน → ห้องดม</a:t>
            </a:r>
          </a:p>
          <a:p>
            <a:pPr algn="ctr">
              <a:lnSpc>
                <a:spcPct val="115000"/>
              </a:lnSpc>
            </a:pPr>
            <a:r>
              <a:rPr sz="1700" b="1">
                <a:solidFill>
                  <a:srgbClr val="F2F6EE"/>
                </a:solidFill>
                <a:latin typeface="Tahoma"/>
              </a:rPr>
              <a:t>(ประตูหน้า/หลัง)</a:t>
            </a:r>
          </a:p>
        </p:txBody>
      </p:sp>
      <p:sp>
        <p:nvSpPr>
          <p:cNvPr id="10" name="Rounded Rectangle 9"/>
          <p:cNvSpPr/>
          <p:nvPr/>
        </p:nvSpPr>
        <p:spPr>
          <a:xfrm>
            <a:off x="8191500" y="2444750"/>
            <a:ext cx="3429000" cy="952500"/>
          </a:xfrm>
          <a:prstGeom prst="roundRect">
            <a:avLst>
              <a:gd name="adj" fmla="val 18666"/>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3900" y="2508250"/>
            <a:ext cx="3124200" cy="825500"/>
          </a:xfrm>
          <a:prstGeom prst="rect">
            <a:avLst/>
          </a:prstGeom>
          <a:noFill/>
        </p:spPr>
        <p:txBody>
          <a:bodyPr wrap="square" lIns="0" rIns="0" tIns="0" bIns="0" anchor="ctr">
            <a:spAutoFit/>
          </a:bodyPr>
          <a:lstStyle/>
          <a:p>
            <a:pPr algn="ctr">
              <a:lnSpc>
                <a:spcPct val="115000"/>
              </a:lnSpc>
            </a:pPr>
            <a:r>
              <a:rPr sz="1700" b="1">
                <a:solidFill>
                  <a:srgbClr val="F2F6EE"/>
                </a:solidFill>
                <a:latin typeface="Tahoma"/>
              </a:rPr>
              <a:t>ตัวแยกเลน →</a:t>
            </a:r>
          </a:p>
          <a:p>
            <a:pPr algn="ctr">
              <a:lnSpc>
                <a:spcPct val="115000"/>
              </a:lnSpc>
            </a:pPr>
            <a:r>
              <a:rPr sz="1700" b="1">
                <a:solidFill>
                  <a:srgbClr val="F2F6EE"/>
                </a:solidFill>
                <a:latin typeface="Tahoma"/>
              </a:rPr>
              <a:t>ลัง 4 ช่องตามไฟเกรด</a:t>
            </a:r>
          </a:p>
        </p:txBody>
      </p:sp>
      <p:sp>
        <p:nvSpPr>
          <p:cNvPr id="12" name="Rounded Rectangle 11"/>
          <p:cNvSpPr/>
          <p:nvPr/>
        </p:nvSpPr>
        <p:spPr>
          <a:xfrm>
            <a:off x="8191500" y="3524250"/>
            <a:ext cx="3429000" cy="952500"/>
          </a:xfrm>
          <a:prstGeom prst="roundRect">
            <a:avLst>
              <a:gd name="adj" fmla="val 18666"/>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43900" y="3587750"/>
            <a:ext cx="3124200" cy="825500"/>
          </a:xfrm>
          <a:prstGeom prst="rect">
            <a:avLst/>
          </a:prstGeom>
          <a:noFill/>
        </p:spPr>
        <p:txBody>
          <a:bodyPr wrap="square" lIns="0" rIns="0" tIns="0" bIns="0" anchor="ctr">
            <a:spAutoFit/>
          </a:bodyPr>
          <a:lstStyle/>
          <a:p>
            <a:pPr algn="ctr">
              <a:lnSpc>
                <a:spcPct val="115000"/>
              </a:lnSpc>
            </a:pPr>
            <a:r>
              <a:rPr sz="1500" b="1">
                <a:solidFill>
                  <a:srgbClr val="F2F6EE"/>
                </a:solidFill>
                <a:latin typeface="Tahoma"/>
              </a:rPr>
              <a:t>สูงสุด ~24 ลูก/ชม./ห้องดม</a:t>
            </a:r>
          </a:p>
          <a:p>
            <a:pPr algn="ctr">
              <a:lnSpc>
                <a:spcPct val="115000"/>
              </a:lnSpc>
            </a:pPr>
            <a:r>
              <a:rPr sz="1500" b="1">
                <a:solidFill>
                  <a:srgbClr val="F2F6EE"/>
                </a:solidFill>
                <a:latin typeface="Tahoma"/>
              </a:rPr>
              <a:t>(ประมาณการทีม)</a:t>
            </a:r>
          </a:p>
        </p:txBody>
      </p:sp>
      <p:sp>
        <p:nvSpPr>
          <p:cNvPr id="14" name="Rounded Rectangle 13"/>
          <p:cNvSpPr/>
          <p:nvPr/>
        </p:nvSpPr>
        <p:spPr>
          <a:xfrm>
            <a:off x="8191500" y="4603750"/>
            <a:ext cx="3429000" cy="1206500"/>
          </a:xfrm>
          <a:prstGeom prst="roundRect">
            <a:avLst>
              <a:gd name="adj" fmla="val 14736"/>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8500" y="4667250"/>
            <a:ext cx="3175000" cy="1079500"/>
          </a:xfrm>
          <a:prstGeom prst="rect">
            <a:avLst/>
          </a:prstGeom>
          <a:noFill/>
        </p:spPr>
        <p:txBody>
          <a:bodyPr wrap="square" lIns="0" rIns="0" tIns="0" bIns="0" anchor="ctr">
            <a:spAutoFit/>
          </a:bodyPr>
          <a:lstStyle/>
          <a:p>
            <a:pPr algn="ctr">
              <a:lnSpc>
                <a:spcPct val="115000"/>
              </a:lnSpc>
            </a:pPr>
            <a:r>
              <a:rPr sz="1400" b="1">
                <a:solidFill>
                  <a:srgbClr val="E3A21A"/>
                </a:solidFill>
                <a:latin typeface="Tahoma"/>
              </a:rPr>
              <a:t>ยังไม่ได้สร้างจริง</a:t>
            </a:r>
          </a:p>
          <a:p>
            <a:pPr algn="ctr">
              <a:lnSpc>
                <a:spcPct val="115000"/>
              </a:lnSpc>
            </a:pPr>
            <a:r>
              <a:rPr sz="1400" b="1">
                <a:solidFill>
                  <a:srgbClr val="E3A21A"/>
                </a:solidFill>
                <a:latin typeface="Tahoma"/>
              </a:rPr>
              <a:t>สายพาน/ประตู/ตัวแยกเลน ยังไม่ได้ออกแบบวงจร</a:t>
            </a:r>
          </a:p>
        </p:txBody>
      </p:sp>
      <p:sp>
        <p:nvSpPr>
          <p:cNvPr id="16" name="TextBox 15"/>
          <p:cNvSpPr txBox="1"/>
          <p:nvPr/>
        </p:nvSpPr>
        <p:spPr>
          <a:xfrm>
            <a:off x="571500" y="6191250"/>
            <a:ext cx="11049000" cy="254000"/>
          </a:xfrm>
          <a:prstGeom prst="rect">
            <a:avLst/>
          </a:prstGeom>
          <a:noFill/>
        </p:spPr>
        <p:txBody>
          <a:bodyPr wrap="square" lIns="0" rIns="0" tIns="0" bIns="0" anchor="t">
            <a:spAutoFit/>
          </a:bodyPr>
          <a:lstStyle/>
          <a:p>
            <a:pPr algn="l">
              <a:lnSpc>
                <a:spcPct val="115000"/>
              </a:lnSpc>
            </a:pPr>
            <a:r>
              <a:rPr sz="1200" b="0">
                <a:solidFill>
                  <a:srgbClr val="A3B6AA"/>
                </a:solidFill>
                <a:latin typeface="Tahoma"/>
              </a:rPr>
              <a:t>จำลองบนเว็บ moolek02.github.io/e-nose-hub/ds-301-grader.html · ตู้ห้องดม (แนวคิด) ~70 × 55 × 65 ซม. · สายพานไม่เพิ่มอัตราคัด ต้องเพิ่มห้องดม · ไม่ระบุราคา</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TextBox 1"/>
          <p:cNvSpPr txBox="1"/>
          <p:nvPr/>
        </p:nvSpPr>
        <p:spPr>
          <a:xfrm>
            <a:off x="571500" y="254000"/>
            <a:ext cx="7620000" cy="254000"/>
          </a:xfrm>
          <a:prstGeom prst="rect">
            <a:avLst/>
          </a:prstGeom>
          <a:noFill/>
        </p:spPr>
        <p:txBody>
          <a:bodyPr wrap="square" lIns="0" rIns="0" tIns="0" bIns="0" anchor="t">
            <a:spAutoFit/>
          </a:bodyPr>
          <a:lstStyle/>
          <a:p>
            <a:pPr algn="l">
              <a:lnSpc>
                <a:spcPct val="115000"/>
              </a:lnSpc>
            </a:pPr>
            <a:r>
              <a:rPr sz="1400" b="0">
                <a:solidFill>
                  <a:srgbClr val="A3B6AA"/>
                </a:solidFill>
                <a:latin typeface="Tahoma"/>
              </a:rPr>
              <a:t>เครื่องดมทุเรียนอัจฉริยะ  ·  </a:t>
            </a:r>
            <a:r>
              <a:rPr sz="1400" b="0">
                <a:solidFill>
                  <a:srgbClr val="B9D84A"/>
                </a:solidFill>
                <a:latin typeface="Tahoma"/>
              </a:rPr>
              <a:t>เครื่องรุ่นที่ 2</a:t>
            </a:r>
          </a:p>
        </p:txBody>
      </p:sp>
      <p:sp>
        <p:nvSpPr>
          <p:cNvPr id="3" name="TextBox 2"/>
          <p:cNvSpPr txBox="1"/>
          <p:nvPr/>
        </p:nvSpPr>
        <p:spPr>
          <a:xfrm>
            <a:off x="571500" y="558800"/>
            <a:ext cx="9525000" cy="698500"/>
          </a:xfrm>
          <a:prstGeom prst="rect">
            <a:avLst/>
          </a:prstGeom>
          <a:noFill/>
        </p:spPr>
        <p:txBody>
          <a:bodyPr wrap="square" lIns="0" rIns="0" tIns="0" bIns="0" anchor="t">
            <a:spAutoFit/>
          </a:bodyPr>
          <a:lstStyle/>
          <a:p>
            <a:pPr algn="l">
              <a:lnSpc>
                <a:spcPct val="115000"/>
              </a:lnSpc>
            </a:pPr>
            <a:r>
              <a:rPr sz="3500" b="1">
                <a:solidFill>
                  <a:srgbClr val="F2F6EE"/>
                </a:solidFill>
                <a:latin typeface="Tahoma"/>
              </a:rPr>
              <a:t>E-100 · ดมก่อนซื้อ ที่หน้าร้าน</a:t>
            </a:r>
          </a:p>
        </p:txBody>
      </p:sp>
      <p:sp>
        <p:nvSpPr>
          <p:cNvPr id="4" name="Rounded Rectangle 3"/>
          <p:cNvSpPr/>
          <p:nvPr/>
        </p:nvSpPr>
        <p:spPr>
          <a:xfrm>
            <a:off x="8064500" y="304800"/>
            <a:ext cx="3556000" cy="355600"/>
          </a:xfrm>
          <a:prstGeom prst="roundRect">
            <a:avLst>
              <a:gd name="adj" fmla="val 50000"/>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64500" y="304800"/>
            <a:ext cx="3556000" cy="355600"/>
          </a:xfrm>
          <a:prstGeom prst="rect">
            <a:avLst/>
          </a:prstGeom>
          <a:noFill/>
        </p:spPr>
        <p:txBody>
          <a:bodyPr wrap="square" lIns="0" rIns="0" tIns="0" bIns="0" anchor="ctr">
            <a:spAutoFit/>
          </a:bodyPr>
          <a:lstStyle/>
          <a:p>
            <a:pPr algn="ctr">
              <a:lnSpc>
                <a:spcPct val="115000"/>
              </a:lnSpc>
            </a:pPr>
            <a:r>
              <a:rPr sz="1300" b="1">
                <a:solidFill>
                  <a:srgbClr val="E3A21A"/>
                </a:solidFill>
                <a:latin typeface="Tahoma"/>
              </a:rPr>
              <a:t>แนวคิด · ยังไม่ได้สร้างจริง</a:t>
            </a:r>
          </a:p>
        </p:txBody>
      </p:sp>
      <p:sp>
        <p:nvSpPr>
          <p:cNvPr id="6" name="Rounded Rectangle 5"/>
          <p:cNvSpPr/>
          <p:nvPr/>
        </p:nvSpPr>
        <p:spPr>
          <a:xfrm>
            <a:off x="533400" y="1625600"/>
            <a:ext cx="7442200" cy="3917950"/>
          </a:xfrm>
          <a:prstGeom prst="roundRect">
            <a:avLst>
              <a:gd name="adj" fmla="val 2917"/>
            </a:avLst>
          </a:prstGeom>
          <a:solidFill>
            <a:srgbClr val="0A110D"/>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op-e100.png"/>
          <p:cNvPicPr>
            <a:picLocks noChangeAspect="1"/>
          </p:cNvPicPr>
          <p:nvPr/>
        </p:nvPicPr>
        <p:blipFill>
          <a:blip r:embed="rId2"/>
          <a:stretch>
            <a:fillRect/>
          </a:stretch>
        </p:blipFill>
        <p:spPr>
          <a:xfrm>
            <a:off x="571500" y="1663700"/>
            <a:ext cx="7366000" cy="3841750"/>
          </a:xfrm>
          <a:prstGeom prst="rect">
            <a:avLst/>
          </a:prstGeom>
        </p:spPr>
      </p:pic>
      <p:sp>
        <p:nvSpPr>
          <p:cNvPr id="8" name="Rounded Rectangle 7"/>
          <p:cNvSpPr/>
          <p:nvPr/>
        </p:nvSpPr>
        <p:spPr>
          <a:xfrm>
            <a:off x="8191500" y="1365250"/>
            <a:ext cx="3429000" cy="952500"/>
          </a:xfrm>
          <a:prstGeom prst="roundRect">
            <a:avLst>
              <a:gd name="adj" fmla="val 18666"/>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43900" y="1428750"/>
            <a:ext cx="3124200" cy="825500"/>
          </a:xfrm>
          <a:prstGeom prst="rect">
            <a:avLst/>
          </a:prstGeom>
          <a:noFill/>
        </p:spPr>
        <p:txBody>
          <a:bodyPr wrap="square" lIns="0" rIns="0" tIns="0" bIns="0" anchor="ctr">
            <a:spAutoFit/>
          </a:bodyPr>
          <a:lstStyle/>
          <a:p>
            <a:pPr algn="ctr">
              <a:lnSpc>
                <a:spcPct val="115000"/>
              </a:lnSpc>
            </a:pPr>
            <a:r>
              <a:rPr sz="1900" b="1">
                <a:solidFill>
                  <a:srgbClr val="F2F6EE"/>
                </a:solidFill>
                <a:latin typeface="Tahoma"/>
              </a:rPr>
              <a:t>ลูกค้าเลือกลูก · ดมก่อนจ่าย</a:t>
            </a:r>
          </a:p>
        </p:txBody>
      </p:sp>
      <p:sp>
        <p:nvSpPr>
          <p:cNvPr id="10" name="Rounded Rectangle 9"/>
          <p:cNvSpPr/>
          <p:nvPr/>
        </p:nvSpPr>
        <p:spPr>
          <a:xfrm>
            <a:off x="8191500" y="2444750"/>
            <a:ext cx="3429000" cy="952500"/>
          </a:xfrm>
          <a:prstGeom prst="roundRect">
            <a:avLst>
              <a:gd name="adj" fmla="val 18666"/>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3900" y="2508250"/>
            <a:ext cx="3124200" cy="825500"/>
          </a:xfrm>
          <a:prstGeom prst="rect">
            <a:avLst/>
          </a:prstGeom>
          <a:noFill/>
        </p:spPr>
        <p:txBody>
          <a:bodyPr wrap="square" lIns="0" rIns="0" tIns="0" bIns="0" anchor="ctr">
            <a:spAutoFit/>
          </a:bodyPr>
          <a:lstStyle/>
          <a:p>
            <a:pPr algn="ctr">
              <a:lnSpc>
                <a:spcPct val="115000"/>
              </a:lnSpc>
            </a:pPr>
            <a:r>
              <a:rPr sz="1900" b="1">
                <a:solidFill>
                  <a:srgbClr val="F2F6EE"/>
                </a:solidFill>
                <a:latin typeface="Tahoma"/>
              </a:rPr>
              <a:t>ไฟเกรด 4 สี หันหาลูกค้า</a:t>
            </a:r>
          </a:p>
        </p:txBody>
      </p:sp>
      <p:sp>
        <p:nvSpPr>
          <p:cNvPr id="12" name="Rounded Rectangle 11"/>
          <p:cNvSpPr/>
          <p:nvPr/>
        </p:nvSpPr>
        <p:spPr>
          <a:xfrm>
            <a:off x="8191500" y="3524250"/>
            <a:ext cx="3429000" cy="952500"/>
          </a:xfrm>
          <a:prstGeom prst="roundRect">
            <a:avLst>
              <a:gd name="adj" fmla="val 18666"/>
            </a:avLst>
          </a:prstGeom>
          <a:solidFill>
            <a:srgbClr val="22351A"/>
          </a:solidFill>
          <a:ln w="12700">
            <a:solidFill>
              <a:srgbClr val="B9D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43900" y="3587750"/>
            <a:ext cx="3124200" cy="825500"/>
          </a:xfrm>
          <a:prstGeom prst="rect">
            <a:avLst/>
          </a:prstGeom>
          <a:noFill/>
        </p:spPr>
        <p:txBody>
          <a:bodyPr wrap="square" lIns="0" rIns="0" tIns="0" bIns="0" anchor="ctr">
            <a:spAutoFit/>
          </a:bodyPr>
          <a:lstStyle/>
          <a:p>
            <a:pPr algn="ctr">
              <a:lnSpc>
                <a:spcPct val="115000"/>
              </a:lnSpc>
            </a:pPr>
            <a:r>
              <a:rPr sz="2000" b="1">
                <a:solidFill>
                  <a:srgbClr val="B9D84A"/>
                </a:solidFill>
                <a:latin typeface="Tahoma"/>
              </a:rPr>
              <a:t>เป้าหมาย: ความเชื่อใจ</a:t>
            </a:r>
          </a:p>
        </p:txBody>
      </p:sp>
      <p:sp>
        <p:nvSpPr>
          <p:cNvPr id="14" name="Rounded Rectangle 13"/>
          <p:cNvSpPr/>
          <p:nvPr/>
        </p:nvSpPr>
        <p:spPr>
          <a:xfrm>
            <a:off x="8191500" y="4603750"/>
            <a:ext cx="3429000" cy="1206500"/>
          </a:xfrm>
          <a:prstGeom prst="roundRect">
            <a:avLst>
              <a:gd name="adj" fmla="val 14736"/>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8500" y="4667250"/>
            <a:ext cx="3175000" cy="1079500"/>
          </a:xfrm>
          <a:prstGeom prst="rect">
            <a:avLst/>
          </a:prstGeom>
          <a:noFill/>
        </p:spPr>
        <p:txBody>
          <a:bodyPr wrap="square" lIns="0" rIns="0" tIns="0" bIns="0" anchor="ctr">
            <a:spAutoFit/>
          </a:bodyPr>
          <a:lstStyle/>
          <a:p>
            <a:pPr algn="ctr">
              <a:lnSpc>
                <a:spcPct val="115000"/>
              </a:lnSpc>
            </a:pPr>
            <a:r>
              <a:rPr sz="1600" b="1">
                <a:solidFill>
                  <a:srgbClr val="E3A21A"/>
                </a:solidFill>
                <a:latin typeface="Tahoma"/>
              </a:rPr>
              <a:t>ยังไม่ได้สร้างจริง</a:t>
            </a:r>
          </a:p>
          <a:p>
            <a:pPr algn="ctr">
              <a:lnSpc>
                <a:spcPct val="115000"/>
              </a:lnSpc>
            </a:pPr>
            <a:r>
              <a:rPr sz="1600" b="1">
                <a:solidFill>
                  <a:srgbClr val="E3A21A"/>
                </a:solidFill>
                <a:latin typeface="Tahoma"/>
              </a:rPr>
              <a:t>ใช้ชุดเซนเซอร์เดียวกับ DS-301</a:t>
            </a:r>
          </a:p>
        </p:txBody>
      </p:sp>
      <p:sp>
        <p:nvSpPr>
          <p:cNvPr id="16" name="TextBox 15"/>
          <p:cNvSpPr txBox="1"/>
          <p:nvPr/>
        </p:nvSpPr>
        <p:spPr>
          <a:xfrm>
            <a:off x="571500" y="6191250"/>
            <a:ext cx="11049000" cy="254000"/>
          </a:xfrm>
          <a:prstGeom prst="rect">
            <a:avLst/>
          </a:prstGeom>
          <a:noFill/>
        </p:spPr>
        <p:txBody>
          <a:bodyPr wrap="square" lIns="0" rIns="0" tIns="0" bIns="0" anchor="t">
            <a:spAutoFit/>
          </a:bodyPr>
          <a:lstStyle/>
          <a:p>
            <a:pPr algn="l">
              <a:lnSpc>
                <a:spcPct val="115000"/>
              </a:lnSpc>
            </a:pPr>
            <a:r>
              <a:rPr sz="1200" b="0">
                <a:solidFill>
                  <a:srgbClr val="A3B6AA"/>
                </a:solidFill>
                <a:latin typeface="Tahoma"/>
              </a:rPr>
              <a:t>จำลองบนเว็บ moolek02.github.io/e-nose-hub/e-100.html · ไม่ระบุน้ำหนัก/แบตเตอรี่/ราคา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TextBox 1"/>
          <p:cNvSpPr txBox="1"/>
          <p:nvPr/>
        </p:nvSpPr>
        <p:spPr>
          <a:xfrm>
            <a:off x="571500" y="254000"/>
            <a:ext cx="7620000" cy="254000"/>
          </a:xfrm>
          <a:prstGeom prst="rect">
            <a:avLst/>
          </a:prstGeom>
          <a:noFill/>
        </p:spPr>
        <p:txBody>
          <a:bodyPr wrap="square" lIns="0" rIns="0" tIns="0" bIns="0" anchor="t">
            <a:spAutoFit/>
          </a:bodyPr>
          <a:lstStyle/>
          <a:p>
            <a:pPr algn="l">
              <a:lnSpc>
                <a:spcPct val="115000"/>
              </a:lnSpc>
            </a:pPr>
            <a:r>
              <a:rPr sz="1400" b="0">
                <a:solidFill>
                  <a:srgbClr val="A3B6AA"/>
                </a:solidFill>
                <a:latin typeface="Tahoma"/>
              </a:rPr>
              <a:t>เครื่องดมทุเรียนอัจฉริยะ  ·  </a:t>
            </a:r>
            <a:r>
              <a:rPr sz="1400" b="0">
                <a:solidFill>
                  <a:srgbClr val="B9D84A"/>
                </a:solidFill>
                <a:latin typeface="Tahoma"/>
              </a:rPr>
              <a:t>ต่อยอด</a:t>
            </a:r>
          </a:p>
        </p:txBody>
      </p:sp>
      <p:sp>
        <p:nvSpPr>
          <p:cNvPr id="3" name="TextBox 2"/>
          <p:cNvSpPr txBox="1"/>
          <p:nvPr/>
        </p:nvSpPr>
        <p:spPr>
          <a:xfrm>
            <a:off x="571500" y="558800"/>
            <a:ext cx="9525000" cy="698500"/>
          </a:xfrm>
          <a:prstGeom prst="rect">
            <a:avLst/>
          </a:prstGeom>
          <a:noFill/>
        </p:spPr>
        <p:txBody>
          <a:bodyPr wrap="square" lIns="0" rIns="0" tIns="0" bIns="0" anchor="t">
            <a:spAutoFit/>
          </a:bodyPr>
          <a:lstStyle/>
          <a:p>
            <a:pPr algn="l">
              <a:lnSpc>
                <a:spcPct val="115000"/>
              </a:lnSpc>
            </a:pPr>
            <a:r>
              <a:rPr sz="3500" b="1">
                <a:solidFill>
                  <a:srgbClr val="F2F6EE"/>
                </a:solidFill>
                <a:latin typeface="Tahoma"/>
              </a:rPr>
              <a:t>ห้องบ่มทุเรียน + เครื่องตรวจ</a:t>
            </a:r>
          </a:p>
        </p:txBody>
      </p:sp>
      <p:sp>
        <p:nvSpPr>
          <p:cNvPr id="4" name="Rounded Rectangle 3"/>
          <p:cNvSpPr/>
          <p:nvPr/>
        </p:nvSpPr>
        <p:spPr>
          <a:xfrm>
            <a:off x="8064500" y="304800"/>
            <a:ext cx="3556000" cy="355600"/>
          </a:xfrm>
          <a:prstGeom prst="roundRect">
            <a:avLst>
              <a:gd name="adj" fmla="val 50000"/>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64500" y="304800"/>
            <a:ext cx="3556000" cy="355600"/>
          </a:xfrm>
          <a:prstGeom prst="rect">
            <a:avLst/>
          </a:prstGeom>
          <a:noFill/>
        </p:spPr>
        <p:txBody>
          <a:bodyPr wrap="square" lIns="0" rIns="0" tIns="0" bIns="0" anchor="ctr">
            <a:spAutoFit/>
          </a:bodyPr>
          <a:lstStyle/>
          <a:p>
            <a:pPr algn="ctr">
              <a:lnSpc>
                <a:spcPct val="115000"/>
              </a:lnSpc>
            </a:pPr>
            <a:r>
              <a:rPr sz="1300" b="1">
                <a:solidFill>
                  <a:srgbClr val="E3A21A"/>
                </a:solidFill>
                <a:latin typeface="Tahoma"/>
              </a:rPr>
              <a:t>SIMULATION · ไม่ใช่ข้อมูลวัดจริง</a:t>
            </a:r>
          </a:p>
        </p:txBody>
      </p:sp>
      <p:sp>
        <p:nvSpPr>
          <p:cNvPr id="6" name="Rounded Rectangle 5"/>
          <p:cNvSpPr/>
          <p:nvPr/>
        </p:nvSpPr>
        <p:spPr>
          <a:xfrm>
            <a:off x="533400" y="1663700"/>
            <a:ext cx="7442200" cy="3848100"/>
          </a:xfrm>
          <a:prstGeom prst="roundRect">
            <a:avLst>
              <a:gd name="adj" fmla="val 2970"/>
            </a:avLst>
          </a:prstGeom>
          <a:solidFill>
            <a:srgbClr val="0A110D"/>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op-ripe.png"/>
          <p:cNvPicPr>
            <a:picLocks noChangeAspect="1"/>
          </p:cNvPicPr>
          <p:nvPr/>
        </p:nvPicPr>
        <p:blipFill>
          <a:blip r:embed="rId2"/>
          <a:stretch>
            <a:fillRect/>
          </a:stretch>
        </p:blipFill>
        <p:spPr>
          <a:xfrm>
            <a:off x="571500" y="1701800"/>
            <a:ext cx="7366000" cy="3771900"/>
          </a:xfrm>
          <a:prstGeom prst="rect">
            <a:avLst/>
          </a:prstGeom>
        </p:spPr>
      </p:pic>
      <p:sp>
        <p:nvSpPr>
          <p:cNvPr id="8" name="Rounded Rectangle 7"/>
          <p:cNvSpPr/>
          <p:nvPr/>
        </p:nvSpPr>
        <p:spPr>
          <a:xfrm>
            <a:off x="8191500" y="1365250"/>
            <a:ext cx="3429000" cy="952500"/>
          </a:xfrm>
          <a:prstGeom prst="roundRect">
            <a:avLst>
              <a:gd name="adj" fmla="val 18666"/>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43900" y="1428750"/>
            <a:ext cx="3124200" cy="825500"/>
          </a:xfrm>
          <a:prstGeom prst="rect">
            <a:avLst/>
          </a:prstGeom>
          <a:noFill/>
        </p:spPr>
        <p:txBody>
          <a:bodyPr wrap="square" lIns="0" rIns="0" tIns="0" bIns="0" anchor="ctr">
            <a:spAutoFit/>
          </a:bodyPr>
          <a:lstStyle/>
          <a:p>
            <a:pPr algn="ctr">
              <a:lnSpc>
                <a:spcPct val="115000"/>
              </a:lnSpc>
            </a:pPr>
            <a:r>
              <a:rPr sz="1600" b="1">
                <a:solidFill>
                  <a:srgbClr val="F2F6EE"/>
                </a:solidFill>
                <a:latin typeface="Tahoma"/>
              </a:rPr>
              <a:t>วัด เอทิลีน · CO₂ อุณหภูมิ · ความชื้น</a:t>
            </a:r>
          </a:p>
        </p:txBody>
      </p:sp>
      <p:sp>
        <p:nvSpPr>
          <p:cNvPr id="10" name="Rounded Rectangle 9"/>
          <p:cNvSpPr/>
          <p:nvPr/>
        </p:nvSpPr>
        <p:spPr>
          <a:xfrm>
            <a:off x="8191500" y="2444750"/>
            <a:ext cx="3429000" cy="952500"/>
          </a:xfrm>
          <a:prstGeom prst="roundRect">
            <a:avLst>
              <a:gd name="adj" fmla="val 18666"/>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3900" y="2508250"/>
            <a:ext cx="3124200" cy="825500"/>
          </a:xfrm>
          <a:prstGeom prst="rect">
            <a:avLst/>
          </a:prstGeom>
          <a:noFill/>
        </p:spPr>
        <p:txBody>
          <a:bodyPr wrap="square" lIns="0" rIns="0" tIns="0" bIns="0" anchor="ctr">
            <a:spAutoFit/>
          </a:bodyPr>
          <a:lstStyle/>
          <a:p>
            <a:pPr algn="ctr">
              <a:lnSpc>
                <a:spcPct val="115000"/>
              </a:lnSpc>
            </a:pPr>
            <a:r>
              <a:rPr sz="1600" b="1">
                <a:solidFill>
                  <a:srgbClr val="F2F6EE"/>
                </a:solidFill>
                <a:latin typeface="Tahoma"/>
              </a:rPr>
              <a:t>ระดับความสุก 10 ลูก: ดิบ · พร้อมขาย · สุกเกิน</a:t>
            </a:r>
          </a:p>
        </p:txBody>
      </p:sp>
      <p:sp>
        <p:nvSpPr>
          <p:cNvPr id="12" name="Rounded Rectangle 11"/>
          <p:cNvSpPr/>
          <p:nvPr/>
        </p:nvSpPr>
        <p:spPr>
          <a:xfrm>
            <a:off x="8191500" y="3524250"/>
            <a:ext cx="3429000" cy="952500"/>
          </a:xfrm>
          <a:prstGeom prst="roundRect">
            <a:avLst>
              <a:gd name="adj" fmla="val 18666"/>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43900" y="3587750"/>
            <a:ext cx="3124200" cy="825500"/>
          </a:xfrm>
          <a:prstGeom prst="rect">
            <a:avLst/>
          </a:prstGeom>
          <a:noFill/>
        </p:spPr>
        <p:txBody>
          <a:bodyPr wrap="square" lIns="0" rIns="0" tIns="0" bIns="0" anchor="ctr">
            <a:spAutoFit/>
          </a:bodyPr>
          <a:lstStyle/>
          <a:p>
            <a:pPr algn="ctr">
              <a:lnSpc>
                <a:spcPct val="115000"/>
              </a:lnSpc>
            </a:pPr>
            <a:r>
              <a:rPr sz="1700" b="1">
                <a:solidFill>
                  <a:srgbClr val="F2F6EE"/>
                </a:solidFill>
                <a:latin typeface="Tahoma"/>
              </a:rPr>
              <a:t>เปิดพัดลมอัตโนมัติ เมื่อเกินเกณฑ์</a:t>
            </a:r>
          </a:p>
        </p:txBody>
      </p:sp>
      <p:sp>
        <p:nvSpPr>
          <p:cNvPr id="14" name="Rounded Rectangle 13"/>
          <p:cNvSpPr/>
          <p:nvPr/>
        </p:nvSpPr>
        <p:spPr>
          <a:xfrm>
            <a:off x="8191500" y="4603750"/>
            <a:ext cx="3429000" cy="1206500"/>
          </a:xfrm>
          <a:prstGeom prst="roundRect">
            <a:avLst>
              <a:gd name="adj" fmla="val 14736"/>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8500" y="4667250"/>
            <a:ext cx="3175000" cy="1079500"/>
          </a:xfrm>
          <a:prstGeom prst="rect">
            <a:avLst/>
          </a:prstGeom>
          <a:noFill/>
        </p:spPr>
        <p:txBody>
          <a:bodyPr wrap="square" lIns="0" rIns="0" tIns="0" bIns="0" anchor="ctr">
            <a:spAutoFit/>
          </a:bodyPr>
          <a:lstStyle/>
          <a:p>
            <a:pPr algn="ctr">
              <a:lnSpc>
                <a:spcPct val="115000"/>
              </a:lnSpc>
            </a:pPr>
            <a:r>
              <a:rPr sz="1800" b="1">
                <a:solidFill>
                  <a:srgbClr val="E3A21A"/>
                </a:solidFill>
                <a:latin typeface="Tahoma"/>
              </a:rPr>
              <a:t>จำลอง · แนวคิด</a:t>
            </a:r>
          </a:p>
          <a:p>
            <a:pPr algn="ctr">
              <a:lnSpc>
                <a:spcPct val="115000"/>
              </a:lnSpc>
            </a:pPr>
            <a:r>
              <a:rPr sz="1800" b="1">
                <a:solidFill>
                  <a:srgbClr val="E3A21A"/>
                </a:solidFill>
                <a:latin typeface="Tahoma"/>
              </a:rPr>
              <a:t>ยังไม่มีข้อมูลวัดจริง</a:t>
            </a:r>
          </a:p>
        </p:txBody>
      </p:sp>
      <p:sp>
        <p:nvSpPr>
          <p:cNvPr id="16" name="TextBox 15"/>
          <p:cNvSpPr txBox="1"/>
          <p:nvPr/>
        </p:nvSpPr>
        <p:spPr>
          <a:xfrm>
            <a:off x="571500" y="6191250"/>
            <a:ext cx="11049000" cy="254000"/>
          </a:xfrm>
          <a:prstGeom prst="rect">
            <a:avLst/>
          </a:prstGeom>
          <a:noFill/>
        </p:spPr>
        <p:txBody>
          <a:bodyPr wrap="square" lIns="0" rIns="0" tIns="0" bIns="0" anchor="t">
            <a:spAutoFit/>
          </a:bodyPr>
          <a:lstStyle/>
          <a:p>
            <a:pPr algn="l">
              <a:lnSpc>
                <a:spcPct val="115000"/>
              </a:lnSpc>
            </a:pPr>
            <a:r>
              <a:rPr sz="1200" b="0">
                <a:solidFill>
                  <a:srgbClr val="A3B6AA"/>
                </a:solidFill>
                <a:latin typeface="Tahoma"/>
              </a:rPr>
              <a:t>ภาพจาก moolek02.github.io/e-nose-hub/durian-ripening-room.html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TextBox 1"/>
          <p:cNvSpPr txBox="1"/>
          <p:nvPr/>
        </p:nvSpPr>
        <p:spPr>
          <a:xfrm>
            <a:off x="571500" y="254000"/>
            <a:ext cx="7620000" cy="254000"/>
          </a:xfrm>
          <a:prstGeom prst="rect">
            <a:avLst/>
          </a:prstGeom>
          <a:noFill/>
        </p:spPr>
        <p:txBody>
          <a:bodyPr wrap="square" lIns="0" rIns="0" tIns="0" bIns="0" anchor="t">
            <a:spAutoFit/>
          </a:bodyPr>
          <a:lstStyle/>
          <a:p>
            <a:pPr algn="l">
              <a:lnSpc>
                <a:spcPct val="115000"/>
              </a:lnSpc>
            </a:pPr>
            <a:r>
              <a:rPr sz="1400" b="0">
                <a:solidFill>
                  <a:srgbClr val="A3B6AA"/>
                </a:solidFill>
                <a:latin typeface="Tahoma"/>
              </a:rPr>
              <a:t>เครื่องดมทุเรียนอัจฉริยะ  ·  </a:t>
            </a:r>
            <a:r>
              <a:rPr sz="1400" b="0">
                <a:solidFill>
                  <a:srgbClr val="B9D84A"/>
                </a:solidFill>
                <a:latin typeface="Tahoma"/>
              </a:rPr>
              <a:t>ต้นทุน &amp; ธุรกิจ</a:t>
            </a:r>
          </a:p>
        </p:txBody>
      </p:sp>
      <p:sp>
        <p:nvSpPr>
          <p:cNvPr id="3" name="TextBox 2"/>
          <p:cNvSpPr txBox="1"/>
          <p:nvPr/>
        </p:nvSpPr>
        <p:spPr>
          <a:xfrm>
            <a:off x="571500" y="558800"/>
            <a:ext cx="9525000" cy="698500"/>
          </a:xfrm>
          <a:prstGeom prst="rect">
            <a:avLst/>
          </a:prstGeom>
          <a:noFill/>
        </p:spPr>
        <p:txBody>
          <a:bodyPr wrap="square" lIns="0" rIns="0" tIns="0" bIns="0" anchor="t">
            <a:spAutoFit/>
          </a:bodyPr>
          <a:lstStyle/>
          <a:p>
            <a:pPr algn="l">
              <a:lnSpc>
                <a:spcPct val="115000"/>
              </a:lnSpc>
            </a:pPr>
            <a:r>
              <a:rPr sz="3500" b="1">
                <a:solidFill>
                  <a:srgbClr val="F2F6EE"/>
                </a:solidFill>
                <a:latin typeface="Tahoma"/>
              </a:rPr>
              <a:t>ต้นแบบราคาหลักพัน</a:t>
            </a:r>
          </a:p>
        </p:txBody>
      </p:sp>
      <p:sp>
        <p:nvSpPr>
          <p:cNvPr id="4" name="Rounded Rectangle 3"/>
          <p:cNvSpPr/>
          <p:nvPr/>
        </p:nvSpPr>
        <p:spPr>
          <a:xfrm>
            <a:off x="8064500" y="304800"/>
            <a:ext cx="3556000" cy="355600"/>
          </a:xfrm>
          <a:prstGeom prst="roundRect">
            <a:avLst>
              <a:gd name="adj" fmla="val 50000"/>
            </a:avLst>
          </a:prstGeom>
          <a:solidFill>
            <a:srgbClr val="22351A"/>
          </a:solidFill>
          <a:ln w="12700">
            <a:solidFill>
              <a:srgbClr val="B9D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64500" y="304800"/>
            <a:ext cx="3556000" cy="355600"/>
          </a:xfrm>
          <a:prstGeom prst="rect">
            <a:avLst/>
          </a:prstGeom>
          <a:noFill/>
        </p:spPr>
        <p:txBody>
          <a:bodyPr wrap="square" lIns="0" rIns="0" tIns="0" bIns="0" anchor="ctr">
            <a:spAutoFit/>
          </a:bodyPr>
          <a:lstStyle/>
          <a:p>
            <a:pPr algn="ctr">
              <a:lnSpc>
                <a:spcPct val="115000"/>
              </a:lnSpc>
            </a:pPr>
            <a:r>
              <a:rPr sz="1300" b="1">
                <a:solidFill>
                  <a:srgbClr val="B9D84A"/>
                </a:solidFill>
                <a:latin typeface="Tahoma"/>
              </a:rPr>
              <a:t>ราคาเช็ก 26 ต.ค. 2026 · เปลี่ยนได้</a:t>
            </a:r>
          </a:p>
        </p:txBody>
      </p:sp>
      <p:sp>
        <p:nvSpPr>
          <p:cNvPr id="6" name="Rounded Rectangle 5"/>
          <p:cNvSpPr/>
          <p:nvPr/>
        </p:nvSpPr>
        <p:spPr>
          <a:xfrm>
            <a:off x="571500" y="1460500"/>
            <a:ext cx="3556000" cy="2794000"/>
          </a:xfrm>
          <a:prstGeom prst="roundRect">
            <a:avLst>
              <a:gd name="adj" fmla="val 6363"/>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1555750"/>
            <a:ext cx="3175000" cy="381000"/>
          </a:xfrm>
          <a:prstGeom prst="rect">
            <a:avLst/>
          </a:prstGeom>
          <a:noFill/>
        </p:spPr>
        <p:txBody>
          <a:bodyPr wrap="square" lIns="0" rIns="0" tIns="0" bIns="0" anchor="t">
            <a:spAutoFit/>
          </a:bodyPr>
          <a:lstStyle/>
          <a:p>
            <a:pPr algn="l">
              <a:lnSpc>
                <a:spcPct val="115000"/>
              </a:lnSpc>
            </a:pPr>
            <a:r>
              <a:rPr sz="2000" b="1">
                <a:solidFill>
                  <a:srgbClr val="B9D84A"/>
                </a:solidFill>
                <a:latin typeface="Tahoma"/>
              </a:rPr>
              <a:t>ชุดเดิม</a:t>
            </a:r>
          </a:p>
        </p:txBody>
      </p:sp>
      <p:sp>
        <p:nvSpPr>
          <p:cNvPr id="8" name="TextBox 7"/>
          <p:cNvSpPr txBox="1"/>
          <p:nvPr/>
        </p:nvSpPr>
        <p:spPr>
          <a:xfrm>
            <a:off x="762000" y="1968500"/>
            <a:ext cx="3175000" cy="698500"/>
          </a:xfrm>
          <a:prstGeom prst="rect">
            <a:avLst/>
          </a:prstGeom>
          <a:noFill/>
        </p:spPr>
        <p:txBody>
          <a:bodyPr wrap="square" lIns="0" rIns="0" tIns="0" bIns="0" anchor="t">
            <a:spAutoFit/>
          </a:bodyPr>
          <a:lstStyle/>
          <a:p>
            <a:pPr algn="l">
              <a:lnSpc>
                <a:spcPct val="115000"/>
              </a:lnSpc>
            </a:pPr>
            <a:r>
              <a:rPr sz="4000" b="1">
                <a:solidFill>
                  <a:srgbClr val="F2F6EE"/>
                </a:solidFill>
                <a:latin typeface="Tahoma"/>
              </a:rPr>
              <a:t>≈ ฿3,500</a:t>
            </a:r>
          </a:p>
        </p:txBody>
      </p:sp>
      <p:sp>
        <p:nvSpPr>
          <p:cNvPr id="9" name="TextBox 8"/>
          <p:cNvSpPr txBox="1"/>
          <p:nvPr/>
        </p:nvSpPr>
        <p:spPr>
          <a:xfrm>
            <a:off x="762000" y="2794000"/>
            <a:ext cx="3175000" cy="1270000"/>
          </a:xfrm>
          <a:prstGeom prst="rect">
            <a:avLst/>
          </a:prstGeom>
          <a:noFill/>
        </p:spPr>
        <p:txBody>
          <a:bodyPr wrap="square" lIns="0" rIns="0" tIns="0" bIns="0" anchor="t">
            <a:spAutoFit/>
          </a:bodyPr>
          <a:lstStyle/>
          <a:p>
            <a:pPr algn="l">
              <a:lnSpc>
                <a:spcPct val="115000"/>
              </a:lnSpc>
            </a:pPr>
            <a:r>
              <a:rPr sz="1700" b="0">
                <a:solidFill>
                  <a:srgbClr val="A3B6AA"/>
                </a:solidFill>
                <a:latin typeface="Tahoma"/>
              </a:rPr>
              <a:t>TGS2602 + TGS2603</a:t>
            </a:r>
          </a:p>
          <a:p>
            <a:pPr algn="l">
              <a:lnSpc>
                <a:spcPct val="115000"/>
              </a:lnSpc>
            </a:pPr>
            <a:r>
              <a:rPr sz="1700" b="0">
                <a:solidFill>
                  <a:srgbClr val="A3B6AA"/>
                </a:solidFill>
                <a:latin typeface="Tahoma"/>
              </a:rPr>
              <a:t>+ BME688 × 2</a:t>
            </a:r>
          </a:p>
        </p:txBody>
      </p:sp>
      <p:sp>
        <p:nvSpPr>
          <p:cNvPr id="10" name="Rounded Rectangle 9"/>
          <p:cNvSpPr/>
          <p:nvPr/>
        </p:nvSpPr>
        <p:spPr>
          <a:xfrm>
            <a:off x="4318000" y="1460500"/>
            <a:ext cx="3556000" cy="2794000"/>
          </a:xfrm>
          <a:prstGeom prst="roundRect">
            <a:avLst>
              <a:gd name="adj" fmla="val 6363"/>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8500" y="1555750"/>
            <a:ext cx="3175000" cy="381000"/>
          </a:xfrm>
          <a:prstGeom prst="rect">
            <a:avLst/>
          </a:prstGeom>
          <a:noFill/>
        </p:spPr>
        <p:txBody>
          <a:bodyPr wrap="square" lIns="0" rIns="0" tIns="0" bIns="0" anchor="t">
            <a:spAutoFit/>
          </a:bodyPr>
          <a:lstStyle/>
          <a:p>
            <a:pPr algn="l">
              <a:lnSpc>
                <a:spcPct val="115000"/>
              </a:lnSpc>
            </a:pPr>
            <a:r>
              <a:rPr sz="2000" b="1">
                <a:solidFill>
                  <a:srgbClr val="B9D84A"/>
                </a:solidFill>
                <a:latin typeface="Tahoma"/>
              </a:rPr>
              <a:t>ชุดประหยัด</a:t>
            </a:r>
          </a:p>
        </p:txBody>
      </p:sp>
      <p:sp>
        <p:nvSpPr>
          <p:cNvPr id="12" name="TextBox 11"/>
          <p:cNvSpPr txBox="1"/>
          <p:nvPr/>
        </p:nvSpPr>
        <p:spPr>
          <a:xfrm>
            <a:off x="4508500" y="1968500"/>
            <a:ext cx="3175000" cy="698500"/>
          </a:xfrm>
          <a:prstGeom prst="rect">
            <a:avLst/>
          </a:prstGeom>
          <a:noFill/>
        </p:spPr>
        <p:txBody>
          <a:bodyPr wrap="square" lIns="0" rIns="0" tIns="0" bIns="0" anchor="t">
            <a:spAutoFit/>
          </a:bodyPr>
          <a:lstStyle/>
          <a:p>
            <a:pPr algn="l">
              <a:lnSpc>
                <a:spcPct val="115000"/>
              </a:lnSpc>
            </a:pPr>
            <a:r>
              <a:rPr sz="2800" b="1">
                <a:solidFill>
                  <a:srgbClr val="F2F6EE"/>
                </a:solidFill>
                <a:latin typeface="Tahoma"/>
              </a:rPr>
              <a:t>≈ ฿1,400–2,100</a:t>
            </a:r>
          </a:p>
        </p:txBody>
      </p:sp>
      <p:sp>
        <p:nvSpPr>
          <p:cNvPr id="13" name="TextBox 12"/>
          <p:cNvSpPr txBox="1"/>
          <p:nvPr/>
        </p:nvSpPr>
        <p:spPr>
          <a:xfrm>
            <a:off x="4508500" y="2794000"/>
            <a:ext cx="3175000" cy="1270000"/>
          </a:xfrm>
          <a:prstGeom prst="rect">
            <a:avLst/>
          </a:prstGeom>
          <a:noFill/>
        </p:spPr>
        <p:txBody>
          <a:bodyPr wrap="square" lIns="0" rIns="0" tIns="0" bIns="0" anchor="t">
            <a:spAutoFit/>
          </a:bodyPr>
          <a:lstStyle/>
          <a:p>
            <a:pPr algn="l">
              <a:lnSpc>
                <a:spcPct val="115000"/>
              </a:lnSpc>
            </a:pPr>
            <a:r>
              <a:rPr sz="1700" b="0">
                <a:solidFill>
                  <a:srgbClr val="A3B6AA"/>
                </a:solidFill>
                <a:latin typeface="Tahoma"/>
              </a:rPr>
              <a:t>MQ-3 + MQ-135</a:t>
            </a:r>
          </a:p>
          <a:p>
            <a:pPr algn="l">
              <a:lnSpc>
                <a:spcPct val="115000"/>
              </a:lnSpc>
            </a:pPr>
            <a:r>
              <a:rPr sz="1700" b="0">
                <a:solidFill>
                  <a:srgbClr val="A3B6AA"/>
                </a:solidFill>
                <a:latin typeface="Tahoma"/>
              </a:rPr>
              <a:t>+ BME680 × 1</a:t>
            </a:r>
          </a:p>
        </p:txBody>
      </p:sp>
      <p:sp>
        <p:nvSpPr>
          <p:cNvPr id="14" name="Rounded Rectangle 13"/>
          <p:cNvSpPr/>
          <p:nvPr/>
        </p:nvSpPr>
        <p:spPr>
          <a:xfrm>
            <a:off x="8064500" y="1460500"/>
            <a:ext cx="3556000" cy="1270000"/>
          </a:xfrm>
          <a:prstGeom prst="roundRect">
            <a:avLst>
              <a:gd name="adj" fmla="val 14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16900" y="1524000"/>
            <a:ext cx="3251200" cy="1143000"/>
          </a:xfrm>
          <a:prstGeom prst="rect">
            <a:avLst/>
          </a:prstGeom>
          <a:noFill/>
        </p:spPr>
        <p:txBody>
          <a:bodyPr wrap="square" lIns="0" rIns="0" tIns="0" bIns="0" anchor="ctr">
            <a:spAutoFit/>
          </a:bodyPr>
          <a:lstStyle/>
          <a:p>
            <a:pPr algn="l">
              <a:lnSpc>
                <a:spcPct val="115000"/>
              </a:lnSpc>
            </a:pPr>
            <a:r>
              <a:rPr sz="1800" b="1">
                <a:solidFill>
                  <a:srgbClr val="B9D84A"/>
                </a:solidFill>
                <a:latin typeface="Tahoma"/>
              </a:rPr>
              <a:t>ลูกค้าหลัก</a:t>
            </a:r>
          </a:p>
          <a:p>
            <a:pPr algn="l">
              <a:lnSpc>
                <a:spcPct val="115000"/>
              </a:lnSpc>
            </a:pPr>
            <a:r>
              <a:rPr sz="1800" b="1">
                <a:solidFill>
                  <a:srgbClr val="F2F6EE"/>
                </a:solidFill>
                <a:latin typeface="Tahoma"/>
              </a:rPr>
              <a:t>ล้ง/ผู้ส่งออก → DS-301</a:t>
            </a:r>
          </a:p>
        </p:txBody>
      </p:sp>
      <p:sp>
        <p:nvSpPr>
          <p:cNvPr id="16" name="Rounded Rectangle 15"/>
          <p:cNvSpPr/>
          <p:nvPr/>
        </p:nvSpPr>
        <p:spPr>
          <a:xfrm>
            <a:off x="8064500" y="2857500"/>
            <a:ext cx="3556000" cy="1397000"/>
          </a:xfrm>
          <a:prstGeom prst="roundRect">
            <a:avLst>
              <a:gd name="adj" fmla="val 12727"/>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6900" y="2921000"/>
            <a:ext cx="3251200" cy="1270000"/>
          </a:xfrm>
          <a:prstGeom prst="rect">
            <a:avLst/>
          </a:prstGeom>
          <a:noFill/>
        </p:spPr>
        <p:txBody>
          <a:bodyPr wrap="square" lIns="0" rIns="0" tIns="0" bIns="0" anchor="ctr">
            <a:spAutoFit/>
          </a:bodyPr>
          <a:lstStyle/>
          <a:p>
            <a:pPr algn="l">
              <a:lnSpc>
                <a:spcPct val="115000"/>
              </a:lnSpc>
            </a:pPr>
            <a:r>
              <a:rPr sz="1700" b="1">
                <a:solidFill>
                  <a:srgbClr val="B9D84A"/>
                </a:solidFill>
                <a:latin typeface="Tahoma"/>
              </a:rPr>
              <a:t>รายได้ (ข้อเสนอ)</a:t>
            </a:r>
          </a:p>
          <a:p>
            <a:pPr algn="l">
              <a:lnSpc>
                <a:spcPct val="115000"/>
              </a:lnSpc>
            </a:pPr>
            <a:r>
              <a:rPr sz="1700" b="1">
                <a:solidFill>
                  <a:srgbClr val="F2F6EE"/>
                </a:solidFill>
                <a:latin typeface="Tahoma"/>
              </a:rPr>
              <a:t>ขาย/ให้เช่าเครื่อง + ค่าสมาชิกรายฤดู</a:t>
            </a:r>
          </a:p>
        </p:txBody>
      </p:sp>
      <p:sp>
        <p:nvSpPr>
          <p:cNvPr id="18" name="Rounded Rectangle 17"/>
          <p:cNvSpPr/>
          <p:nvPr/>
        </p:nvSpPr>
        <p:spPr>
          <a:xfrm>
            <a:off x="571500" y="4508500"/>
            <a:ext cx="11049000" cy="1270000"/>
          </a:xfrm>
          <a:prstGeom prst="roundRect">
            <a:avLst>
              <a:gd name="adj" fmla="val 14000"/>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500" y="4572000"/>
            <a:ext cx="10541000" cy="1143000"/>
          </a:xfrm>
          <a:prstGeom prst="rect">
            <a:avLst/>
          </a:prstGeom>
          <a:noFill/>
        </p:spPr>
        <p:txBody>
          <a:bodyPr wrap="square" lIns="0" rIns="0" tIns="0" bIns="0" anchor="ctr">
            <a:spAutoFit/>
          </a:bodyPr>
          <a:lstStyle/>
          <a:p>
            <a:pPr algn="l">
              <a:lnSpc>
                <a:spcPct val="115000"/>
              </a:lnSpc>
            </a:pPr>
            <a:r>
              <a:rPr sz="1800" b="1">
                <a:solidFill>
                  <a:srgbClr val="F2F6EE"/>
                </a:solidFill>
                <a:latin typeface="Tahoma"/>
              </a:rPr>
              <a:t>ชุดประหยัดเสีย TGS2603 และตัวอ้างอิงอากาศ — ความแม่นยำที่ลดลงตอบเป็นตัวเลขไม่ได้</a:t>
            </a:r>
          </a:p>
          <a:p>
            <a:pPr algn="l">
              <a:lnSpc>
                <a:spcPct val="115000"/>
              </a:lnSpc>
            </a:pPr>
            <a:r>
              <a:rPr sz="1800" b="1">
                <a:solidFill>
                  <a:srgbClr val="F2F6EE"/>
                </a:solidFill>
                <a:latin typeface="Tahoma"/>
              </a:rPr>
              <a:t>ยังไม่มีราคา DS-301 / E-100 เต็มเครื่อง (ไม่รวมสายพาน)</a:t>
            </a:r>
          </a:p>
        </p:txBody>
      </p:sp>
      <p:sp>
        <p:nvSpPr>
          <p:cNvPr id="20" name="TextBox 19"/>
          <p:cNvSpPr txBox="1"/>
          <p:nvPr/>
        </p:nvSpPr>
        <p:spPr>
          <a:xfrm>
            <a:off x="571500" y="6096000"/>
            <a:ext cx="11049000" cy="254000"/>
          </a:xfrm>
          <a:prstGeom prst="rect">
            <a:avLst/>
          </a:prstGeom>
          <a:noFill/>
        </p:spPr>
        <p:txBody>
          <a:bodyPr wrap="square" lIns="0" rIns="0" tIns="0" bIns="0" anchor="t">
            <a:spAutoFit/>
          </a:bodyPr>
          <a:lstStyle/>
          <a:p>
            <a:pPr algn="l">
              <a:lnSpc>
                <a:spcPct val="115000"/>
              </a:lnSpc>
            </a:pPr>
            <a:r>
              <a:rPr sz="1200" b="0">
                <a:solidFill>
                  <a:srgbClr val="A3B6AA"/>
                </a:solidFill>
                <a:latin typeface="Tahoma"/>
              </a:rPr>
              <a:t>ราคา Lazada/allnewstep 26 ต.ค. 2026 · ไม่รวมค่าส่ง ไส้กรอง กล่อง ท่อ สายพาน · ใช้ ESP8266 ที่มีอยู่ · รายได้ยังไม่ได้ทดสอบตลาด</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TextBox 1"/>
          <p:cNvSpPr txBox="1"/>
          <p:nvPr/>
        </p:nvSpPr>
        <p:spPr>
          <a:xfrm>
            <a:off x="571500" y="254000"/>
            <a:ext cx="7620000" cy="254000"/>
          </a:xfrm>
          <a:prstGeom prst="rect">
            <a:avLst/>
          </a:prstGeom>
          <a:noFill/>
        </p:spPr>
        <p:txBody>
          <a:bodyPr wrap="square" lIns="0" rIns="0" tIns="0" bIns="0" anchor="t">
            <a:spAutoFit/>
          </a:bodyPr>
          <a:lstStyle/>
          <a:p>
            <a:pPr algn="l">
              <a:lnSpc>
                <a:spcPct val="115000"/>
              </a:lnSpc>
            </a:pPr>
            <a:r>
              <a:rPr sz="1400" b="0">
                <a:solidFill>
                  <a:srgbClr val="A3B6AA"/>
                </a:solidFill>
                <a:latin typeface="Tahoma"/>
              </a:rPr>
              <a:t>เครื่องดมทุเรียนอัจฉริยะ  ·  </a:t>
            </a:r>
            <a:r>
              <a:rPr sz="1400" b="0">
                <a:solidFill>
                  <a:srgbClr val="B9D84A"/>
                </a:solidFill>
                <a:latin typeface="Tahoma"/>
              </a:rPr>
              <a:t>แผนงาน</a:t>
            </a:r>
          </a:p>
        </p:txBody>
      </p:sp>
      <p:sp>
        <p:nvSpPr>
          <p:cNvPr id="3" name="TextBox 2"/>
          <p:cNvSpPr txBox="1"/>
          <p:nvPr/>
        </p:nvSpPr>
        <p:spPr>
          <a:xfrm>
            <a:off x="571500" y="558800"/>
            <a:ext cx="9525000" cy="698500"/>
          </a:xfrm>
          <a:prstGeom prst="rect">
            <a:avLst/>
          </a:prstGeom>
          <a:noFill/>
        </p:spPr>
        <p:txBody>
          <a:bodyPr wrap="square" lIns="0" rIns="0" tIns="0" bIns="0" anchor="t">
            <a:spAutoFit/>
          </a:bodyPr>
          <a:lstStyle/>
          <a:p>
            <a:pPr algn="l">
              <a:lnSpc>
                <a:spcPct val="115000"/>
              </a:lnSpc>
            </a:pPr>
            <a:r>
              <a:rPr sz="3500" b="1">
                <a:solidFill>
                  <a:srgbClr val="F2F6EE"/>
                </a:solidFill>
                <a:latin typeface="Tahoma"/>
              </a:rPr>
              <a:t>พิสูจน์ก่อน แล้วค่อยขยาย</a:t>
            </a:r>
          </a:p>
        </p:txBody>
      </p:sp>
      <p:sp>
        <p:nvSpPr>
          <p:cNvPr id="4" name="Rounded Rectangle 3"/>
          <p:cNvSpPr/>
          <p:nvPr/>
        </p:nvSpPr>
        <p:spPr>
          <a:xfrm>
            <a:off x="8064500" y="304800"/>
            <a:ext cx="3556000" cy="355600"/>
          </a:xfrm>
          <a:prstGeom prst="roundRect">
            <a:avLst>
              <a:gd name="adj" fmla="val 50000"/>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64500" y="304800"/>
            <a:ext cx="3556000" cy="355600"/>
          </a:xfrm>
          <a:prstGeom prst="rect">
            <a:avLst/>
          </a:prstGeom>
          <a:noFill/>
        </p:spPr>
        <p:txBody>
          <a:bodyPr wrap="square" lIns="0" rIns="0" tIns="0" bIns="0" anchor="ctr">
            <a:spAutoFit/>
          </a:bodyPr>
          <a:lstStyle/>
          <a:p>
            <a:pPr algn="ctr">
              <a:lnSpc>
                <a:spcPct val="115000"/>
              </a:lnSpc>
            </a:pPr>
            <a:r>
              <a:rPr sz="1300" b="1">
                <a:solidFill>
                  <a:srgbClr val="E3A21A"/>
                </a:solidFill>
                <a:latin typeface="Tahoma"/>
              </a:rPr>
              <a:t>แผน · ยังไม่ได้ทดสอบ</a:t>
            </a:r>
          </a:p>
        </p:txBody>
      </p:sp>
      <p:sp>
        <p:nvSpPr>
          <p:cNvPr id="6" name="Rounded Rectangle 5"/>
          <p:cNvSpPr/>
          <p:nvPr/>
        </p:nvSpPr>
        <p:spPr>
          <a:xfrm>
            <a:off x="571500" y="1460500"/>
            <a:ext cx="3556000" cy="1778000"/>
          </a:xfrm>
          <a:prstGeom prst="roundRect">
            <a:avLst>
              <a:gd name="adj" fmla="val 10000"/>
            </a:avLst>
          </a:prstGeom>
          <a:solidFill>
            <a:srgbClr val="22351A"/>
          </a:solidFill>
          <a:ln w="12700">
            <a:solidFill>
              <a:srgbClr val="B9D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1524000"/>
            <a:ext cx="3251200" cy="1651000"/>
          </a:xfrm>
          <a:prstGeom prst="rect">
            <a:avLst/>
          </a:prstGeom>
          <a:noFill/>
        </p:spPr>
        <p:txBody>
          <a:bodyPr wrap="square" lIns="0" rIns="0" tIns="0" bIns="0" anchor="ctr">
            <a:spAutoFit/>
          </a:bodyPr>
          <a:lstStyle/>
          <a:p>
            <a:pPr algn="ctr">
              <a:lnSpc>
                <a:spcPct val="115000"/>
              </a:lnSpc>
            </a:pPr>
            <a:r>
              <a:rPr sz="2000" b="1">
                <a:solidFill>
                  <a:srgbClr val="B9D84A"/>
                </a:solidFill>
                <a:latin typeface="Tahoma"/>
              </a:rPr>
              <a:t>ขั้น 1 · ต้นแบบ A</a:t>
            </a:r>
          </a:p>
          <a:p>
            <a:pPr algn="ctr">
              <a:lnSpc>
                <a:spcPct val="115000"/>
              </a:lnSpc>
            </a:pPr>
            <a:r>
              <a:rPr sz="2000" b="1">
                <a:solidFill>
                  <a:srgbClr val="F2F6EE"/>
                </a:solidFill>
                <a:latin typeface="Tahoma"/>
              </a:rPr>
              <a:t>≈ ฿1,400–3,500</a:t>
            </a:r>
          </a:p>
          <a:p>
            <a:pPr algn="ctr">
              <a:lnSpc>
                <a:spcPct val="115000"/>
              </a:lnSpc>
            </a:pPr>
            <a:r>
              <a:rPr sz="2000" b="1">
                <a:solidFill>
                  <a:srgbClr val="A3B6AA"/>
                </a:solidFill>
                <a:latin typeface="Tahoma"/>
              </a:rPr>
              <a:t>เก็บข้อมูลทุเรียนจริง</a:t>
            </a:r>
          </a:p>
        </p:txBody>
      </p:sp>
      <p:sp>
        <p:nvSpPr>
          <p:cNvPr id="8" name="Rounded Rectangle 7"/>
          <p:cNvSpPr/>
          <p:nvPr/>
        </p:nvSpPr>
        <p:spPr>
          <a:xfrm>
            <a:off x="4381500" y="1460500"/>
            <a:ext cx="3556000" cy="1778000"/>
          </a:xfrm>
          <a:prstGeom prst="roundRect">
            <a:avLst>
              <a:gd name="adj" fmla="val 10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3900" y="1524000"/>
            <a:ext cx="3251200" cy="1651000"/>
          </a:xfrm>
          <a:prstGeom prst="rect">
            <a:avLst/>
          </a:prstGeom>
          <a:noFill/>
        </p:spPr>
        <p:txBody>
          <a:bodyPr wrap="square" lIns="0" rIns="0" tIns="0" bIns="0" anchor="ctr">
            <a:spAutoFit/>
          </a:bodyPr>
          <a:lstStyle/>
          <a:p>
            <a:pPr algn="ctr">
              <a:lnSpc>
                <a:spcPct val="115000"/>
              </a:lnSpc>
            </a:pPr>
            <a:r>
              <a:rPr sz="1900" b="1">
                <a:solidFill>
                  <a:srgbClr val="B9D84A"/>
                </a:solidFill>
                <a:latin typeface="Tahoma"/>
              </a:rPr>
              <a:t>ขั้น 2 · คุณภาพ B</a:t>
            </a:r>
          </a:p>
          <a:p>
            <a:pPr algn="ctr">
              <a:lnSpc>
                <a:spcPct val="115000"/>
              </a:lnSpc>
            </a:pPr>
            <a:r>
              <a:rPr sz="1900" b="1">
                <a:solidFill>
                  <a:srgbClr val="F2F6EE"/>
                </a:solidFill>
                <a:latin typeface="Tahoma"/>
              </a:rPr>
              <a:t>60,000–100,000 บาท*</a:t>
            </a:r>
          </a:p>
          <a:p>
            <a:pPr algn="ctr">
              <a:lnSpc>
                <a:spcPct val="115000"/>
              </a:lnSpc>
            </a:pPr>
            <a:r>
              <a:rPr sz="1900" b="1">
                <a:solidFill>
                  <a:srgbClr val="A3B6AA"/>
                </a:solidFill>
                <a:latin typeface="Tahoma"/>
              </a:rPr>
              <a:t>เซนเซอร์สูงขึ้น</a:t>
            </a:r>
          </a:p>
        </p:txBody>
      </p:sp>
      <p:sp>
        <p:nvSpPr>
          <p:cNvPr id="10" name="Rounded Rectangle 9"/>
          <p:cNvSpPr/>
          <p:nvPr/>
        </p:nvSpPr>
        <p:spPr>
          <a:xfrm>
            <a:off x="8191500" y="1460500"/>
            <a:ext cx="3429000" cy="1778000"/>
          </a:xfrm>
          <a:prstGeom prst="roundRect">
            <a:avLst>
              <a:gd name="adj" fmla="val 10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43900" y="1524000"/>
            <a:ext cx="3124200" cy="1651000"/>
          </a:xfrm>
          <a:prstGeom prst="rect">
            <a:avLst/>
          </a:prstGeom>
          <a:noFill/>
        </p:spPr>
        <p:txBody>
          <a:bodyPr wrap="square" lIns="0" rIns="0" tIns="0" bIns="0" anchor="ctr">
            <a:spAutoFit/>
          </a:bodyPr>
          <a:lstStyle/>
          <a:p>
            <a:pPr algn="ctr">
              <a:lnSpc>
                <a:spcPct val="115000"/>
              </a:lnSpc>
            </a:pPr>
            <a:r>
              <a:rPr sz="1900" b="1">
                <a:solidFill>
                  <a:srgbClr val="B9D84A"/>
                </a:solidFill>
                <a:latin typeface="Tahoma"/>
              </a:rPr>
              <a:t>ขั้น 3 · วิจัย/QC C</a:t>
            </a:r>
          </a:p>
          <a:p>
            <a:pPr algn="ctr">
              <a:lnSpc>
                <a:spcPct val="115000"/>
              </a:lnSpc>
            </a:pPr>
            <a:r>
              <a:rPr sz="1900" b="1">
                <a:solidFill>
                  <a:srgbClr val="F2F6EE"/>
                </a:solidFill>
                <a:latin typeface="Tahoma"/>
              </a:rPr>
              <a:t>1–3 แสน+ *</a:t>
            </a:r>
          </a:p>
          <a:p>
            <a:pPr algn="ctr">
              <a:lnSpc>
                <a:spcPct val="115000"/>
              </a:lnSpc>
            </a:pPr>
            <a:r>
              <a:rPr sz="1900" b="1">
                <a:solidFill>
                  <a:srgbClr val="A3B6AA"/>
                </a:solidFill>
                <a:latin typeface="Tahoma"/>
              </a:rPr>
              <a:t>NIR + GC-MS เป็นเฉลย</a:t>
            </a:r>
          </a:p>
        </p:txBody>
      </p:sp>
      <p:sp>
        <p:nvSpPr>
          <p:cNvPr id="12" name="TextBox 11"/>
          <p:cNvSpPr txBox="1"/>
          <p:nvPr/>
        </p:nvSpPr>
        <p:spPr>
          <a:xfrm>
            <a:off x="571500" y="3460750"/>
            <a:ext cx="11049000" cy="381000"/>
          </a:xfrm>
          <a:prstGeom prst="rect">
            <a:avLst/>
          </a:prstGeom>
          <a:noFill/>
        </p:spPr>
        <p:txBody>
          <a:bodyPr wrap="square" lIns="0" rIns="0" tIns="0" bIns="0" anchor="t">
            <a:spAutoFit/>
          </a:bodyPr>
          <a:lstStyle/>
          <a:p>
            <a:pPr algn="l">
              <a:lnSpc>
                <a:spcPct val="115000"/>
              </a:lnSpc>
            </a:pPr>
            <a:r>
              <a:rPr sz="2000" b="1">
                <a:solidFill>
                  <a:srgbClr val="B9D84A"/>
                </a:solidFill>
                <a:latin typeface="Tahoma"/>
              </a:rPr>
              <a:t>แผนทดลองขั้น 1</a:t>
            </a:r>
          </a:p>
        </p:txBody>
      </p:sp>
      <p:sp>
        <p:nvSpPr>
          <p:cNvPr id="13" name="Rounded Rectangle 12"/>
          <p:cNvSpPr/>
          <p:nvPr/>
        </p:nvSpPr>
        <p:spPr>
          <a:xfrm>
            <a:off x="571500" y="3937000"/>
            <a:ext cx="2095500" cy="1270000"/>
          </a:xfrm>
          <a:prstGeom prst="roundRect">
            <a:avLst>
              <a:gd name="adj" fmla="val 14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3900" y="4000500"/>
            <a:ext cx="1790700" cy="1143000"/>
          </a:xfrm>
          <a:prstGeom prst="rect">
            <a:avLst/>
          </a:prstGeom>
          <a:noFill/>
        </p:spPr>
        <p:txBody>
          <a:bodyPr wrap="square" lIns="0" rIns="0" tIns="0" bIns="0" anchor="ctr">
            <a:spAutoFit/>
          </a:bodyPr>
          <a:lstStyle/>
          <a:p>
            <a:pPr algn="ctr">
              <a:lnSpc>
                <a:spcPct val="115000"/>
              </a:lnSpc>
            </a:pPr>
            <a:r>
              <a:rPr sz="1500" b="1">
                <a:solidFill>
                  <a:srgbClr val="F2F6EE"/>
                </a:solidFill>
                <a:latin typeface="Tahoma"/>
              </a:rPr>
              <a:t>อุ่นเซนเซอร์</a:t>
            </a:r>
          </a:p>
          <a:p>
            <a:pPr algn="ctr">
              <a:lnSpc>
                <a:spcPct val="115000"/>
              </a:lnSpc>
            </a:pPr>
            <a:r>
              <a:rPr sz="1500" b="1">
                <a:solidFill>
                  <a:srgbClr val="F2F6EE"/>
                </a:solidFill>
                <a:latin typeface="Tahoma"/>
              </a:rPr>
              <a:t>ให้เส้นฐานนิ่ง</a:t>
            </a:r>
          </a:p>
        </p:txBody>
      </p:sp>
      <p:sp>
        <p:nvSpPr>
          <p:cNvPr id="15" name="Rounded Rectangle 14"/>
          <p:cNvSpPr/>
          <p:nvPr/>
        </p:nvSpPr>
        <p:spPr>
          <a:xfrm>
            <a:off x="2794000" y="3937000"/>
            <a:ext cx="2095500" cy="1270000"/>
          </a:xfrm>
          <a:prstGeom prst="roundRect">
            <a:avLst>
              <a:gd name="adj" fmla="val 14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46400" y="4000500"/>
            <a:ext cx="1790700" cy="1143000"/>
          </a:xfrm>
          <a:prstGeom prst="rect">
            <a:avLst/>
          </a:prstGeom>
          <a:noFill/>
        </p:spPr>
        <p:txBody>
          <a:bodyPr wrap="square" lIns="0" rIns="0" tIns="0" bIns="0" anchor="ctr">
            <a:spAutoFit/>
          </a:bodyPr>
          <a:lstStyle/>
          <a:p>
            <a:pPr algn="ctr">
              <a:lnSpc>
                <a:spcPct val="115000"/>
              </a:lnSpc>
            </a:pPr>
            <a:r>
              <a:rPr sz="1500" b="1">
                <a:solidFill>
                  <a:srgbClr val="F2F6EE"/>
                </a:solidFill>
                <a:latin typeface="Tahoma"/>
              </a:rPr>
              <a:t>ทดสอบกลิ่นง่าย</a:t>
            </a:r>
          </a:p>
          <a:p>
            <a:pPr algn="ctr">
              <a:lnSpc>
                <a:spcPct val="115000"/>
              </a:lnSpc>
            </a:pPr>
            <a:r>
              <a:rPr sz="1500" b="1">
                <a:solidFill>
                  <a:srgbClr val="F2F6EE"/>
                </a:solidFill>
                <a:latin typeface="Tahoma"/>
              </a:rPr>
              <a:t>เอทานอล กล้วย มะม่วง</a:t>
            </a:r>
          </a:p>
        </p:txBody>
      </p:sp>
      <p:sp>
        <p:nvSpPr>
          <p:cNvPr id="17" name="Rounded Rectangle 16"/>
          <p:cNvSpPr/>
          <p:nvPr/>
        </p:nvSpPr>
        <p:spPr>
          <a:xfrm>
            <a:off x="5016500" y="3937000"/>
            <a:ext cx="2095500" cy="1270000"/>
          </a:xfrm>
          <a:prstGeom prst="roundRect">
            <a:avLst>
              <a:gd name="adj" fmla="val 14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68900" y="4000500"/>
            <a:ext cx="1790700" cy="1143000"/>
          </a:xfrm>
          <a:prstGeom prst="rect">
            <a:avLst/>
          </a:prstGeom>
          <a:noFill/>
        </p:spPr>
        <p:txBody>
          <a:bodyPr wrap="square" lIns="0" rIns="0" tIns="0" bIns="0" anchor="ctr">
            <a:spAutoFit/>
          </a:bodyPr>
          <a:lstStyle/>
          <a:p>
            <a:pPr algn="ctr">
              <a:lnSpc>
                <a:spcPct val="115000"/>
              </a:lnSpc>
            </a:pPr>
            <a:r>
              <a:rPr sz="1500" b="1">
                <a:solidFill>
                  <a:srgbClr val="F2F6EE"/>
                </a:solidFill>
                <a:latin typeface="Tahoma"/>
              </a:rPr>
              <a:t>ดมทุเรียนลูกเดิม</a:t>
            </a:r>
          </a:p>
          <a:p>
            <a:pPr algn="ctr">
              <a:lnSpc>
                <a:spcPct val="115000"/>
              </a:lnSpc>
            </a:pPr>
            <a:r>
              <a:rPr sz="1500" b="1">
                <a:solidFill>
                  <a:srgbClr val="F2F6EE"/>
                </a:solidFill>
                <a:latin typeface="Tahoma"/>
              </a:rPr>
              <a:t>ทุกวัน จนสุกเกิน</a:t>
            </a:r>
          </a:p>
        </p:txBody>
      </p:sp>
      <p:sp>
        <p:nvSpPr>
          <p:cNvPr id="19" name="Rounded Rectangle 18"/>
          <p:cNvSpPr/>
          <p:nvPr/>
        </p:nvSpPr>
        <p:spPr>
          <a:xfrm>
            <a:off x="7239000" y="3937000"/>
            <a:ext cx="2095500" cy="1270000"/>
          </a:xfrm>
          <a:prstGeom prst="roundRect">
            <a:avLst>
              <a:gd name="adj" fmla="val 14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91400" y="4000500"/>
            <a:ext cx="1790700" cy="1143000"/>
          </a:xfrm>
          <a:prstGeom prst="rect">
            <a:avLst/>
          </a:prstGeom>
          <a:noFill/>
        </p:spPr>
        <p:txBody>
          <a:bodyPr wrap="square" lIns="0" rIns="0" tIns="0" bIns="0" anchor="ctr">
            <a:spAutoFit/>
          </a:bodyPr>
          <a:lstStyle/>
          <a:p>
            <a:pPr algn="ctr">
              <a:lnSpc>
                <a:spcPct val="115000"/>
              </a:lnSpc>
            </a:pPr>
            <a:r>
              <a:rPr sz="1500" b="1">
                <a:solidFill>
                  <a:srgbClr val="F2F6EE"/>
                </a:solidFill>
                <a:latin typeface="Tahoma"/>
              </a:rPr>
              <a:t>เทียบ 2 ชุดเซนเซอร์</a:t>
            </a:r>
          </a:p>
          <a:p>
            <a:pPr algn="ctr">
              <a:lnSpc>
                <a:spcPct val="115000"/>
              </a:lnSpc>
            </a:pPr>
            <a:r>
              <a:rPr sz="1500" b="1">
                <a:solidFill>
                  <a:srgbClr val="F2F6EE"/>
                </a:solidFill>
                <a:latin typeface="Tahoma"/>
              </a:rPr>
              <a:t>วิธีเดียวกัน</a:t>
            </a:r>
          </a:p>
        </p:txBody>
      </p:sp>
      <p:sp>
        <p:nvSpPr>
          <p:cNvPr id="21" name="Rounded Rectangle 20"/>
          <p:cNvSpPr/>
          <p:nvPr/>
        </p:nvSpPr>
        <p:spPr>
          <a:xfrm>
            <a:off x="9461500" y="3937000"/>
            <a:ext cx="2095500" cy="1270000"/>
          </a:xfrm>
          <a:prstGeom prst="roundRect">
            <a:avLst>
              <a:gd name="adj" fmla="val 14000"/>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13900" y="4000500"/>
            <a:ext cx="1790700" cy="1143000"/>
          </a:xfrm>
          <a:prstGeom prst="rect">
            <a:avLst/>
          </a:prstGeom>
          <a:noFill/>
        </p:spPr>
        <p:txBody>
          <a:bodyPr wrap="square" lIns="0" rIns="0" tIns="0" bIns="0" anchor="ctr">
            <a:spAutoFit/>
          </a:bodyPr>
          <a:lstStyle/>
          <a:p>
            <a:pPr algn="ctr">
              <a:lnSpc>
                <a:spcPct val="115000"/>
              </a:lnSpc>
            </a:pPr>
            <a:r>
              <a:rPr sz="1500" b="1">
                <a:solidFill>
                  <a:srgbClr val="F2F6EE"/>
                </a:solidFill>
                <a:latin typeface="Tahoma"/>
              </a:rPr>
              <a:t>รายงานตามจริง</a:t>
            </a:r>
          </a:p>
        </p:txBody>
      </p:sp>
      <p:sp>
        <p:nvSpPr>
          <p:cNvPr id="23" name="TextBox 22"/>
          <p:cNvSpPr txBox="1"/>
          <p:nvPr/>
        </p:nvSpPr>
        <p:spPr>
          <a:xfrm>
            <a:off x="571500" y="5715000"/>
            <a:ext cx="11049000" cy="254000"/>
          </a:xfrm>
          <a:prstGeom prst="rect">
            <a:avLst/>
          </a:prstGeom>
          <a:noFill/>
        </p:spPr>
        <p:txBody>
          <a:bodyPr wrap="square" lIns="0" rIns="0" tIns="0" bIns="0" anchor="t">
            <a:spAutoFit/>
          </a:bodyPr>
          <a:lstStyle/>
          <a:p>
            <a:pPr algn="l">
              <a:lnSpc>
                <a:spcPct val="115000"/>
              </a:lnSpc>
            </a:pPr>
            <a:r>
              <a:rPr sz="1200" b="0">
                <a:solidFill>
                  <a:srgbClr val="A3B6AA"/>
                </a:solidFill>
                <a:latin typeface="Tahoma"/>
              </a:rPr>
              <a:t>* ประมาณการเดิมของทีม ยังไม่ได้ขอใบเสนอราคา · ไม่เดาความแม่นยำล่วงหน้า</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TextBox 1"/>
          <p:cNvSpPr txBox="1"/>
          <p:nvPr/>
        </p:nvSpPr>
        <p:spPr>
          <a:xfrm>
            <a:off x="571500" y="254000"/>
            <a:ext cx="7620000" cy="254000"/>
          </a:xfrm>
          <a:prstGeom prst="rect">
            <a:avLst/>
          </a:prstGeom>
          <a:noFill/>
        </p:spPr>
        <p:txBody>
          <a:bodyPr wrap="square" lIns="0" rIns="0" tIns="0" bIns="0" anchor="t">
            <a:spAutoFit/>
          </a:bodyPr>
          <a:lstStyle/>
          <a:p>
            <a:pPr algn="l">
              <a:lnSpc>
                <a:spcPct val="115000"/>
              </a:lnSpc>
            </a:pPr>
            <a:r>
              <a:rPr sz="1400" b="0">
                <a:solidFill>
                  <a:srgbClr val="A3B6AA"/>
                </a:solidFill>
                <a:latin typeface="Tahoma"/>
              </a:rPr>
              <a:t>เครื่องดมทุเรียนอัจฉริยะ  ·  </a:t>
            </a:r>
            <a:r>
              <a:rPr sz="1400" b="0">
                <a:solidFill>
                  <a:srgbClr val="B9D84A"/>
                </a:solidFill>
                <a:latin typeface="Tahoma"/>
              </a:rPr>
              <a:t>ข้อจำกัด</a:t>
            </a:r>
          </a:p>
        </p:txBody>
      </p:sp>
      <p:sp>
        <p:nvSpPr>
          <p:cNvPr id="3" name="TextBox 2"/>
          <p:cNvSpPr txBox="1"/>
          <p:nvPr/>
        </p:nvSpPr>
        <p:spPr>
          <a:xfrm>
            <a:off x="571500" y="558800"/>
            <a:ext cx="9525000" cy="698500"/>
          </a:xfrm>
          <a:prstGeom prst="rect">
            <a:avLst/>
          </a:prstGeom>
          <a:noFill/>
        </p:spPr>
        <p:txBody>
          <a:bodyPr wrap="square" lIns="0" rIns="0" tIns="0" bIns="0" anchor="t">
            <a:spAutoFit/>
          </a:bodyPr>
          <a:lstStyle/>
          <a:p>
            <a:pPr algn="l">
              <a:lnSpc>
                <a:spcPct val="115000"/>
              </a:lnSpc>
            </a:pPr>
            <a:r>
              <a:rPr sz="3500" b="1">
                <a:solidFill>
                  <a:srgbClr val="F2F6EE"/>
                </a:solidFill>
                <a:latin typeface="Tahoma"/>
              </a:rPr>
              <a:t>พูดตรงๆ</a:t>
            </a:r>
          </a:p>
        </p:txBody>
      </p:sp>
      <p:sp>
        <p:nvSpPr>
          <p:cNvPr id="4" name="Rounded Rectangle 3"/>
          <p:cNvSpPr/>
          <p:nvPr/>
        </p:nvSpPr>
        <p:spPr>
          <a:xfrm>
            <a:off x="8064500" y="304800"/>
            <a:ext cx="3556000" cy="355600"/>
          </a:xfrm>
          <a:prstGeom prst="roundRect">
            <a:avLst>
              <a:gd name="adj" fmla="val 50000"/>
            </a:avLst>
          </a:prstGeom>
          <a:solidFill>
            <a:srgbClr val="3A1A16"/>
          </a:solidFill>
          <a:ln w="12700">
            <a:solidFill>
              <a:srgbClr val="E576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64500" y="304800"/>
            <a:ext cx="3556000" cy="355600"/>
          </a:xfrm>
          <a:prstGeom prst="rect">
            <a:avLst/>
          </a:prstGeom>
          <a:noFill/>
        </p:spPr>
        <p:txBody>
          <a:bodyPr wrap="square" lIns="0" rIns="0" tIns="0" bIns="0" anchor="ctr">
            <a:spAutoFit/>
          </a:bodyPr>
          <a:lstStyle/>
          <a:p>
            <a:pPr algn="ctr">
              <a:lnSpc>
                <a:spcPct val="115000"/>
              </a:lnSpc>
            </a:pPr>
            <a:r>
              <a:rPr sz="1300" b="1">
                <a:solidFill>
                  <a:srgbClr val="E5766B"/>
                </a:solidFill>
                <a:latin typeface="Tahoma"/>
              </a:rPr>
              <a:t>ข้อจำกัด · พูดตรงๆ</a:t>
            </a:r>
          </a:p>
        </p:txBody>
      </p:sp>
      <p:sp>
        <p:nvSpPr>
          <p:cNvPr id="6" name="Rounded Rectangle 5"/>
          <p:cNvSpPr/>
          <p:nvPr/>
        </p:nvSpPr>
        <p:spPr>
          <a:xfrm>
            <a:off x="571500" y="1460500"/>
            <a:ext cx="5334000" cy="1905000"/>
          </a:xfrm>
          <a:prstGeom prst="roundRect">
            <a:avLst>
              <a:gd name="adj" fmla="val 9333"/>
            </a:avLst>
          </a:prstGeom>
          <a:solidFill>
            <a:srgbClr val="3A1A16"/>
          </a:solidFill>
          <a:ln w="12700">
            <a:solidFill>
              <a:srgbClr val="E576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1524000"/>
            <a:ext cx="5029200" cy="1778000"/>
          </a:xfrm>
          <a:prstGeom prst="rect">
            <a:avLst/>
          </a:prstGeom>
          <a:noFill/>
        </p:spPr>
        <p:txBody>
          <a:bodyPr wrap="square" lIns="0" rIns="0" tIns="0" bIns="0" anchor="ctr">
            <a:spAutoFit/>
          </a:bodyPr>
          <a:lstStyle/>
          <a:p>
            <a:pPr algn="l">
              <a:lnSpc>
                <a:spcPct val="115000"/>
              </a:lnSpc>
            </a:pPr>
            <a:r>
              <a:rPr sz="2300" b="1">
                <a:solidFill>
                  <a:srgbClr val="E5766B"/>
                </a:solidFill>
                <a:latin typeface="Tahoma"/>
              </a:rPr>
              <a:t>ยังไม่มี</a:t>
            </a:r>
          </a:p>
          <a:p>
            <a:pPr algn="l">
              <a:lnSpc>
                <a:spcPct val="115000"/>
              </a:lnSpc>
            </a:pPr>
            <a:r>
              <a:rPr sz="2300" b="1">
                <a:solidFill>
                  <a:srgbClr val="F2F6EE"/>
                </a:solidFill>
                <a:latin typeface="Tahoma"/>
              </a:rPr>
              <a:t>ผลทดลองจากเครื่องของเราเอง</a:t>
            </a:r>
          </a:p>
          <a:p>
            <a:pPr algn="l">
              <a:lnSpc>
                <a:spcPct val="115000"/>
              </a:lnSpc>
            </a:pPr>
            <a:r>
              <a:rPr sz="2300" b="1">
                <a:solidFill>
                  <a:srgbClr val="A3B6AA"/>
                </a:solidFill>
                <a:latin typeface="Tahoma"/>
              </a:rPr>
              <a:t>→ ไม่อ้างความแม่นยำ</a:t>
            </a:r>
          </a:p>
        </p:txBody>
      </p:sp>
      <p:sp>
        <p:nvSpPr>
          <p:cNvPr id="8" name="Rounded Rectangle 7"/>
          <p:cNvSpPr/>
          <p:nvPr/>
        </p:nvSpPr>
        <p:spPr>
          <a:xfrm>
            <a:off x="6286500" y="1460500"/>
            <a:ext cx="5334000" cy="1905000"/>
          </a:xfrm>
          <a:prstGeom prst="roundRect">
            <a:avLst>
              <a:gd name="adj" fmla="val 9333"/>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8900" y="1524000"/>
            <a:ext cx="5029200" cy="1778000"/>
          </a:xfrm>
          <a:prstGeom prst="rect">
            <a:avLst/>
          </a:prstGeom>
          <a:noFill/>
        </p:spPr>
        <p:txBody>
          <a:bodyPr wrap="square" lIns="0" rIns="0" tIns="0" bIns="0" anchor="ctr">
            <a:spAutoFit/>
          </a:bodyPr>
          <a:lstStyle/>
          <a:p>
            <a:pPr algn="l">
              <a:lnSpc>
                <a:spcPct val="115000"/>
              </a:lnSpc>
            </a:pPr>
            <a:r>
              <a:rPr sz="2300" b="1">
                <a:solidFill>
                  <a:srgbClr val="E3A21A"/>
                </a:solidFill>
                <a:latin typeface="Tahoma"/>
              </a:rPr>
              <a:t>ยังไม่ได้พิสูจน์</a:t>
            </a:r>
          </a:p>
          <a:p>
            <a:pPr algn="l">
              <a:lnSpc>
                <a:spcPct val="115000"/>
              </a:lnSpc>
            </a:pPr>
            <a:r>
              <a:rPr sz="2300" b="1">
                <a:solidFill>
                  <a:srgbClr val="F2F6EE"/>
                </a:solidFill>
                <a:latin typeface="Tahoma"/>
              </a:rPr>
              <a:t>ยังไม่ได้ทดสอบกับทุเรียนจริง</a:t>
            </a:r>
          </a:p>
        </p:txBody>
      </p:sp>
      <p:sp>
        <p:nvSpPr>
          <p:cNvPr id="10" name="Rounded Rectangle 9"/>
          <p:cNvSpPr/>
          <p:nvPr/>
        </p:nvSpPr>
        <p:spPr>
          <a:xfrm>
            <a:off x="571500" y="3556000"/>
            <a:ext cx="5334000" cy="1905000"/>
          </a:xfrm>
          <a:prstGeom prst="roundRect">
            <a:avLst>
              <a:gd name="adj" fmla="val 9333"/>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3900" y="3619500"/>
            <a:ext cx="5029200" cy="1778000"/>
          </a:xfrm>
          <a:prstGeom prst="rect">
            <a:avLst/>
          </a:prstGeom>
          <a:noFill/>
        </p:spPr>
        <p:txBody>
          <a:bodyPr wrap="square" lIns="0" rIns="0" tIns="0" bIns="0" anchor="ctr">
            <a:spAutoFit/>
          </a:bodyPr>
          <a:lstStyle/>
          <a:p>
            <a:pPr algn="l">
              <a:lnSpc>
                <a:spcPct val="115000"/>
              </a:lnSpc>
            </a:pPr>
            <a:r>
              <a:rPr sz="2100" b="1">
                <a:solidFill>
                  <a:srgbClr val="E3A21A"/>
                </a:solidFill>
                <a:latin typeface="Tahoma"/>
              </a:rPr>
              <a:t>ทำไม่ได้ / จำกัด</a:t>
            </a:r>
          </a:p>
          <a:p>
            <a:pPr algn="l">
              <a:lnSpc>
                <a:spcPct val="115000"/>
              </a:lnSpc>
            </a:pPr>
            <a:r>
              <a:rPr sz="2100" b="1">
                <a:solidFill>
                  <a:srgbClr val="F2F6EE"/>
                </a:solidFill>
                <a:latin typeface="Tahoma"/>
              </a:rPr>
              <a:t>วัดสารรายชนิดไม่ได้</a:t>
            </a:r>
          </a:p>
          <a:p>
            <a:pPr algn="l">
              <a:lnSpc>
                <a:spcPct val="115000"/>
              </a:lnSpc>
            </a:pPr>
            <a:r>
              <a:rPr sz="2100" b="1">
                <a:solidFill>
                  <a:srgbClr val="F2F6EE"/>
                </a:solidFill>
                <a:latin typeface="Tahoma"/>
              </a:rPr>
              <a:t>แยกทุเรียนอ่อนจากกลิ่น ยังไม่มีหลักฐาน</a:t>
            </a:r>
          </a:p>
        </p:txBody>
      </p:sp>
      <p:sp>
        <p:nvSpPr>
          <p:cNvPr id="12" name="Rounded Rectangle 11"/>
          <p:cNvSpPr/>
          <p:nvPr/>
        </p:nvSpPr>
        <p:spPr>
          <a:xfrm>
            <a:off x="6286500" y="3556000"/>
            <a:ext cx="5334000" cy="1905000"/>
          </a:xfrm>
          <a:prstGeom prst="roundRect">
            <a:avLst>
              <a:gd name="adj" fmla="val 9333"/>
            </a:avLst>
          </a:prstGeom>
          <a:solidFill>
            <a:srgbClr val="3A2C0C"/>
          </a:solidFill>
          <a:ln w="12700">
            <a:solidFill>
              <a:srgbClr val="E3A2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8900" y="3619500"/>
            <a:ext cx="5029200" cy="1778000"/>
          </a:xfrm>
          <a:prstGeom prst="rect">
            <a:avLst/>
          </a:prstGeom>
          <a:noFill/>
        </p:spPr>
        <p:txBody>
          <a:bodyPr wrap="square" lIns="0" rIns="0" tIns="0" bIns="0" anchor="ctr">
            <a:spAutoFit/>
          </a:bodyPr>
          <a:lstStyle/>
          <a:p>
            <a:pPr algn="l">
              <a:lnSpc>
                <a:spcPct val="115000"/>
              </a:lnSpc>
            </a:pPr>
            <a:r>
              <a:rPr sz="2300" b="1">
                <a:solidFill>
                  <a:srgbClr val="E3A21A"/>
                </a:solidFill>
                <a:latin typeface="Tahoma"/>
              </a:rPr>
              <a:t>สถานะ</a:t>
            </a:r>
          </a:p>
          <a:p>
            <a:pPr algn="l">
              <a:lnSpc>
                <a:spcPct val="115000"/>
              </a:lnSpc>
            </a:pPr>
            <a:r>
              <a:rPr sz="2300" b="1">
                <a:solidFill>
                  <a:srgbClr val="F2F6EE"/>
                </a:solidFill>
                <a:latin typeface="Tahoma"/>
              </a:rPr>
              <a:t>Simulation = ค่าจำลอง</a:t>
            </a:r>
          </a:p>
          <a:p>
            <a:pPr algn="l">
              <a:lnSpc>
                <a:spcPct val="115000"/>
              </a:lnSpc>
            </a:pPr>
            <a:r>
              <a:rPr sz="2300" b="1">
                <a:solidFill>
                  <a:srgbClr val="F2F6EE"/>
                </a:solidFill>
                <a:latin typeface="Tahoma"/>
              </a:rPr>
              <a:t>DS-301 / E-100 = ยังไม่สร้าง</a:t>
            </a:r>
          </a:p>
        </p:txBody>
      </p:sp>
      <p:sp>
        <p:nvSpPr>
          <p:cNvPr id="14" name="TextBox 13"/>
          <p:cNvSpPr txBox="1"/>
          <p:nvPr/>
        </p:nvSpPr>
        <p:spPr>
          <a:xfrm>
            <a:off x="571500" y="5651500"/>
            <a:ext cx="11049000" cy="571500"/>
          </a:xfrm>
          <a:prstGeom prst="rect">
            <a:avLst/>
          </a:prstGeom>
          <a:noFill/>
        </p:spPr>
        <p:txBody>
          <a:bodyPr wrap="square" lIns="0" rIns="0" tIns="0" bIns="0" anchor="t">
            <a:spAutoFit/>
          </a:bodyPr>
          <a:lstStyle/>
          <a:p>
            <a:pPr algn="ctr">
              <a:lnSpc>
                <a:spcPct val="115000"/>
              </a:lnSpc>
            </a:pPr>
            <a:r>
              <a:rPr sz="2300" b="1">
                <a:solidFill>
                  <a:srgbClr val="B9D84A"/>
                </a:solidFill>
                <a:latin typeface="Tahoma"/>
              </a:rPr>
              <a:t>ช่องว่างงานวิจัย = โอกาส · พิสูจน์ด้วยต้นแบบก่อน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TextBox 1"/>
          <p:cNvSpPr txBox="1"/>
          <p:nvPr/>
        </p:nvSpPr>
        <p:spPr>
          <a:xfrm>
            <a:off x="571500" y="254000"/>
            <a:ext cx="7620000" cy="254000"/>
          </a:xfrm>
          <a:prstGeom prst="rect">
            <a:avLst/>
          </a:prstGeom>
          <a:noFill/>
        </p:spPr>
        <p:txBody>
          <a:bodyPr wrap="square" lIns="0" rIns="0" tIns="0" bIns="0" anchor="t">
            <a:spAutoFit/>
          </a:bodyPr>
          <a:lstStyle/>
          <a:p>
            <a:pPr algn="l">
              <a:lnSpc>
                <a:spcPct val="115000"/>
              </a:lnSpc>
            </a:pPr>
            <a:r>
              <a:rPr sz="1400" b="0">
                <a:solidFill>
                  <a:srgbClr val="A3B6AA"/>
                </a:solidFill>
                <a:latin typeface="Tahoma"/>
              </a:rPr>
              <a:t>เครื่องดมทุเรียนอัจฉริยะ  ·  </a:t>
            </a:r>
            <a:r>
              <a:rPr sz="1400" b="0">
                <a:solidFill>
                  <a:srgbClr val="B9D84A"/>
                </a:solidFill>
                <a:latin typeface="Tahoma"/>
              </a:rPr>
              <a:t>ขอคำชี้แนะ</a:t>
            </a:r>
          </a:p>
        </p:txBody>
      </p:sp>
      <p:sp>
        <p:nvSpPr>
          <p:cNvPr id="3" name="TextBox 2"/>
          <p:cNvSpPr txBox="1"/>
          <p:nvPr/>
        </p:nvSpPr>
        <p:spPr>
          <a:xfrm>
            <a:off x="571500" y="558800"/>
            <a:ext cx="9525000" cy="698500"/>
          </a:xfrm>
          <a:prstGeom prst="rect">
            <a:avLst/>
          </a:prstGeom>
          <a:noFill/>
        </p:spPr>
        <p:txBody>
          <a:bodyPr wrap="square" lIns="0" rIns="0" tIns="0" bIns="0" anchor="t">
            <a:spAutoFit/>
          </a:bodyPr>
          <a:lstStyle/>
          <a:p>
            <a:pPr algn="l">
              <a:lnSpc>
                <a:spcPct val="115000"/>
              </a:lnSpc>
            </a:pPr>
            <a:r>
              <a:rPr sz="3500" b="1">
                <a:solidFill>
                  <a:srgbClr val="F2F6EE"/>
                </a:solidFill>
                <a:latin typeface="Tahoma"/>
              </a:rPr>
              <a:t>3 คำถามถึงกรรมการ</a:t>
            </a:r>
          </a:p>
        </p:txBody>
      </p:sp>
      <p:sp>
        <p:nvSpPr>
          <p:cNvPr id="4" name="Rounded Rectangle 3"/>
          <p:cNvSpPr/>
          <p:nvPr/>
        </p:nvSpPr>
        <p:spPr>
          <a:xfrm>
            <a:off x="571500" y="1460500"/>
            <a:ext cx="11049000" cy="1206500"/>
          </a:xfrm>
          <a:prstGeom prst="roundRect">
            <a:avLst>
              <a:gd name="adj" fmla="val 14736"/>
            </a:avLst>
          </a:prstGeom>
          <a:solidFill>
            <a:srgbClr val="172720"/>
          </a:solidFill>
          <a:ln w="12700">
            <a:solidFill>
              <a:srgbClr val="B9D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3900" y="1524000"/>
            <a:ext cx="10744200" cy="1079500"/>
          </a:xfrm>
          <a:prstGeom prst="rect">
            <a:avLst/>
          </a:prstGeom>
          <a:noFill/>
        </p:spPr>
        <p:txBody>
          <a:bodyPr wrap="square" lIns="0" rIns="0" tIns="0" bIns="0" anchor="ctr">
            <a:spAutoFit/>
          </a:bodyPr>
          <a:lstStyle/>
          <a:p>
            <a:pPr algn="l">
              <a:lnSpc>
                <a:spcPct val="115000"/>
              </a:lnSpc>
            </a:pPr>
            <a:r>
              <a:rPr sz="2600" b="1">
                <a:solidFill>
                  <a:srgbClr val="B9D84A"/>
                </a:solidFill>
                <a:latin typeface="Tahoma"/>
              </a:rPr>
              <a:t>1  </a:t>
            </a:r>
            <a:r>
              <a:rPr sz="2600" b="1">
                <a:solidFill>
                  <a:srgbClr val="F2F6EE"/>
                </a:solidFill>
                <a:latin typeface="Tahoma"/>
              </a:rPr>
              <a:t>เริ่มทดสอบ DS-301 ที่ล้ง หรือ E-100 ที่ร้านก่อน?</a:t>
            </a:r>
          </a:p>
        </p:txBody>
      </p:sp>
      <p:sp>
        <p:nvSpPr>
          <p:cNvPr id="6" name="Rounded Rectangle 5"/>
          <p:cNvSpPr/>
          <p:nvPr/>
        </p:nvSpPr>
        <p:spPr>
          <a:xfrm>
            <a:off x="571500" y="2857500"/>
            <a:ext cx="11049000" cy="1206500"/>
          </a:xfrm>
          <a:prstGeom prst="roundRect">
            <a:avLst>
              <a:gd name="adj" fmla="val 14736"/>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2921000"/>
            <a:ext cx="10744200" cy="1079500"/>
          </a:xfrm>
          <a:prstGeom prst="rect">
            <a:avLst/>
          </a:prstGeom>
          <a:noFill/>
        </p:spPr>
        <p:txBody>
          <a:bodyPr wrap="square" lIns="0" rIns="0" tIns="0" bIns="0" anchor="ctr">
            <a:spAutoFit/>
          </a:bodyPr>
          <a:lstStyle/>
          <a:p>
            <a:pPr algn="l">
              <a:lnSpc>
                <a:spcPct val="115000"/>
              </a:lnSpc>
            </a:pPr>
            <a:r>
              <a:rPr sz="2600" b="1">
                <a:solidFill>
                  <a:srgbClr val="B9D84A"/>
                </a:solidFill>
                <a:latin typeface="Tahoma"/>
              </a:rPr>
              <a:t>2  </a:t>
            </a:r>
            <a:r>
              <a:rPr sz="2600" b="1">
                <a:solidFill>
                  <a:srgbClr val="F2F6EE"/>
                </a:solidFill>
                <a:latin typeface="Tahoma"/>
              </a:rPr>
              <a:t>ลงทุนเซนเซอร์ระดับ B ตั้งแต่ต้น หรือพิสูจน์ด้วยชุด A ก่อน?</a:t>
            </a:r>
          </a:p>
        </p:txBody>
      </p:sp>
      <p:sp>
        <p:nvSpPr>
          <p:cNvPr id="8" name="Rounded Rectangle 7"/>
          <p:cNvSpPr/>
          <p:nvPr/>
        </p:nvSpPr>
        <p:spPr>
          <a:xfrm>
            <a:off x="571500" y="4254500"/>
            <a:ext cx="11049000" cy="1206500"/>
          </a:xfrm>
          <a:prstGeom prst="roundRect">
            <a:avLst>
              <a:gd name="adj" fmla="val 14736"/>
            </a:avLst>
          </a:prstGeom>
          <a:solidFill>
            <a:srgbClr val="172720"/>
          </a:solidFill>
          <a:ln w="12700">
            <a:solidFill>
              <a:srgbClr val="2C4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3900" y="4318000"/>
            <a:ext cx="10744200" cy="1079500"/>
          </a:xfrm>
          <a:prstGeom prst="rect">
            <a:avLst/>
          </a:prstGeom>
          <a:noFill/>
        </p:spPr>
        <p:txBody>
          <a:bodyPr wrap="square" lIns="0" rIns="0" tIns="0" bIns="0" anchor="ctr">
            <a:spAutoFit/>
          </a:bodyPr>
          <a:lstStyle/>
          <a:p>
            <a:pPr algn="l">
              <a:lnSpc>
                <a:spcPct val="115000"/>
              </a:lnSpc>
            </a:pPr>
            <a:r>
              <a:rPr sz="2600" b="1">
                <a:solidFill>
                  <a:srgbClr val="B9D84A"/>
                </a:solidFill>
                <a:latin typeface="Tahoma"/>
              </a:rPr>
              <a:t>3  </a:t>
            </a:r>
            <a:r>
              <a:rPr sz="2600" b="1">
                <a:solidFill>
                  <a:srgbClr val="F2F6EE"/>
                </a:solidFill>
                <a:latin typeface="Tahoma"/>
              </a:rPr>
              <a:t>ล้งหรือหน่วยงานไหน ที่เราควรติดต่อเก็บข้อมูลจริง?</a:t>
            </a:r>
          </a:p>
        </p:txBody>
      </p:sp>
      <p:sp>
        <p:nvSpPr>
          <p:cNvPr id="10" name="TextBox 9"/>
          <p:cNvSpPr txBox="1"/>
          <p:nvPr/>
        </p:nvSpPr>
        <p:spPr>
          <a:xfrm>
            <a:off x="571500" y="5715000"/>
            <a:ext cx="11049000" cy="508000"/>
          </a:xfrm>
          <a:prstGeom prst="rect">
            <a:avLst/>
          </a:prstGeom>
          <a:noFill/>
        </p:spPr>
        <p:txBody>
          <a:bodyPr wrap="square" lIns="0" rIns="0" tIns="0" bIns="0" anchor="t">
            <a:spAutoFit/>
          </a:bodyPr>
          <a:lstStyle/>
          <a:p>
            <a:pPr algn="ctr">
              <a:lnSpc>
                <a:spcPct val="115000"/>
              </a:lnSpc>
            </a:pPr>
            <a:r>
              <a:rPr sz="1700" b="0">
                <a:solidFill>
                  <a:srgbClr val="A3B6AA"/>
                </a:solidFill>
                <a:latin typeface="Tahoma"/>
              </a:rPr>
              <a:t>ทีม พี่จร้าาา · สาย IoT &amp; Innovation · ผู้นำเสนอ ณัฐพฤทธ์ เอกประเสริฐ</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914"/>
        </a:solidFill>
        <a:effectLst/>
      </p:bgPr>
    </p:bg>
    <p:spTree>
      <p:nvGrpSpPr>
        <p:cNvPr id="1" name=""/>
        <p:cNvGrpSpPr/>
        <p:nvPr/>
      </p:nvGrpSpPr>
      <p:grpSpPr/>
      <p:sp>
        <p:nvSpPr>
          <p:cNvPr id="2" name="Rounded Rectangle 1"/>
          <p:cNvSpPr/>
          <p:nvPr/>
        </p:nvSpPr>
        <p:spPr>
          <a:xfrm>
            <a:off x="571500" y="571500"/>
            <a:ext cx="5715000" cy="5715000"/>
          </a:xfrm>
          <a:prstGeom prst="roundRect">
            <a:avLst>
              <a:gd name="adj" fmla="val 333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3_qr.png"/>
          <p:cNvPicPr>
            <a:picLocks noChangeAspect="1"/>
          </p:cNvPicPr>
          <p:nvPr/>
        </p:nvPicPr>
        <p:blipFill>
          <a:blip r:embed="rId2"/>
          <a:stretch>
            <a:fillRect/>
          </a:stretch>
        </p:blipFill>
        <p:spPr>
          <a:xfrm>
            <a:off x="762000" y="762000"/>
            <a:ext cx="5334000" cy="5334000"/>
          </a:xfrm>
          <a:prstGeom prst="rect">
            <a:avLst/>
          </a:prstGeom>
        </p:spPr>
      </p:pic>
      <p:sp>
        <p:nvSpPr>
          <p:cNvPr id="4" name="TextBox 3"/>
          <p:cNvSpPr txBox="1"/>
          <p:nvPr/>
        </p:nvSpPr>
        <p:spPr>
          <a:xfrm>
            <a:off x="6604000" y="825500"/>
            <a:ext cx="5016500" cy="1651000"/>
          </a:xfrm>
          <a:prstGeom prst="rect">
            <a:avLst/>
          </a:prstGeom>
          <a:noFill/>
        </p:spPr>
        <p:txBody>
          <a:bodyPr wrap="square" lIns="0" rIns="0" tIns="0" bIns="0" anchor="t">
            <a:spAutoFit/>
          </a:bodyPr>
          <a:lstStyle/>
          <a:p>
            <a:pPr algn="l">
              <a:lnSpc>
                <a:spcPct val="115000"/>
              </a:lnSpc>
            </a:pPr>
            <a:r>
              <a:rPr sz="5000" b="1">
                <a:solidFill>
                  <a:srgbClr val="B9D84A"/>
                </a:solidFill>
                <a:latin typeface="Tahoma"/>
              </a:rPr>
              <a:t>สแกนดู</a:t>
            </a:r>
          </a:p>
          <a:p>
            <a:pPr algn="l">
              <a:lnSpc>
                <a:spcPct val="115000"/>
              </a:lnSpc>
            </a:pPr>
            <a:r>
              <a:rPr sz="5000" b="1">
                <a:solidFill>
                  <a:srgbClr val="B9D84A"/>
                </a:solidFill>
                <a:latin typeface="Tahoma"/>
              </a:rPr>
              <a:t>ข้อมูลเพิ่มเติม</a:t>
            </a:r>
          </a:p>
        </p:txBody>
      </p:sp>
      <p:sp>
        <p:nvSpPr>
          <p:cNvPr id="5" name="TextBox 4"/>
          <p:cNvSpPr txBox="1"/>
          <p:nvPr/>
        </p:nvSpPr>
        <p:spPr>
          <a:xfrm>
            <a:off x="6604000" y="2794000"/>
            <a:ext cx="5016500" cy="1397000"/>
          </a:xfrm>
          <a:prstGeom prst="rect">
            <a:avLst/>
          </a:prstGeom>
          <a:noFill/>
        </p:spPr>
        <p:txBody>
          <a:bodyPr wrap="square" lIns="0" rIns="0" tIns="0" bIns="0" anchor="t">
            <a:spAutoFit/>
          </a:bodyPr>
          <a:lstStyle/>
          <a:p>
            <a:pPr algn="l">
              <a:lnSpc>
                <a:spcPct val="115000"/>
              </a:lnSpc>
            </a:pPr>
            <a:r>
              <a:rPr sz="2300" b="0">
                <a:solidFill>
                  <a:srgbClr val="F2F6EE"/>
                </a:solidFill>
                <a:latin typeface="Tahoma"/>
              </a:rPr>
              <a:t>Simulation · เครื่อง DS-301 · E-100</a:t>
            </a:r>
          </a:p>
          <a:p>
            <a:pPr algn="l">
              <a:lnSpc>
                <a:spcPct val="115000"/>
              </a:lnSpc>
            </a:pPr>
            <a:r>
              <a:rPr sz="2300" b="0">
                <a:solidFill>
                  <a:srgbClr val="F2F6EE"/>
                </a:solidFill>
                <a:latin typeface="Tahoma"/>
              </a:rPr>
              <a:t>ห้องบ่มทุเรียน · เอกสาร</a:t>
            </a:r>
          </a:p>
        </p:txBody>
      </p:sp>
      <p:sp>
        <p:nvSpPr>
          <p:cNvPr id="6" name="TextBox 5"/>
          <p:cNvSpPr txBox="1"/>
          <p:nvPr/>
        </p:nvSpPr>
        <p:spPr>
          <a:xfrm>
            <a:off x="6604000" y="4445000"/>
            <a:ext cx="5016500" cy="381000"/>
          </a:xfrm>
          <a:prstGeom prst="rect">
            <a:avLst/>
          </a:prstGeom>
          <a:noFill/>
        </p:spPr>
        <p:txBody>
          <a:bodyPr wrap="square" lIns="0" rIns="0" tIns="0" bIns="0" anchor="t">
            <a:spAutoFit/>
          </a:bodyPr>
          <a:lstStyle/>
          <a:p>
            <a:pPr algn="l">
              <a:lnSpc>
                <a:spcPct val="115000"/>
              </a:lnSpc>
            </a:pPr>
            <a:r>
              <a:rPr sz="2000" b="0">
                <a:solidFill>
                  <a:srgbClr val="A3B6AA"/>
                </a:solidFill>
                <a:latin typeface="Tahoma"/>
              </a:rPr>
              <a:t>moolek02.github.io/e-nose-hub</a:t>
            </a:r>
          </a:p>
        </p:txBody>
      </p:sp>
      <p:sp>
        <p:nvSpPr>
          <p:cNvPr id="7" name="TextBox 6"/>
          <p:cNvSpPr txBox="1"/>
          <p:nvPr/>
        </p:nvSpPr>
        <p:spPr>
          <a:xfrm>
            <a:off x="6604000" y="5143500"/>
            <a:ext cx="5016500" cy="698500"/>
          </a:xfrm>
          <a:prstGeom prst="rect">
            <a:avLst/>
          </a:prstGeom>
          <a:noFill/>
        </p:spPr>
        <p:txBody>
          <a:bodyPr wrap="square" lIns="0" rIns="0" tIns="0" bIns="0" anchor="t">
            <a:spAutoFit/>
          </a:bodyPr>
          <a:lstStyle/>
          <a:p>
            <a:pPr algn="l">
              <a:lnSpc>
                <a:spcPct val="115000"/>
              </a:lnSpc>
            </a:pPr>
            <a:r>
              <a:rPr sz="4000" b="1">
                <a:solidFill>
                  <a:srgbClr val="B9D84A"/>
                </a:solidFill>
                <a:latin typeface="Tahoma"/>
              </a:rPr>
              <a:t>ขอบคุณครับ</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