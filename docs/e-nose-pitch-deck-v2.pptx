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สวัสดีครับ วันนี้เสนอ "เครื่องดมทุเรียนอัจฉริยะ" เครื่องตรวจความสุกและการเสียของทุเรียนจากกลิ่น ด้วยเซนเซอร์แก๊สหลายตัวบน ESP32 มีสองรุ่นคือ DS-300 เครื่องคัดแบบพกพาสำหรับล้ง และ E-100 เครื่องตั้งโต๊ะสำหรับร้านพรีเมียม ทั้งสองรุ่นเป็นแนวคิด ยังไม่ได้สร้างจริง และเรายังไม่มีผลทดลองจากเครื่องของเราเอง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เริ่มจากข่าวจริงครับ พฤษภาคม 2569 เจ้าหน้าที่พบทุเรียนอ่อนกว่า 500 ลูกในล้งแห่งหนึ่งที่จันทบุรี ตอนบรรจุกล่องรอขึ้นรถแล้ว ที่ผ่านด่านไปแล้วก็ยังเสี่ยงสุกเกิน ขึ้นรา และถูกตีกลับที่ปลายทาง โดยไม่มีใครรู้ จนกว่าจะเปิดตู้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ทำไมเรื่องนี้ใหญ่ ทุเรียนคือ 72.9 เปอร์เซ็นต์ของผลไม้สดส่งออกของไทยในปี 2567 และปี 2568 ทุเรียนสดไปจีนอย่างเดียวมูลค่า 150,279 ล้านบาท ตัวเลขมาจาก MGR Online, Commerce News Agency และ Nation Thailand ตามที่ระบุในสไลด์ ล็อตเดียวที่เสียทำให้ทั้งตลาดเสียความเชื่อมั่น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วิธีเดิมคือเคาะฟังเสียง นับวันหลังดอกบาน หรือผ่าวัดน้ำหนักแห้ง ซึ่งทำลายผล ลูกละราว 480 ถึง 640 บาท และทำได้แค่สุ่ม NIR และ GC-MS แพงหรือใช้หน้างานไม่ได้ เราค้นงานวิจัยสี่รอบ ยังไม่พบงาน e-nose ที่แยกทุเรียนเน่าจากปกติพร้อมรายงานความแม่นยำ นี่คือช่องว่างและโอกาสของเรา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แนวคิดของเราง่ายๆ ดมก่อนตัด ตัดสินจากกลิ่น ไม่ต้องผ่าผล เครื่องดมกลิ่นผลไม้ด้วยเซนเซอร์แก๊สหลายตัว แล้วบอกเกรดความสุกหรือการเสีย เป็นแผนที่ยังไม่ได้ทดสอบ เรายังไม่มีผลทดลองจากเครื่องของเราเอง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วิธีตัดสินที่วางแผนไว้ เซนเซอร์แต่ละตัวอ่านค่าความต้านทาน Rs ต่อ R0 ที่ลดลงเมื่อมีกลิ่น เรารวมค่าของเซนเซอร์หลายตัวเป็นลายนิ้วมือกลิ่นของลูกนั้น แล้วเทียบกับค่าอ้างอิงของแต่ละเกรดที่ได้จากการสอบเทียบ ถ้าใกล้เกรดใดชัดเจนก็แสดงเกรดนั้น ถ้าก้ำกึ่งหรือห่างจากทุกเกรด แสดงไม่แน่ใจและให้คนตรวจ ภาพแท่งในสไลด์เป็นภาพประกอบ ไม่มีตัวเลข ค่าเกณฑ์จริงต้องได้จากข้อมูลทุเรียนจริงก่อน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 Simulation บนเว็บของทีม ภาพตัด 3 มิติของตัวเครื่อง เห็นห้องดม วาล์ว ห้องเซนเซอร์ ปั๊ม และ ESP32-S3 ปรับสถานะผลไม้จากสดถึงเน่าแล้วอนุภาคแก๊สและกราฟเซนเซอร์เปลี่ยนตาม ตัวเลขทุกตัวเป็นหน่วยสมมติ ไม่ใช่ ppm และไม่ใช่ข้อมูลวัดจริง สแกน QR ท้ายสไลด์เพื่อลองเล่น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ฮาร์ดแวร์ของต้นแบบ ESP32-S3 อ่านเซนเซอร์ TGS2602 และ TGS2603 ผ่าน ADS1115 ส่วน BME688 สองตัว ตัวหนึ่งในห้องเซนเซอร์ อีกตัววัดอากาศอ้างอิง ปั๊มลม 5 โวลต์และวาล์วสามทางสั่งผ่าน MOSFET ลมไหลจากไส้กรองคาร์บอนผ่านวาล์ว ห้องดม ห้องเซนเซอร์ แล้วปั๊มดันออก เป็นผังออกแบบ ยังไม่มีผลวัดจริง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DS-300 คือเครื่องคัดแบบพกพาสำหรับล้ง แนวคิดคือตู้ขนาดกระเป๋าเดินทางราว 70 คูณ 55 คูณ 65 เซนติเมตร มีล้อลากและหูหิ้ว มีห้องดมตรวจทีละลูกผ่านรอบวัดเส้นฐาน สะสมกลิ่น ดม และล้าง แล้วคัดลงลังสี่ช่อง คือ อ่อน สุก สุกเกินหรือเริ่มเสีย และไม่แน่ใจ ส่งคนตรวจ เกรดอ่อนเป็นแนวคิด เพราะยังไม่มีหลักฐานว่าแยกทุเรียนอ่อนจากกลิ่นได้ เครื่องนี้ยังไม่ได้สร้างจริง ไม่ระบุน้ำหนักหรือแบตเตอรี่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E-100 คือเครื่องดมหน้าร้าน เครื่องเล็กวางบนเคาน์เตอร์หรือแผงขาย ให้ลูกค้าเลือกทุเรียนพรีเมียมแล้วดมเช็กทีละลูกก่อนซื้อ ไฟเกรดและผลหันไปทางลูกค้า เพื่อให้ผู้ซื้อมั่นใจขึ้น ใช้ชุดเซนเซอร์เดียวกับ DS-300 เป็นแนวคิด ยังไม่ได้สร้างจริง ไม่ระบุน้ำหนัก แบตเตอรี่ หรือราคา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อีกการใช้งานที่ทีมจำลองไว้คือห้องบ่มทุเรียน ติดเครื่องตรวจที่ผนังห้อง วัดเอทิลีน คาร์บอนไดออกไซด์ อุณหภูมิ และความชื้น และแสดงระดับความสุกของทุเรียนในห้อง สิบลูก ระบบเปิดพัดลมระบายอากาศอัตโนมัติเมื่อค่าเกินเกณฑ์ ภาพนี้เป็นการจำลองทั้งหมด ยังไม่มีข้อมูลวัดจริง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งบประมาณชุดต้นแบบมีสองแบบ ชุดเดิม TGS สองตัวกับ BME688 สองตัว ประมาณ 3,500 บาท ชุดประหยัด MQ-3 MQ-135 และ BME680 ประมาณ 1,400 ถึง 2,100 บาท ราคาจาก Lazada และ allnewstep วันที่ 26 ตุลาคม 2026 ไม่รวมค่าส่ง ไส้กรอง กล่อง และท่อ ชุดประหยัดเสียเซนเซอร์อมีนกำมะถันและตัวอ้างอิงอากาศ ความแม่นยำที่ลดลงตอบเป็นตัวเลขไม่ได้ ยังไม่มีราคาของ DS-300 และ E-100 เต็มเครื่อง ด้านธุรกิจ ลูกค้าหลักคือล้งและผู้ส่งออก ร้านพรีเมียมเป็นกลุ่มทดลองตลาด รายได้จากขายหรือให้เช่าเครื่อง และค่าสมาชิกรายฤดู ซึ่งเป็นข้อเสนอ ยังไม่ได้ทดสอบตลาด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แผนงานสามขั้น ขั้นแรก ต้นแบบชุด A ราว 1,400 ถึง 3,500 บาท เก็บข้อมูลทุเรียนจริง ขั้นสอง ถ้าผลดี เพิ่มเซนเซอร์คุณภาพสูงขึ้น ประมาณ 60,000 ถึง 100,000 บาท ขั้นสาม เพิ่ม NIR และส่งตรวจ GC-MS เป็นเฉลย ตั้งแต่ 1 ถึง 3 แสนบาทขึ้นไป สองขั้นหลังเป็นประมาณการเดิมของทีม ยังไม่ได้ขอใบเสนอราคา แผนทดลอง ดมทุเรียนลูกเดิมทุกวันจนสุกเกิน แบ่งสามคลาส เทียบสองชุดเซนเซอร์ด้วยวิธีเดียวกัน แล้วรายงานตามจริง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ข้อจำกัดที่ต้องบอกตรงๆ ยังไม่มีผลทดลองจากเครื่องของเราเอง จึงไม่อ้างความแม่นยำ ยังไม่ได้ทดสอบกับทุเรียนจริง เซนเซอร์แก๊สราคาถูกวัดสารรายชนิดไม่ได้ และแยกทุเรียนอ่อนจากแก่จากกลิ่นอย่างเดียวยังไม่มีหลักฐาน งานวิจัยส่วนใหญ่เป็นห้องแล็บ Simulation เป็นค่าจำลอง DS-300 และ E-100 ยังไม่ได้สร้างจริง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ทีม พี่จร้าาา สาย IoT &amp; Innovation ในงาน IoTE KMITL 2026 Showcase ผู้นำเสนอคือ ณัฐพฤทธ์ เอกประเสริฐ เราขอคำชี้แนะจากกรรมการสามข้อ หนึ่ง ควรเริ่มทดสอบ DS-300 ที่ล้ง หรือ E-100 ที่ร้านก่อน สอง ควรลงทุนเซนเซอร์ระดับ B ตั้งแต่ต้น หรือพิสูจน์ด้วยชุด A ก่อน สาม มีล้งหรือหน่วยงานไหนที่ควรติดต่อเพื่อเก็บข้อมูลจริง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ขอบคุณครับ สแกน QR เพื่อดูข้อมูลเพิ่มเติม Simulation เครื่อง DS-300 เครื่อง E-100 ห้องบ่มทุเรียน ผังต่อสาย และเอกสารทั้งหมดบนเว็บของทีม ค่าใน Simulation เป็นค่าจำลองทั้งหมด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1079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9D84A"/>
                </a:solidFill>
                <a:latin typeface="Tahoma"/>
              </a:rPr>
              <a:t>IoT (Internet of Things) · IoTE KMITL 2026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587500"/>
            <a:ext cx="11049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>
                <a:solidFill>
                  <a:srgbClr val="F2F6EE"/>
                </a:solidFill>
                <a:latin typeface="Tahoma"/>
              </a:rPr>
              <a:t>เครื่องดมทุเรียนอัจฉริยะ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794000"/>
            <a:ext cx="1016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B9D84A"/>
                </a:solidFill>
                <a:latin typeface="Tahoma"/>
              </a:rPr>
              <a:t>จมูกอิเล็กทรอนิกส์ (e-nose)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937000"/>
            <a:ext cx="11049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F2F6EE"/>
                </a:solidFill>
                <a:latin typeface="Tahoma"/>
              </a:rPr>
              <a:t>รู้ก่อนว่าทุเรียนสุกพอดีหรือเริ่มเสีย — ด้วยจมูกอิเล็กทรอนิกส์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5080000"/>
            <a:ext cx="33020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5143500"/>
            <a:ext cx="2997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B9D84A"/>
                </a:solidFill>
                <a:latin typeface="Tahoma"/>
              </a:rPr>
              <a:t>DS-300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2F6EE"/>
                </a:solidFill>
                <a:latin typeface="Tahoma"/>
              </a:rPr>
              <a:t>เครื่องคัด · พกพา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4000" y="5080000"/>
            <a:ext cx="33020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6400" y="5143500"/>
            <a:ext cx="2997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B9D84A"/>
                </a:solidFill>
                <a:latin typeface="Tahoma"/>
              </a:rPr>
              <a:t>E-100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2F6EE"/>
                </a:solidFill>
                <a:latin typeface="Tahoma"/>
              </a:rPr>
              <a:t>เครื่องดม · หน้าร้าน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6500" y="5194300"/>
            <a:ext cx="4064000" cy="469900"/>
          </a:xfrm>
          <a:prstGeom prst="roundRect">
            <a:avLst>
              <a:gd name="adj" fmla="val 48648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6500" y="5194300"/>
            <a:ext cx="4064000" cy="469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3A21A"/>
                </a:solidFill>
                <a:latin typeface="Tahoma"/>
              </a:rPr>
              <a:t>แนวคิด · ยังไม่ได้สร้างจริง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254750"/>
            <a:ext cx="1104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ทีม พี่จร้าาา · IoTE KMITL 2026 · สาย IoT &amp; Innovation · ผู้นำเสนอ ณัฐพฤทธ์ เอกประเสริฐ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ปัญหา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ถ้าไม่มีใครตรวจ…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B9D84A"/>
                </a:solidFill>
                <a:latin typeface="Tahoma"/>
              </a:rPr>
              <a:t>ข้อมูลจากแหล่งอ้างอิง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333500"/>
            <a:ext cx="6350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1">
                <a:solidFill>
                  <a:srgbClr val="E3A21A"/>
                </a:solidFill>
                <a:latin typeface="Tahoma"/>
              </a:rP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3500" y="2540000"/>
            <a:ext cx="444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2F6EE"/>
                </a:solidFill>
                <a:latin typeface="Tahoma"/>
              </a:rPr>
              <a:t>ลูก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46500"/>
            <a:ext cx="11049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F6EE"/>
                </a:solidFill>
                <a:latin typeface="Tahoma"/>
              </a:rPr>
              <a:t>ทุเรียนอ่อน พบในล้งที่จันทบุรี ตอนบรรจุกล่อง รอขึ้นรถแล้ว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826000"/>
            <a:ext cx="11049000" cy="1016000"/>
          </a:xfrm>
          <a:prstGeom prst="roundRect">
            <a:avLst>
              <a:gd name="adj" fmla="val 175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4826000"/>
            <a:ext cx="11049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2F6EE"/>
                </a:solidFill>
                <a:latin typeface="Tahoma"/>
              </a:rPr>
              <a:t>ที่ผ่านด่านไปได้ ก็ยังเสี่ยงสุกเกิน · ขึ้นรา · ถูกตีกลับ</a:t>
            </a:r>
          </a:p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3A21A"/>
                </a:solidFill>
                <a:latin typeface="Tahoma"/>
              </a:rPr>
              <a:t>โดยไม่มีใครรู้ จนเปิดตู้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09600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ที่มา: Thai PBS — thaipbs.or.th/news/content/505466 (พ.ค. 2569)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ทำไมสำคัญ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สินค้าแสนล้านบาท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B9D84A"/>
                </a:solidFill>
                <a:latin typeface="Tahoma"/>
              </a:rPr>
              <a:t>ข้อมูลจากแหล่งอ้างอิง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460500"/>
            <a:ext cx="5334000" cy="3175000"/>
          </a:xfrm>
          <a:prstGeom prst="roundRect">
            <a:avLst>
              <a:gd name="adj" fmla="val 56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1651000"/>
            <a:ext cx="48260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0" b="1">
                <a:solidFill>
                  <a:srgbClr val="B9D84A"/>
                </a:solidFill>
                <a:latin typeface="Tahoma"/>
              </a:rPr>
              <a:t>72.9%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3175000"/>
            <a:ext cx="482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F2F6EE"/>
                </a:solidFill>
                <a:latin typeface="Tahoma"/>
              </a:rPr>
              <a:t>ของผลไม้สดส่งออกไทย</a:t>
            </a:r>
          </a:p>
          <a:p>
            <a:pPr algn="l">
              <a:lnSpc>
                <a:spcPct val="115000"/>
              </a:lnSpc>
            </a:pPr>
            <a:r>
              <a:rPr sz="2300" b="0">
                <a:solidFill>
                  <a:srgbClr val="F2F6EE"/>
                </a:solidFill>
                <a:latin typeface="Tahoma"/>
              </a:rPr>
              <a:t>คือทุเรียน (ปี 2567)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0" y="1460500"/>
            <a:ext cx="5334000" cy="3175000"/>
          </a:xfrm>
          <a:prstGeom prst="roundRect">
            <a:avLst>
              <a:gd name="adj" fmla="val 56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0500" y="1841500"/>
            <a:ext cx="4826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0" b="1">
                <a:solidFill>
                  <a:srgbClr val="B9D84A"/>
                </a:solidFill>
                <a:latin typeface="Tahoma"/>
              </a:rPr>
              <a:t>150,279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0500" y="3175000"/>
            <a:ext cx="482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F2F6EE"/>
                </a:solidFill>
                <a:latin typeface="Tahoma"/>
              </a:rPr>
              <a:t>ล้านบาท</a:t>
            </a:r>
          </a:p>
          <a:p>
            <a:pPr algn="l">
              <a:lnSpc>
                <a:spcPct val="115000"/>
              </a:lnSpc>
            </a:pPr>
            <a:r>
              <a:rPr sz="2300" b="0">
                <a:solidFill>
                  <a:srgbClr val="F2F6EE"/>
                </a:solidFill>
                <a:latin typeface="Tahoma"/>
              </a:rPr>
              <a:t>ทุเรียนสดไปจีนอย่างเดียว (ปี 2568)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4826000"/>
            <a:ext cx="11049000" cy="762000"/>
          </a:xfrm>
          <a:prstGeom prst="roundRect">
            <a:avLst>
              <a:gd name="adj" fmla="val 23333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826000"/>
            <a:ext cx="11049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2F6EE"/>
                </a:solidFill>
                <a:latin typeface="Tahoma"/>
              </a:rPr>
              <a:t>ล็อตเดียวที่เสีย → ทั้งตลาดเสียความเชื่อมั่น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84200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ที่มา: MGR Online (mgronline.com/business/detail/9680000042916) · Commerce News Agency (commercenewsagency.com/columnist/7677) · Nation Thailand (nationthailand.com/business/trade/40063289)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วิธีเดิม &amp; ช่องว่าง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วิธีเดิม ทำได้แค่สุ่ม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B9D84A"/>
                </a:solidFill>
                <a:latin typeface="Tahoma"/>
              </a:rPr>
              <a:t>ข้อมูลจากแหล่งอ้างอิง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460500"/>
            <a:ext cx="53340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5240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ผ่าวัดน้ำหนักแห้ง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E3A21A"/>
                </a:solidFill>
                <a:latin typeface="Tahoma"/>
              </a:rPr>
              <a:t>ทำลายผล ~480–640 บาท/ลูก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1460500"/>
            <a:ext cx="53340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8900" y="15240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เคาะฟังเสียง · นับวัน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A3B6AA"/>
                </a:solidFill>
                <a:latin typeface="Tahoma"/>
              </a:rPr>
              <a:t>ขึ้นกับทักษะ ไม่บอกสภาพหลังตัด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921000"/>
            <a:ext cx="53340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29845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NIR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A3B6AA"/>
                </a:solidFill>
                <a:latin typeface="Tahoma"/>
              </a:rPr>
              <a:t>แพง · แม่นจำกัด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500" y="2921000"/>
            <a:ext cx="53340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900" y="29845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GC-MS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A3B6AA"/>
                </a:solidFill>
                <a:latin typeface="Tahoma"/>
              </a:rPr>
              <a:t>แม่นสุด แต่ใช้หน้างานไม่ได้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4445000"/>
            <a:ext cx="11049000" cy="1587500"/>
          </a:xfrm>
          <a:prstGeom prst="roundRect">
            <a:avLst>
              <a:gd name="adj" fmla="val 112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500" y="4540250"/>
            <a:ext cx="10541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B9D84A"/>
                </a:solidFill>
                <a:latin typeface="Tahoma"/>
              </a:rPr>
              <a:t>ช่องว่างงานวิจัย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5016500"/>
            <a:ext cx="10541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ค้น 4 รอบ ไม่พบ e-nose ที่แยกทุเรียนเน่า vs ปกติ พร้อมความแม่นยำ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= โอกาสของเรา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19125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ที่มา: LINE Today (มกษ. 3-2567), ISHS · การค้นงานวิจัยของทีม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แนวคิด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ดมก่อนตัด · ไม่ต้องผ่าผล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แผน · ยังไม่ได้ทดสอบ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651000"/>
            <a:ext cx="3302000" cy="2095500"/>
          </a:xfrm>
          <a:prstGeom prst="roundRect">
            <a:avLst>
              <a:gd name="adj" fmla="val 848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714500"/>
            <a:ext cx="2997200" cy="196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9D84A"/>
                </a:solidFill>
                <a:latin typeface="Tahoma"/>
              </a:rPr>
              <a:t>1</a:t>
            </a:r>
          </a:p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2F6EE"/>
                </a:solidFill>
                <a:latin typeface="Tahoma"/>
              </a:rPr>
              <a:t>ดม</a:t>
            </a:r>
          </a:p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3B6AA"/>
                </a:solidFill>
                <a:latin typeface="Tahoma"/>
              </a:rPr>
              <a:t>เซนเซอร์แก๊สหลายตัว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3500" y="2286000"/>
            <a:ext cx="63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8500" y="1651000"/>
            <a:ext cx="3302000" cy="2095500"/>
          </a:xfrm>
          <a:prstGeom prst="roundRect">
            <a:avLst>
              <a:gd name="adj" fmla="val 848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0900" y="1714500"/>
            <a:ext cx="2997200" cy="196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9D84A"/>
                </a:solidFill>
                <a:latin typeface="Tahoma"/>
              </a:rPr>
              <a:t>2</a:t>
            </a:r>
          </a:p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2F6EE"/>
                </a:solidFill>
                <a:latin typeface="Tahoma"/>
              </a:rPr>
              <a:t>อ่าน</a:t>
            </a:r>
          </a:p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3B6AA"/>
                </a:solidFill>
                <a:latin typeface="Tahoma"/>
              </a:rPr>
              <a:t>ลายนิ้วมือกลิ่น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0" y="2286000"/>
            <a:ext cx="63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5500" y="1651000"/>
            <a:ext cx="3175000" cy="2095500"/>
          </a:xfrm>
          <a:prstGeom prst="roundRect">
            <a:avLst>
              <a:gd name="adj" fmla="val 8484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7900" y="1714500"/>
            <a:ext cx="2870200" cy="196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9D84A"/>
                </a:solidFill>
                <a:latin typeface="Tahoma"/>
              </a:rPr>
              <a:t>3</a:t>
            </a:r>
          </a:p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9D84A"/>
                </a:solidFill>
                <a:latin typeface="Tahoma"/>
              </a:rPr>
              <a:t>ตัดสิน</a:t>
            </a:r>
          </a:p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A3B6AA"/>
                </a:solidFill>
                <a:latin typeface="Tahoma"/>
              </a:rPr>
              <a:t>เกรด + ไฟสี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127500"/>
            <a:ext cx="1104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2F6EE"/>
                </a:solidFill>
                <a:latin typeface="Tahoma"/>
              </a:rPr>
              <a:t>ไม่ผ่าผล · ดมได้ทุกลูก · บอกได้ว่า "ไม่แน่ใจ"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5080000"/>
            <a:ext cx="11049000" cy="825500"/>
          </a:xfrm>
          <a:prstGeom prst="roundRect">
            <a:avLst>
              <a:gd name="adj" fmla="val 21538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080000"/>
            <a:ext cx="11049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3A21A"/>
                </a:solidFill>
                <a:latin typeface="Tahoma"/>
              </a:rPr>
              <a:t>ยังไม่มีผลทดลองของเราเอง · ไม่อ้างความแม่นยำ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วิธีตัดสิน (แผน)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ลายนิ้วมือกลิ่น → เทียบเกณฑ์ → เกรด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แผน · ยังไม่ได้ทดสอบ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24000"/>
            <a:ext cx="3556000" cy="2667000"/>
          </a:xfrm>
          <a:prstGeom prst="roundRect">
            <a:avLst>
              <a:gd name="adj" fmla="val 6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61925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B9D84A"/>
                </a:solidFill>
                <a:latin typeface="Tahoma"/>
              </a:rPr>
              <a:t>ลายนิ้วมือกลิ่น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36750"/>
            <a:ext cx="317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Rs/R0 ที่ลดลง ของเซนเซอร์ 3 ตัว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4750" y="2698750"/>
            <a:ext cx="508000" cy="952500"/>
          </a:xfrm>
          <a:prstGeom prst="roundRect">
            <a:avLst>
              <a:gd name="adj" fmla="val 10000"/>
            </a:avLst>
          </a:prstGeom>
          <a:solidFill>
            <a:srgbClr val="B9D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9500" y="3727450"/>
            <a:ext cx="698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A3B6AA"/>
                </a:solidFill>
                <a:latin typeface="Tahoma"/>
              </a:rPr>
              <a:t>TGS2602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3250" y="2952750"/>
            <a:ext cx="508000" cy="698500"/>
          </a:xfrm>
          <a:prstGeom prst="roundRect">
            <a:avLst>
              <a:gd name="adj" fmla="val 10000"/>
            </a:avLst>
          </a:prstGeom>
          <a:solidFill>
            <a:srgbClr val="B9D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000" y="3727450"/>
            <a:ext cx="698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A3B6AA"/>
                </a:solidFill>
                <a:latin typeface="Tahoma"/>
              </a:rPr>
              <a:t>TGS2603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1750" y="2444750"/>
            <a:ext cx="508000" cy="1206500"/>
          </a:xfrm>
          <a:prstGeom prst="roundRect">
            <a:avLst>
              <a:gd name="adj" fmla="val 10000"/>
            </a:avLst>
          </a:prstGeom>
          <a:solidFill>
            <a:srgbClr val="B9D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6500" y="3727450"/>
            <a:ext cx="698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A3B6AA"/>
                </a:solidFill>
                <a:latin typeface="Tahoma"/>
              </a:rPr>
              <a:t>BME688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7500" y="2413000"/>
            <a:ext cx="63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0" y="1524000"/>
            <a:ext cx="3302000" cy="2667000"/>
          </a:xfrm>
          <a:prstGeom prst="roundRect">
            <a:avLst>
              <a:gd name="adj" fmla="val 6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3000" y="1619250"/>
            <a:ext cx="29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B9D84A"/>
                </a:solidFill>
                <a:latin typeface="Tahoma"/>
              </a:rPr>
              <a:t>เทียบเกณฑ์สอบเทียบ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2159000"/>
            <a:ext cx="2921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ใกล้เกรดใดชัดเจน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→ แสดงเกรดนั้น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ก้ำกึ่ง / ห่างทุกเกรด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→ "ไม่แน่ใจ"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4500" y="2413000"/>
            <a:ext cx="63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99500" y="1524000"/>
            <a:ext cx="2921000" cy="571500"/>
          </a:xfrm>
          <a:prstGeom prst="roundRect">
            <a:avLst>
              <a:gd name="adj" fmla="val 31111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900" y="1587500"/>
            <a:ext cx="2616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4CAF50"/>
                </a:solidFill>
                <a:latin typeface="Tahoma"/>
              </a:rPr>
              <a:t>สด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99500" y="2190750"/>
            <a:ext cx="2921000" cy="571500"/>
          </a:xfrm>
          <a:prstGeom prst="roundRect">
            <a:avLst>
              <a:gd name="adj" fmla="val 31111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900" y="2254250"/>
            <a:ext cx="2616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2C230"/>
                </a:solidFill>
                <a:latin typeface="Tahoma"/>
              </a:rPr>
              <a:t>สุก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99500" y="2857500"/>
            <a:ext cx="2921000" cy="571500"/>
          </a:xfrm>
          <a:prstGeom prst="roundRect">
            <a:avLst>
              <a:gd name="adj" fmla="val 31111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900" y="2921000"/>
            <a:ext cx="2616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58A3F"/>
                </a:solidFill>
                <a:latin typeface="Tahoma"/>
              </a:rPr>
              <a:t>เริ่มเน่า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99500" y="3524250"/>
            <a:ext cx="2921000" cy="666750"/>
          </a:xfrm>
          <a:prstGeom prst="roundRect">
            <a:avLst>
              <a:gd name="adj" fmla="val 26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900" y="3587750"/>
            <a:ext cx="261620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5766B"/>
                </a:solidFill>
                <a:latin typeface="Tahoma"/>
              </a:rPr>
              <a:t>เน่า / ไม่แน่ใจ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445000"/>
            <a:ext cx="11049000" cy="1397000"/>
          </a:xfrm>
          <a:prstGeom prst="roundRect">
            <a:avLst>
              <a:gd name="adj" fmla="val 12727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500" y="4540250"/>
            <a:ext cx="10541000" cy="120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2F6EE"/>
                </a:solidFill>
                <a:latin typeface="Tahoma"/>
              </a:rPr>
              <a:t>ภาพแท่งเป็นภาพประกอบ ไม่ใช่ข้อมูลวัดจริง</a:t>
            </a:r>
          </a:p>
          <a:p>
            <a:pPr algn="l">
              <a:lnSpc>
                <a:spcPct val="115000"/>
              </a:lnSpc>
            </a:pPr>
            <a:r>
              <a:rPr sz="2100" b="1">
                <a:solidFill>
                  <a:srgbClr val="F2F6EE"/>
                </a:solidFill>
                <a:latin typeface="Tahoma"/>
              </a:rPr>
              <a:t>เกณฑ์จริงต้องได้จากข้อมูลทุเรียนจริงก่อน (แผนเก็บข้อมูล)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เห็นภายในเครื่อง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SIMULATION · ไม่ใช่ข้อมูลวัดจริง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536700"/>
            <a:ext cx="7442200" cy="4102100"/>
          </a:xfrm>
          <a:prstGeom prst="roundRect">
            <a:avLst>
              <a:gd name="adj" fmla="val 2786"/>
            </a:avLst>
          </a:prstGeom>
          <a:solidFill>
            <a:srgbClr val="0A110D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-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4800"/>
            <a:ext cx="7366000" cy="4025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91500" y="1365250"/>
            <a:ext cx="3429000" cy="1270000"/>
          </a:xfrm>
          <a:prstGeom prst="roundRect">
            <a:avLst>
              <a:gd name="adj" fmla="val 140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3900" y="1428750"/>
            <a:ext cx="3124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B9D84A"/>
                </a:solidFill>
                <a:latin typeface="Tahoma"/>
              </a:rPr>
              <a:t>สด → เน่า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500" y="2825750"/>
            <a:ext cx="3429000" cy="1460500"/>
          </a:xfrm>
          <a:prstGeom prst="roundRect">
            <a:avLst>
              <a:gd name="adj" fmla="val 12173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889250"/>
            <a:ext cx="31242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แก๊สในห้องดม</a:t>
            </a:r>
          </a:p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และกราฟเซนเซอร์</a:t>
            </a:r>
          </a:p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เปลี่ยนตาม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500" y="4476750"/>
            <a:ext cx="3429000" cy="1333500"/>
          </a:xfrm>
          <a:prstGeom prst="roundRect">
            <a:avLst>
              <a:gd name="adj" fmla="val 13333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4540250"/>
            <a:ext cx="3124200" cy="120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3A21A"/>
                </a:solidFill>
                <a:latin typeface="Tahoma"/>
              </a:rPr>
              <a:t>หน่วยสมมติ (a.u.)</a:t>
            </a:r>
          </a:p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3A21A"/>
                </a:solidFill>
                <a:latin typeface="Tahoma"/>
              </a:rPr>
              <a:t>ไม่ใช่ ppm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19125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ภาพจาก moolek02.github.io/e-nose-hub/simulation.html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ฮาร์ดแวร์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ชิ้นส่วนหาซื้อได้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ผังออกแบบ · ยังไม่มีผลวัดจริง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87500"/>
            <a:ext cx="3175000" cy="1016000"/>
          </a:xfrm>
          <a:prstGeom prst="roundRect">
            <a:avLst>
              <a:gd name="adj" fmla="val 175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651000"/>
            <a:ext cx="28702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B9D84A"/>
                </a:solidFill>
                <a:latin typeface="Tahoma"/>
              </a:rPr>
              <a:t>ESP32-S3</a:t>
            </a:r>
          </a:p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2F6EE"/>
                </a:solidFill>
                <a:latin typeface="Tahoma"/>
              </a:rPr>
              <a:t>สมองของเครื่อง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6500" y="1778000"/>
            <a:ext cx="635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500" b="1">
                <a:solidFill>
                  <a:srgbClr val="B9D84A"/>
                </a:solidFill>
                <a:latin typeface="Tahoma"/>
              </a:rPr>
              <a:t>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397000"/>
            <a:ext cx="35560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14605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ADS1115 · ADC 16 บิต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397000"/>
            <a:ext cx="34925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0" y="146050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TGS2602 · TGS2603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1500" y="2286000"/>
            <a:ext cx="35560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3495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BME688 #1 · ห้องเซนเซอร์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2286000"/>
            <a:ext cx="34925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0" y="234950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BME688 #2 · อากาศอ้างอิง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1500" y="3175000"/>
            <a:ext cx="35560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900" y="32385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ปั๊มลม 5V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0" y="3175000"/>
            <a:ext cx="3492500" cy="698500"/>
          </a:xfrm>
          <a:prstGeom prst="roundRect">
            <a:avLst>
              <a:gd name="adj" fmla="val 25454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3238500"/>
            <a:ext cx="31877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วาล์ว 3 ทาง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2857500"/>
            <a:ext cx="3556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B6AA"/>
                </a:solidFill>
                <a:latin typeface="Tahoma"/>
              </a:rPr>
              <a:t>I²C · ปั๊ม/วาล์ว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A3B6AA"/>
                </a:solidFill>
                <a:latin typeface="Tahoma"/>
              </a:rPr>
              <a:t>ผ่าน MOSFET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1275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B9D84A"/>
                </a:solidFill>
                <a:latin typeface="Tahoma"/>
              </a:rPr>
              <a:t>เส้นทางลม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4572000"/>
            <a:ext cx="1905000" cy="889000"/>
          </a:xfrm>
          <a:prstGeom prst="roundRect">
            <a:avLst>
              <a:gd name="adj" fmla="val 2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900" y="4635500"/>
            <a:ext cx="1600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ไส้กรอง คาร์บอน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0" y="4699000"/>
            <a:ext cx="38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7500" y="4572000"/>
            <a:ext cx="1905000" cy="889000"/>
          </a:xfrm>
          <a:prstGeom prst="roundRect">
            <a:avLst>
              <a:gd name="adj" fmla="val 2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9900" y="4635500"/>
            <a:ext cx="1600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วาล์ว 3 ทาง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0" y="4699000"/>
            <a:ext cx="38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43500" y="4572000"/>
            <a:ext cx="1905000" cy="889000"/>
          </a:xfrm>
          <a:prstGeom prst="roundRect">
            <a:avLst>
              <a:gd name="adj" fmla="val 2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5900" y="4635500"/>
            <a:ext cx="1600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ห้องดม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0" y="4699000"/>
            <a:ext cx="38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9500" y="4572000"/>
            <a:ext cx="2095500" cy="889000"/>
          </a:xfrm>
          <a:prstGeom prst="roundRect">
            <a:avLst>
              <a:gd name="adj" fmla="val 2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1900" y="4635500"/>
            <a:ext cx="17907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ห้องเซนเซอร์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4699000"/>
            <a:ext cx="38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B9D84A"/>
                </a:solidFill>
                <a:latin typeface="Tahoma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06000" y="4572000"/>
            <a:ext cx="1714500" cy="889000"/>
          </a:xfrm>
          <a:prstGeom prst="roundRect">
            <a:avLst>
              <a:gd name="adj" fmla="val 2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4635500"/>
            <a:ext cx="14097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ปั๊มลม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651500"/>
            <a:ext cx="1104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A3B6AA"/>
                </a:solidFill>
                <a:latin typeface="Tahoma"/>
              </a:rPr>
              <a:t>ดม: ลมผ่านห้องดม · ล้าง: ลมกรองแล้วล้างห้องเซนเซอร์จนค่ากลับเส้นฐาน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เครื่องรุ่นที่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DS-300 · คัดทีละลูกที่ล้ง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แนวคิด · ยังไม่ได้สร้างจริง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51000"/>
            <a:ext cx="7442200" cy="3867150"/>
          </a:xfrm>
          <a:prstGeom prst="roundRect">
            <a:avLst>
              <a:gd name="adj" fmla="val 2955"/>
            </a:avLst>
          </a:prstGeom>
          <a:solidFill>
            <a:srgbClr val="0A110D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-ds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89100"/>
            <a:ext cx="7366000" cy="37909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91500" y="13652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3900" y="14287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2F6EE"/>
                </a:solidFill>
                <a:latin typeface="Tahoma"/>
              </a:rPr>
              <a:t>ดมทีละลูก → ล้าง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500" y="24447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5082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2F6EE"/>
                </a:solidFill>
                <a:latin typeface="Tahoma"/>
              </a:rPr>
              <a:t>คัดลงลัง 4 ช่อง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500" y="35242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35877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ใช้ที่ลานคัด (ฝ่าย QC)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0" y="4603750"/>
            <a:ext cx="3429000" cy="1206500"/>
          </a:xfrm>
          <a:prstGeom prst="roundRect">
            <a:avLst>
              <a:gd name="adj" fmla="val 14736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8500" y="4667250"/>
            <a:ext cx="31750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3A21A"/>
                </a:solidFill>
                <a:latin typeface="Tahoma"/>
              </a:rPr>
              <a:t>ยังไม่ได้สร้างจริง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3A21A"/>
                </a:solidFill>
                <a:latin typeface="Tahoma"/>
              </a:rPr>
              <a:t>* เกรด "อ่อน" เป็นแนวคิด — ยังไม่มีหลักฐานจากกลิ่น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19125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จำลองบนเว็บ · ขนาดโดยประมาณ (แนวคิด) ~70 × 55 × 65 ซม. · ไม่ระบุน้ำหนัก/แบตเตอรี่/ราคา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เครื่องรุ่นที่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E-100 · ดมก่อนซื้อ ที่หน้าร้าน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แนวคิด · ยังไม่ได้สร้างจริง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25600"/>
            <a:ext cx="7442200" cy="3917950"/>
          </a:xfrm>
          <a:prstGeom prst="roundRect">
            <a:avLst>
              <a:gd name="adj" fmla="val 2917"/>
            </a:avLst>
          </a:prstGeom>
          <a:solidFill>
            <a:srgbClr val="0A110D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-e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63700"/>
            <a:ext cx="7366000" cy="38417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91500" y="13652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3900" y="14287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ลูกค้าเลือกลูก · ดมก่อนจ่าย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500" y="24447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5082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ไฟเกรด 4 สี หันหาลูกค้า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500" y="35242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35877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B9D84A"/>
                </a:solidFill>
                <a:latin typeface="Tahoma"/>
              </a:rPr>
              <a:t>เป้าหมาย: ความเชื่อใจ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0" y="4603750"/>
            <a:ext cx="3429000" cy="1206500"/>
          </a:xfrm>
          <a:prstGeom prst="roundRect">
            <a:avLst>
              <a:gd name="adj" fmla="val 14736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8500" y="4667250"/>
            <a:ext cx="31750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3A21A"/>
                </a:solidFill>
                <a:latin typeface="Tahoma"/>
              </a:rPr>
              <a:t>ยังไม่ได้สร้างจริง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3A21A"/>
                </a:solidFill>
                <a:latin typeface="Tahoma"/>
              </a:rPr>
              <a:t>ใช้ชุดเซนเซอร์เดียวกับ DS-300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19125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จำลองบนเว็บ moolek02.github.io/e-nose-hub/e-100.html · ไม่ระบุน้ำหนัก/แบตเตอรี่/ราคา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ต่อยอด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ห้องบ่มทุเรียน + เครื่องตรวจ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SIMULATION · ไม่ใช่ข้อมูลวัดจริง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63700"/>
            <a:ext cx="7442200" cy="3848100"/>
          </a:xfrm>
          <a:prstGeom prst="roundRect">
            <a:avLst>
              <a:gd name="adj" fmla="val 2970"/>
            </a:avLst>
          </a:prstGeom>
          <a:solidFill>
            <a:srgbClr val="0A110D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-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01800"/>
            <a:ext cx="736600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91500" y="13652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3900" y="14287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วัด เอทิลีน · CO₂ อุณหภูมิ · ความชื้น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500" y="24447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5082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6EE"/>
                </a:solidFill>
                <a:latin typeface="Tahoma"/>
              </a:rPr>
              <a:t>ระดับความสุก 10 ลูก: ดิบ · พร้อมขาย · สุกเกิน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500" y="3524250"/>
            <a:ext cx="3429000" cy="952500"/>
          </a:xfrm>
          <a:prstGeom prst="roundRect">
            <a:avLst>
              <a:gd name="adj" fmla="val 1866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3587750"/>
            <a:ext cx="31242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2F6EE"/>
                </a:solidFill>
                <a:latin typeface="Tahoma"/>
              </a:rPr>
              <a:t>เปิดพัดลมอัตโนมัติ เมื่อเกินเกณฑ์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0" y="4603750"/>
            <a:ext cx="3429000" cy="1206500"/>
          </a:xfrm>
          <a:prstGeom prst="roundRect">
            <a:avLst>
              <a:gd name="adj" fmla="val 14736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8500" y="4667250"/>
            <a:ext cx="31750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3A21A"/>
                </a:solidFill>
                <a:latin typeface="Tahoma"/>
              </a:rPr>
              <a:t>จำลอง · แนวคิด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3A21A"/>
                </a:solidFill>
                <a:latin typeface="Tahoma"/>
              </a:rPr>
              <a:t>ยังไม่มีข้อมูลวัดจริง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19125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ภาพจาก moolek02.github.io/e-nose-hub/durian-ripening-room.html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ต้นทุน &amp; ธุรกิจ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ต้นแบบราคาหลักพัน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B9D84A"/>
                </a:solidFill>
                <a:latin typeface="Tahoma"/>
              </a:rPr>
              <a:t>ราคาเช็ก 26 ต.ค. 2026 · เปลี่ยนได้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460500"/>
            <a:ext cx="3556000" cy="2794000"/>
          </a:xfrm>
          <a:prstGeom prst="roundRect">
            <a:avLst>
              <a:gd name="adj" fmla="val 6363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55575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9D84A"/>
                </a:solidFill>
                <a:latin typeface="Tahoma"/>
              </a:rPr>
              <a:t>ชุดเดิม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68500"/>
            <a:ext cx="317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2F6EE"/>
                </a:solidFill>
                <a:latin typeface="Tahoma"/>
              </a:rPr>
              <a:t>≈ ฿3,500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94000"/>
            <a:ext cx="317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3B6AA"/>
                </a:solidFill>
                <a:latin typeface="Tahoma"/>
              </a:rPr>
              <a:t>TGS2602 + TGS2603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3B6AA"/>
                </a:solidFill>
                <a:latin typeface="Tahoma"/>
              </a:rPr>
              <a:t>+ BME688 ×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1460500"/>
            <a:ext cx="3556000" cy="2794000"/>
          </a:xfrm>
          <a:prstGeom prst="roundRect">
            <a:avLst>
              <a:gd name="adj" fmla="val 6363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500" y="155575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9D84A"/>
                </a:solidFill>
                <a:latin typeface="Tahoma"/>
              </a:rPr>
              <a:t>ชุดประหยัด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500" y="1968500"/>
            <a:ext cx="317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F6EE"/>
                </a:solidFill>
                <a:latin typeface="Tahoma"/>
              </a:rPr>
              <a:t>≈ ฿1,400–2,100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2794000"/>
            <a:ext cx="317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3B6AA"/>
                </a:solidFill>
                <a:latin typeface="Tahoma"/>
              </a:rPr>
              <a:t>MQ-3 + MQ-135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3B6AA"/>
                </a:solidFill>
                <a:latin typeface="Tahoma"/>
              </a:rPr>
              <a:t>+ BME680 ×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4500" y="1460500"/>
            <a:ext cx="35560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6900" y="1524000"/>
            <a:ext cx="3251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9D84A"/>
                </a:solidFill>
                <a:latin typeface="Tahoma"/>
              </a:rPr>
              <a:t>ลูกค้าหลัก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ล้ง/ผู้ส่งออก → DS-300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4500" y="2857500"/>
            <a:ext cx="3556000" cy="1397000"/>
          </a:xfrm>
          <a:prstGeom prst="roundRect">
            <a:avLst>
              <a:gd name="adj" fmla="val 12727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6900" y="2921000"/>
            <a:ext cx="32512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9D84A"/>
                </a:solidFill>
                <a:latin typeface="Tahoma"/>
              </a:rPr>
              <a:t>รายได้ (ข้อเสนอ)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F2F6EE"/>
                </a:solidFill>
                <a:latin typeface="Tahoma"/>
              </a:rPr>
              <a:t>ขาย/ให้เช่าเครื่อง + ค่าสมาชิกรายฤดู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4508500"/>
            <a:ext cx="11049000" cy="1270000"/>
          </a:xfrm>
          <a:prstGeom prst="roundRect">
            <a:avLst>
              <a:gd name="adj" fmla="val 14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500" y="4572000"/>
            <a:ext cx="10541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ชุดประหยัดเสีย TGS2603 และตัวอ้างอิงอากาศ — ความแม่นยำที่ลดลงตอบเป็นตัวเลขไม่ได้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F2F6EE"/>
                </a:solidFill>
                <a:latin typeface="Tahoma"/>
              </a:rPr>
              <a:t>ยังไม่มีราคา DS-300 / E-100 เต็มเครื่อง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09600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ราคา Lazada/allnewstep 26 ต.ค. 2026 · ไม่รวมค่าส่ง ไส้กรอง กล่อง ท่อ · ใช้ ESP8266 ที่มีอยู่ · รายได้ยังไม่ได้ทดสอบตลาด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แผนงาน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พิสูจน์ก่อน แล้วค่อยขยาย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3A21A"/>
                </a:solidFill>
                <a:latin typeface="Tahoma"/>
              </a:rPr>
              <a:t>แผน · ยังไม่ได้ทดสอบ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460500"/>
            <a:ext cx="3556000" cy="1778000"/>
          </a:xfrm>
          <a:prstGeom prst="roundRect">
            <a:avLst>
              <a:gd name="adj" fmla="val 10000"/>
            </a:avLst>
          </a:prstGeom>
          <a:solidFill>
            <a:srgbClr val="22351A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524000"/>
            <a:ext cx="3251200" cy="165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B9D84A"/>
                </a:solidFill>
                <a:latin typeface="Tahoma"/>
              </a:rPr>
              <a:t>ขั้น 1 · ต้นแบบ A</a:t>
            </a:r>
          </a:p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2F6EE"/>
                </a:solidFill>
                <a:latin typeface="Tahoma"/>
              </a:rPr>
              <a:t>≈ ฿1,400–3,500</a:t>
            </a:r>
          </a:p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A3B6AA"/>
                </a:solidFill>
                <a:latin typeface="Tahoma"/>
              </a:rPr>
              <a:t>เก็บข้อมูลทุเรียนจริง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1460500"/>
            <a:ext cx="3556000" cy="1778000"/>
          </a:xfrm>
          <a:prstGeom prst="roundRect">
            <a:avLst>
              <a:gd name="adj" fmla="val 1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900" y="1524000"/>
            <a:ext cx="3251200" cy="165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B9D84A"/>
                </a:solidFill>
                <a:latin typeface="Tahoma"/>
              </a:rPr>
              <a:t>ขั้น 2 · คุณภาพ B</a:t>
            </a:r>
          </a:p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60,000–100,000 บาท*</a:t>
            </a:r>
          </a:p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A3B6AA"/>
                </a:solidFill>
                <a:latin typeface="Tahoma"/>
              </a:rPr>
              <a:t>เซนเซอร์สูงขึ้น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500" y="1460500"/>
            <a:ext cx="3429000" cy="1778000"/>
          </a:xfrm>
          <a:prstGeom prst="roundRect">
            <a:avLst>
              <a:gd name="adj" fmla="val 10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1524000"/>
            <a:ext cx="3124200" cy="165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B9D84A"/>
                </a:solidFill>
                <a:latin typeface="Tahoma"/>
              </a:rPr>
              <a:t>ขั้น 3 · วิจัย/QC C</a:t>
            </a:r>
          </a:p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2F6EE"/>
                </a:solidFill>
                <a:latin typeface="Tahoma"/>
              </a:rPr>
              <a:t>1–3 แสน+ *</a:t>
            </a:r>
          </a:p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A3B6AA"/>
                </a:solidFill>
                <a:latin typeface="Tahoma"/>
              </a:rPr>
              <a:t>NIR + GC-MS เป็นเฉลย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460750"/>
            <a:ext cx="1104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9D84A"/>
                </a:solidFill>
                <a:latin typeface="Tahoma"/>
              </a:rPr>
              <a:t>แผนทดลองขั้น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937000"/>
            <a:ext cx="20955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4000500"/>
            <a:ext cx="17907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อุ่นเซนเซอร์</a:t>
            </a:r>
          </a:p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ให้เส้นฐานนิ่ง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4000" y="3937000"/>
            <a:ext cx="20955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6400" y="4000500"/>
            <a:ext cx="17907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ทดสอบกลิ่นง่าย</a:t>
            </a:r>
          </a:p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เอทานอล กล้วย มะม่วง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6500" y="3937000"/>
            <a:ext cx="20955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8900" y="4000500"/>
            <a:ext cx="17907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ดมทุเรียนลูกเดิม</a:t>
            </a:r>
          </a:p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ทุกวัน จนสุกเกิน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9000" y="3937000"/>
            <a:ext cx="20955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1400" y="4000500"/>
            <a:ext cx="17907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เทียบ 2 ชุดเซนเซอร์</a:t>
            </a:r>
          </a:p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วิธีเดียวกัน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1500" y="3937000"/>
            <a:ext cx="2095500" cy="1270000"/>
          </a:xfrm>
          <a:prstGeom prst="roundRect">
            <a:avLst>
              <a:gd name="adj" fmla="val 14000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3900" y="4000500"/>
            <a:ext cx="17907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2F6EE"/>
                </a:solidFill>
                <a:latin typeface="Tahoma"/>
              </a:rPr>
              <a:t>รายงานตามจริง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0"/>
            <a:ext cx="1104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3B6AA"/>
                </a:solidFill>
                <a:latin typeface="Tahoma"/>
              </a:rPr>
              <a:t>* ประมาณการเดิมของทีม ยังไม่ได้ขอใบเสนอราคา · ไม่เดาความแม่นยำล่วงหน้า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ข้อจำกัด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พูดตรงๆ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3048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3A1A16"/>
          </a:solidFill>
          <a:ln w="12700">
            <a:solidFill>
              <a:srgbClr val="E57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500" y="3048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5766B"/>
                </a:solidFill>
                <a:latin typeface="Tahoma"/>
              </a:rPr>
              <a:t>ข้อจำกัด · พูดตรงๆ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460500"/>
            <a:ext cx="5334000" cy="1905000"/>
          </a:xfrm>
          <a:prstGeom prst="roundRect">
            <a:avLst>
              <a:gd name="adj" fmla="val 9333"/>
            </a:avLst>
          </a:prstGeom>
          <a:solidFill>
            <a:srgbClr val="3A1A16"/>
          </a:solidFill>
          <a:ln w="12700">
            <a:solidFill>
              <a:srgbClr val="E57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524000"/>
            <a:ext cx="5029200" cy="177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E5766B"/>
                </a:solidFill>
                <a:latin typeface="Tahoma"/>
              </a:rPr>
              <a:t>ยังไม่มี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ผลทดลองจากเครื่องของเราเอง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A3B6AA"/>
                </a:solidFill>
                <a:latin typeface="Tahoma"/>
              </a:rPr>
              <a:t>→ ไม่อ้างความแม่นยำ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1460500"/>
            <a:ext cx="5334000" cy="1905000"/>
          </a:xfrm>
          <a:prstGeom prst="roundRect">
            <a:avLst>
              <a:gd name="adj" fmla="val 9333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8900" y="1524000"/>
            <a:ext cx="5029200" cy="177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E3A21A"/>
                </a:solidFill>
                <a:latin typeface="Tahoma"/>
              </a:rPr>
              <a:t>ยังไม่ได้พิสูจน์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ยังไม่ได้ทดสอบกับทุเรียนจริง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556000"/>
            <a:ext cx="5334000" cy="1905000"/>
          </a:xfrm>
          <a:prstGeom prst="roundRect">
            <a:avLst>
              <a:gd name="adj" fmla="val 9333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3619500"/>
            <a:ext cx="5029200" cy="177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E3A21A"/>
                </a:solidFill>
                <a:latin typeface="Tahoma"/>
              </a:rPr>
              <a:t>ทำไม่ได้ / จำกัด</a:t>
            </a:r>
          </a:p>
          <a:p>
            <a:pPr algn="l">
              <a:lnSpc>
                <a:spcPct val="115000"/>
              </a:lnSpc>
            </a:pPr>
            <a:r>
              <a:rPr sz="2100" b="1">
                <a:solidFill>
                  <a:srgbClr val="F2F6EE"/>
                </a:solidFill>
                <a:latin typeface="Tahoma"/>
              </a:rPr>
              <a:t>วัดสารรายชนิดไม่ได้</a:t>
            </a:r>
          </a:p>
          <a:p>
            <a:pPr algn="l">
              <a:lnSpc>
                <a:spcPct val="115000"/>
              </a:lnSpc>
            </a:pPr>
            <a:r>
              <a:rPr sz="2100" b="1">
                <a:solidFill>
                  <a:srgbClr val="F2F6EE"/>
                </a:solidFill>
                <a:latin typeface="Tahoma"/>
              </a:rPr>
              <a:t>แยกทุเรียนอ่อนจากกลิ่น ยังไม่มีหลักฐาน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500" y="3556000"/>
            <a:ext cx="5334000" cy="1905000"/>
          </a:xfrm>
          <a:prstGeom prst="roundRect">
            <a:avLst>
              <a:gd name="adj" fmla="val 9333"/>
            </a:avLst>
          </a:prstGeom>
          <a:solidFill>
            <a:srgbClr val="3A2C0C"/>
          </a:solidFill>
          <a:ln w="12700">
            <a:solidFill>
              <a:srgbClr val="E3A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900" y="3619500"/>
            <a:ext cx="5029200" cy="177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E3A21A"/>
                </a:solidFill>
                <a:latin typeface="Tahoma"/>
              </a:rPr>
              <a:t>สถานะ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Simulation = ค่าจำลอง</a:t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6EE"/>
                </a:solidFill>
                <a:latin typeface="Tahoma"/>
              </a:rPr>
              <a:t>DS-300 / E-100 = ยังไม่สร้าง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651500"/>
            <a:ext cx="1104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B9D84A"/>
                </a:solidFill>
                <a:latin typeface="Tahoma"/>
              </a:rPr>
              <a:t>ช่องว่างงานวิจัย = โอกาส · พิสูจน์ด้วยต้นแบบก่อน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5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B6AA"/>
                </a:solidFill>
                <a:latin typeface="Tahoma"/>
              </a:rPr>
              <a:t>เครื่องดมทุเรียนอัจฉริยะ  ·  </a:t>
            </a:r>
            <a:r>
              <a:rPr sz="1400" b="0">
                <a:solidFill>
                  <a:srgbClr val="B9D84A"/>
                </a:solidFill>
                <a:latin typeface="Tahoma"/>
              </a:rPr>
              <a:t>ขอคำชี้แนะ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588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1">
                <a:solidFill>
                  <a:srgbClr val="F2F6EE"/>
                </a:solidFill>
                <a:latin typeface="Tahoma"/>
              </a:rPr>
              <a:t>3 คำถามถึงกรรมการ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460500"/>
            <a:ext cx="11049000" cy="1206500"/>
          </a:xfrm>
          <a:prstGeom prst="roundRect">
            <a:avLst>
              <a:gd name="adj" fmla="val 14736"/>
            </a:avLst>
          </a:prstGeom>
          <a:solidFill>
            <a:srgbClr val="172720"/>
          </a:solidFill>
          <a:ln w="12700">
            <a:solidFill>
              <a:srgbClr val="B9D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1524000"/>
            <a:ext cx="107442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B9D84A"/>
                </a:solidFill>
                <a:latin typeface="Tahoma"/>
              </a:rPr>
              <a:t>1  </a:t>
            </a:r>
            <a:r>
              <a:rPr sz="2600" b="1">
                <a:solidFill>
                  <a:srgbClr val="F2F6EE"/>
                </a:solidFill>
                <a:latin typeface="Tahoma"/>
              </a:rPr>
              <a:t>เริ่มทดสอบ DS-300 ที่ล้ง หรือ E-100 ที่ร้านก่อน?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857500"/>
            <a:ext cx="11049000" cy="1206500"/>
          </a:xfrm>
          <a:prstGeom prst="roundRect">
            <a:avLst>
              <a:gd name="adj" fmla="val 1473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921000"/>
            <a:ext cx="107442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B9D84A"/>
                </a:solidFill>
                <a:latin typeface="Tahoma"/>
              </a:rPr>
              <a:t>2  </a:t>
            </a:r>
            <a:r>
              <a:rPr sz="2600" b="1">
                <a:solidFill>
                  <a:srgbClr val="F2F6EE"/>
                </a:solidFill>
                <a:latin typeface="Tahoma"/>
              </a:rPr>
              <a:t>ลงทุนเซนเซอร์ระดับ B ตั้งแต่ต้น หรือพิสูจน์ด้วยชุด A ก่อน?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254500"/>
            <a:ext cx="11049000" cy="1206500"/>
          </a:xfrm>
          <a:prstGeom prst="roundRect">
            <a:avLst>
              <a:gd name="adj" fmla="val 14736"/>
            </a:avLst>
          </a:prstGeom>
          <a:solidFill>
            <a:srgbClr val="172720"/>
          </a:solidFill>
          <a:ln w="12700">
            <a:solidFill>
              <a:srgbClr val="2C4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4318000"/>
            <a:ext cx="107442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B9D84A"/>
                </a:solidFill>
                <a:latin typeface="Tahoma"/>
              </a:rPr>
              <a:t>3  </a:t>
            </a:r>
            <a:r>
              <a:rPr sz="2600" b="1">
                <a:solidFill>
                  <a:srgbClr val="F2F6EE"/>
                </a:solidFill>
                <a:latin typeface="Tahoma"/>
              </a:rPr>
              <a:t>ล้งหรือหน่วยงานไหน ที่เราควรติดต่อเก็บข้อมูลจริง?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A3B6AA"/>
                </a:solidFill>
                <a:latin typeface="Tahoma"/>
              </a:rPr>
              <a:t>ทีม พี่จร้าาา · สาย IoT &amp; Innovation · ผู้นำเสนอ ณัฐพฤทธ์ เอกประเสริฐ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71500"/>
            <a:ext cx="5715000" cy="571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3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53340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4000" y="825500"/>
            <a:ext cx="50165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B9D84A"/>
                </a:solidFill>
                <a:latin typeface="Tahoma"/>
              </a:rPr>
              <a:t>สแกนดู</a:t>
            </a:r>
          </a:p>
          <a:p>
            <a:pPr algn="l">
              <a:lnSpc>
                <a:spcPct val="115000"/>
              </a:lnSpc>
            </a:pPr>
            <a:r>
              <a:rPr sz="5000" b="1">
                <a:solidFill>
                  <a:srgbClr val="B9D84A"/>
                </a:solidFill>
                <a:latin typeface="Tahoma"/>
              </a:rPr>
              <a:t>ข้อมูลเพิ่มเติม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0" y="2794000"/>
            <a:ext cx="50165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F2F6EE"/>
                </a:solidFill>
                <a:latin typeface="Tahoma"/>
              </a:rPr>
              <a:t>Simulation · เครื่อง DS-300 · E-100</a:t>
            </a:r>
          </a:p>
          <a:p>
            <a:pPr algn="l">
              <a:lnSpc>
                <a:spcPct val="115000"/>
              </a:lnSpc>
            </a:pPr>
            <a:r>
              <a:rPr sz="2300" b="0">
                <a:solidFill>
                  <a:srgbClr val="F2F6EE"/>
                </a:solidFill>
                <a:latin typeface="Tahoma"/>
              </a:rPr>
              <a:t>ห้องบ่มทุเรียน · เอกสาร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0" y="4445000"/>
            <a:ext cx="501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A3B6AA"/>
                </a:solidFill>
                <a:latin typeface="Tahoma"/>
              </a:rPr>
              <a:t>moolek02.github.io/e-nose-hub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0" y="5143500"/>
            <a:ext cx="5016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B9D84A"/>
                </a:solidFill>
                <a:latin typeface="Tahoma"/>
              </a:rPr>
              <a:t>ขอบคุณครับ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