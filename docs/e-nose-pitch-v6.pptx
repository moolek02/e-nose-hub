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สวัสดีครับ เรานำเสนอ "จมูกแมลงหวี่" ระบบ IoT เฝ้าระวังการสุกและการเสียของทุเรียนส่งออก ด้วยอัลกอริทึม FlyHash ที่เลียนแบบสมองแมลงหวี่ เป้าหมายคือรู้ก่อนผลไม้เสีย ตั้งแต่ล้งจนถึงปลายทาง ตัวเลขในชุดนี้มาจากแหล่งที่อ้างไว้ ราคาที่เช็กจริง หรือค่าจำลอง ยังไม่มีผลทดลองจากเครื่องของเราเอง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จุดเริ่มต้นของปัญหาคือข่าว Thai PBS เมื่อ พฤษภาคม 2569 เจ้าหน้าที่พบทุเรียนอ่อนกว่า 500 ลูกในล้งแห่งหนึ่งที่จันทบุรี ตอนบรรจุกล่องรอขึ้นรถ ทุเรียนที่ผ่านด่านไปแล้วยังเสี่ยงสุกเกิน ขึ้นรา และถูกตีกลับที่ปลายทาง โดยไม่มีใครรู้จนเปิดตู้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ทุเรียนคือสินค้าผลไม้ส่งออกที่ใหญ่ที่สุดของไทย 72.9 เปอร์เซ็นต์ของผลไม้สดส่งออกปี 2567 คิดเป็น 134,007 ล้านบาทจากรวม 183,823 ล้านบาท ปี 2568 ทุเรียนสดไปจีนอย่างเดียว 150,279 ล้านบาท และผลผลิตปี 2569 คาดว่าจะเพิ่มเป็น 1.78 ล้านตัน ผลผลิตที่ล้นทำให้คุณภาพยิ่งมีค่า ชื่อสินค้าอันดับ 2 ถึง 5 ไม่ได้ระบุในเด็คเดิม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ล็อตเดียวที่เสียมีผลมากกว่าแค่ผลไม้ ขายไม่ได้ เสียเงิน เสียชื่อเสียง และเสียความน่าเชื่อถือ ชิปเมนต์ทุเรียนไปจีนเฉลี่ยราว 16 ตัน มูลค่าราว 2.6 ล้านบาท ผู้ที่เจ็บคือเกษตรกร ล้งและผู้ส่งออก และภาพลักษณ์ของประเทศ ค่าเฉลี่ยคำนวณจากข้อมูลปี 2568 ตามที่ระบุในสไลด์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เราเลือกปัญหานี้เพราะผลกระทบสูง เป็นปัญหาที่เงียบ เพราะกลิ่นเปลี่ยนในตู้ปิดสนิทและไม่มีใครวัด IoT แก้ได้ตรงจุดเพราะต้องวัดต่อเนื่องในที่ที่คนไม่อยู่ และทำได้ด้วยทีมเรา โจทย์ของเราคือจะรู้ได้อย่างไรว่าทุเรียนกำลังสุกเร็วผิดปกติหรือเริ่มเสีย โดยไม่ต้องผ่าผล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กลุ่มเป้าหมายหลักคือล้งและผู้ส่งออกทุเรียน เพราะเจ็บปวดที่สุดและจ่ายได้ กลุ่มรองคือบริษัทขนส่งและห้องเย็น ส่วนร้านผลไม้พรีเมียมและขายออนไลน์ใช้เป็นกลุ่มทดลองตลาด เพราะเก็บผลตอบรับได้ง่าย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วิธีที่ใช้กันมานานมีข้อจำกัดทุกวิธี นับวันหลังดอกบานไม่บอกสภาพผลหลังตัด มือตัดเคาะฟังเสียงขึ้นกับทักษะ ผ่าวัดน้ำหนักแห้งต้องทำลายผล ลูกละราว 480 ถึง 640 บาท NIR แพงและความแม่นยังจำกัด GC-MS แม่นที่สุดแต่ใช้หน้างานหรือในตู้ไม่ได้ และ data logger รู้แค่สภาพอากาศในตู้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ทำไมเราใช้จมูกและ FlyHash กลิ่นเปลี่ยนก่อนตาเห็น ผลที่สุกปล่อยสารระเหยมากกว่าผลแก่ราว 4 เท่า ดมได้โดยไม่ทำลายผล ดมได้ทุกลูกทุกล็อต FlyHash เรียนจากตัวอย่างน้อย ไม่ต้องข้อมูลมหาศาลแบบ deep learning ทำงานบนบอร์ดเล็ก และบอกได้ว่าไม่แน่ใจ เรื่องช่องว่าง เราค้นแล้วไม่พบเครื่องที่ครบทุกข้อในเครื่องเดียว งานปี 2025 ทำได้บางส่วน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หลักการของ FlyHash มาจากสมองแมลงหวี่ ตัวรับกลิ่น 50 ชนิดส่งเข้าแอนเทนนัลโลบที่ปรับมาตรฐานและตัดผลความเข้ม ต่อไปยังเคนยอน 2,000 เซลล์ สุ่มรับ 6 ช่องต่อเซลล์ แล้ว APL เก็บแค่ 5 เปอร์เซ็นต์ ได้แท็ก 100 บิต เหมาะกับผลไม้เพราะกลิ่นคล้ายกันได้แท็กคล้ายกัน ไม่สนใจความเข้มข้น เรียนเพิ่มได้ทีละตัวอย่าง และใช้แค่การบวกและการเลือก อ้างอิง Dasgupta 2017 FlyHash กับกลิ่นผลไม้จริงยังเป็นสมมติฐาน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FlyHash Brain Lab คือ mockup ของทีม เป็นสมองแมลงหวี่สามมิติที่ลากหมุนได้ และคำนวณ FlyHash จริงทุกครั้งที่ปรับค่า เลือกกลิ่น ผสมกลิ่น ปรับความเข้มข้นและสัญญาณรบกวน ดูเซลล์เคนยอนที่ทำงานและแท็ก 100 บิต กลิ่นในนี้ผู้ใช้เลือกเอง ยังไม่ใช่ข้อมูลจากเซนเซอร์จริง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ผลไม้เสียไม่ได้ปล่อยสารตัวเดียว งานวิจัยแบ่งสารระเหยเป็นสามกลุ่ม กลุ่มเน่าจากเชื้อรา เช่น styrene ในแอปเปิล กลุ่มหมักจากการขาดออกซิเจน คือ ethanol acetaldehyde และ ethyl acetate และกลุ่มไม่จำเพาะ เช่น ethylene ที่บอกแค่ความสุก ป้ายกำกับ confirmed partial บอกว่าอ่านต้นฉบับถึงระดับไหน รีวิวหลัก Sun และคณะ 2025 สรุปว่าไม่มีสารเดียวที่ยืนยันได้ว่าผลไม้ทุกชนิดเน่า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ทุเรียนสุกก็กลิ่นเปลี่ยน เอสเทอร์เพิ่มจาก 7.8 เป็น 33.4 และสารกำมะถันจาก 0.45 เป็น 3.0 ไมโครลิตรต่อลิตร ตอนเปลี่ยนจากแก่เป็นสุก ไม่ใช่ตอนเน่า ข้อสำคัญคือเซนเซอร์ MOS ราคาถูกไม่มีรุ่นไหนที่ datasheet ระบุ acetaldehyde ethyl acetate หรือ ethylene เราจึงไม่อ่านสารรายตัว แต่ดูรูปแบบของเซนเซอร์หลายตัวและแนวโน้ม VOC รวมตามเวลา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งานที่เกี่ยวข้องและเราต่างอย่างไร e-nose ทุเรียนปี 2010 แยกยังไม่สุก สุก สุกเกินได้ชัดแต่วิเคราะห์บนคอมพิวเตอร์ งานปี 2025 ราคาถูก ใช้ Grove GM series กับ ESP32 ซึ่งคัดจาก 13 รุ่นที่รวม MQ แล้วเลือก GM ตรวจเพลี้ยแป้งกลางแจ้งได้ราว 61 เปอร์เซ็นต์ ตัวเลขนี้คำนวณเองจาก 92 ใน 150 และ 91 ใน 150 เปเปอร์ไม่ได้รายงานค่ารวม ตัวอย่างน้อย ไม่ใช่การเน่า เราค้นแล้วไม่พบงานแยกทุเรียนเน่ากับปกติพร้อม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อุปกรณ์ต้นแบบชุด A อากาศผ่านไส้กรองคาร์บอนและวาล์วสามทางที่สลับดมกับล้าง ห้องดมใส่ผลไม้ ห้องเซนเซอร์มี BME688 และ Figaro ปั๊มลมห้าโวลต์ดูดอากาศ ESP32-S3 กับ ADS1115 อ่านค่าและรัน FlyHash ส่งผ่าน Wi-Fi MQTT ไปแดชบอร์ดและ LINE หนึ่งรอบดมมีสี่ขั้น วัดเส้นฐาน ปิดห้องดมให้กลิ่นสะสม ดม และล้าง ตัวเลขเวลาเป็นแผนของทีม ยังไม่ได้ทดสอบกับเครื่องจริง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วิธีใช้งานต้องง่ายที่สุดสำหรับคนหน้างาน ที่ลานคัด วางผลในห้องดม ปิดฝา กดปุ่มเดียว แล้วดูไฟสี่สี ในตู้คอนเทนเนอร์ เสียบไฟ วางกล่องติดผนังตู้ ปล่อยทิ้งไว้ เครื่องดมเองทุก 15 ถึง 30 นาที แล้วรับแจ้งเตือนใน LINE หลักออกแบบคือปุ่มเดียว ไฟสีอ่านได้จากระยะไกล ข้อความภาษาไทย และสอนเครื่องเพิ่มได้ด้วยการกดตอบใน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นี่คือภาพหน้าจอจาก simulation บนเว็บของเรา ปรับสถานะผลไม้จากสดถึงเน่า แล้วดูแก๊สในห้องดมกับกราฟเซนเซอร์เปลี่ยนตาม ทุกตัวเลขเป็นการจำลอง หน่วยสมมติ ไม่ใช่ข้อมูลวัดจริงจากเครื่อง ลองเล่นได้ที่ลิงก์ในสไลด์สุดท้าย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ความเป็นไปได้แบ่งสามระดับ ระดับ A ต้นแบบทำก่อน งบประมาณจากราคาจริงที่เช็กวันที่ 26 ตุลาคม 2569 ระดับ B และ C เป็นประมาณการเดิมของทีม ยังต้องขอใบเสนอราคา ที่เชื่อว่าทำได้เพราะมีงานปี 2025 และหาชิ้นส่วนได้ แผนทดลองคือเทียบสองชุดเซนเซอร์จากผลไม้ชุดเดียวกัน ด้วย cross-validation เดียวกัน และเราไม่เดาความแม่นยำล่วงหน้า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งบประมาณระดับ A มีสองชุด ชุดเดิมประมาณ 3,500 บาท ชุดประหยัดประมาณ 1,400 ถึง 2,100 บาท ขึ้นกับว่าใช้ BME680 รุ่นราคา 342 หรือ 1,078 บาท ใช้ ESP8266 ที่มีอยู่ ไม่รวมค่าส่ง ไส้กรอง กล่อง และท่อ PTFE ราคาจาก Lazada วันที่ 26 ตุลาคม 2026 ส่วนที่ยังต้องยืนยันคือสัดส่วนที่ติดป้าย partial ชุดประหยัดเสียเซนเซอร์กลุ่มอมีนและกำมะถัน TGS2603 และตัวอ้างอิงอากาศ และ Chiu 2025 คัด MQ ออกแล้วเลือก Grove GM ชุดประหยัดจึงเป็นสมมติฐานที่ต้องทดสอบ ไม่ใช่ทางเลือกที่ปลอดภัย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Business Model Canvas คุณค่าที่เสนอคือรู้ก่อนทุเรียนสุกเกินหรือเสียตั้งแต่ล้งถึงตู้ ไม่ต้องผ่าผล ใช้ง่ายปุ่มเดียว เรียนพันธุ์ใหม่ได้ และบอกได้ว่าไม่แน่ใจ ลูกค้าหลักคือล้งและผู้ส่งออก ช่องทางคือขายตรง ผ่านสำนักงานเกษตรและสหกรณ์ และงานแสดงสินค้าเกษตร โครงสร้างต้นทุนปรับตาม BOM ใหม่ ชุด A ประมาณ 3,500 หรือ 1,400 ถึง 2,100 บาท ส่วนชุด B เป็นประมาณการเดิม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ขยายไปกลุ่มอื่นได้โดยใช้แกนเดิมและเพิ่มแค่โมดูล มะม่วงใช้ชุดทุเรียนได้ทันที ห้องบ่มกล้วยมะละกอเพิ่มเซนเซอร์เอทิลีน โรงรมลำไยเพิ่มเซนเซอร์ SO2 ล้งเงาะลิ้นจี่ลองกองเน้นช่องแอลกอฮอล์และ CO2 ส้มต้องใช้ PID ส่วนมังคุดกลิ่นช่วยได้แค่ตรวจเน่า ความพร้อมเป็นการประเมินของทีม ไม่ใช่ผลทดสอบ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ข้อจำกัดของ prototype ชุด A สิ่งที่ทำไม่ได้ ทำได้แต่ยังจำกัด และยังไม่ได้พิสูจน์ ขอรวมคำเตือนไว้ที่สไลด์นี้ ยังไม่มีผลทดลองจากเครื่องของเรา จึงไม่อ้างความแม่นยำ ยังไม่ได้ทดสอบ FlyHash กับกลิ่นผลไม้จริง ค่าใน simulation เป็นค่าจำลอง ราคาบางรายการยังต้องยืนยัน และงานวิจัยส่วนใหญ่เป็นห้องแล็บ ตัวเลขความเข้มข้นมีน้อย ทำสิ่งที่เป็นไปได้ก่อน พิสูจน์การเฝ้าระวังการสุกและการเสียด้วยชุด A ก่อน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Error check จุดที่อาจผิดพลาดและวิธีที่เครื่องตรวจจับ ความชื้นและอุณหภูมิ ใช้ค่าต่างกับอากาศอ้างอิงชดเชยในโมเดล เซนเซอร์เพี้ยนสะสม ดมกลิ่นมาตรฐานทุกเช้า กลิ่นค้างในท่อ ล็อกไม่ให้ดมลูกถัดไป เซนเซอร์อิ่มตัว เปิดวาล์วเจือจาง เซนเซอร์สองตัวขัดกัน ตอบไม่แน่ใจ กลิ่นที่ไม่เคยเจอ เตือนแยกและขอเฉลย และโมเดลจำลูกแทนความสุก แก้ด้วยเก็บข้อมูลหลายลูกหลายสวนหลายวัน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ขอคำชี้แนะจากกรรมการสี่ข้อ ควรเริ่มทดสอบที่ล้งหรือในตู้คอนเทนเนอร์ก่อน การวางตำแหน่งเฝ้าการสุกและการเสียแทนจับทุเรียนอ่อน ตอบโจทย์ผู้ใช้จริงพอหรือไม่ ควรลงทุนเซนเซอร์ระดับ B ตั้งแต่ต้นหรือพิสูจน์ด้วยชุด A ก่อน และมีหน่วยงานหรือล้งที่ควรติดต่อเพื่อเก็บข้อมูลจริงหรือไม่ แล้วสแกน QR เพื่อลอง simulation โมเดลสามมิติ ผังต่อสาย และ FlyHash Brain Lab ขอบคุณครับ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แหล่งอ้างอิงทั้งหมด ฝั่งซ้ายคือแหล่งจากเด็คเดิมเรื่องปัญหา ตลาด และงานวิจัย ฝั่งขวาคือแหล่งงานวิจัยสารระเหย datasheet และราคาที่ใช้ในส่วนเทคนิคและงบประมาณ ผู้ฟังสามารถขอรายละเอียดเพิ่มได้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ส่วนสำรองสำหรับตอบคำถาม ถ้ามีเวลาเปิดตามที่ถูกถาม ไม่ต้องนำเสนอทั้งหมด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หลักฐานว่า e-nose ใช้กับผลไม้ได้มีอยู่ในงานอื่น งานทุเรียนของ Chiu 2025 ใช้ ESP32 ตรวจเพลี้ยแป้งกลางแจ้งได้ราว 61 เปอร์เซ็นต์ ซึ่งคำนวณเองจาก 92 ใน 150 และ 91 ใน 150 ตัวอย่างน้อยและไม่ใช่การเน่า พีชติดเชื้อมากกว่า 97 เปอร์เซ็นต์ตามบทคัดย่อ และเบอร์รีแยกระดับสุกได้ดี ทั้งหมดเป็นงานห้องทดลอง ไม่ใช่ตัวเลขของเครื่องเรา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ใช้ ESP8266 ที่มีอยู่แทน ESP32-S3 ADC ไม่กระทบเพราะอ่านผ่าน ADS1115 ข้อที่ต้องเช็กคือ RAM ประมาณ 80 กิโลไบต์ ไม่มี PSRAM ไลบรารี BSEC ของ BME688 สองตัวกับ FlyHash บนบอร์ดอาจไม่พอ ถ้าไม่พอให้ส่งค่าดิบไปประมวลผลที่เครื่องอื่นหรือคลาวด์ ราคา 0 บาทเพราะมีอยู่แล้ว และหักออกจากทั้งสองชุดในสไลด์งบประมาณแล้ว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ผังต่อสายใช้ไฟ 5 โวลต์จากอะแดปเตอร์ตัวเดียว ESP32-S3 คุยกับ ADS1115 และ BME688 สองตัวผ่านบัส I2C เส้นเดียว อ่านค่า TGS ผ่าน ADS1115 และสั่งปั๊มกับวาล์วผ่าน MOSFET นี่คือผังที่ออกแบบไว้ ยังไม่มีผลวัดจริง ถ้าใช้ ESP8266 ดูสไลด์ก่อนหน้า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เซนเซอร์ตาม datasheet TGS2602 ไวต่อสารอินทรีย์ระเหยและแอมโมเนีย TGS2603 ไวต่อกลิ่นอมีนและกำมะถัน BME688 วัด VOC และสารกำมะถันเป็น gas resistance ฝั่งชุดประหยัด MQ-3 ไวต่อแอลกอฮอล์ MQ-135 ไวต่อแอมโมเนียและซัลไฟด์ ข้อสำคัญคือ datasheet ไม่ระบุความแม่นยำเป็น ppm และไม่มีรุ่นไหนระบุ acetaldehyde ethyl acetate หรือ ethylene งานทุเรียน Chiu 2025 ใช้ Grove GM series ที่คัดจาก 13 รุ่นรวม MQ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รายการอุปกรณ์และราคาที่ใช้คำนวณงบ ชุดเดิมรวม 3,517.89 บาท ชุดประหยัดรวม 1,384.68 บาท ใช้ ESP8266 ที่มีอยู่ เซนเซอร์แก๊สเป็นส่วนต่างหลัก ส่วนที่ติดป้าย partial ยังต้องยืนยัน ราคา BME680 ฿341.95 มาจากลิสต์ชื่อกำกวม ถ้าใช้รุ่น RS Thailand ที่ยืนยันแล้วราคา 1,078 บาท ชุดประหยัดจะเป็นราว 2,121 บาท ไม่รวมค่าส่ง ไส้กรองคาร์บอน กล่อง ท่อ PTFE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730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554480"/>
            <a:ext cx="6035040" cy="1371600"/>
          </a:xfrm>
          <a:prstGeom prst="rect">
            <a:avLst/>
          </a:prstGeom>
          <a:noFill/>
          <a:ln/>
        </p:spPr>
        <p:txBody>
          <a:bodyPr wrap="square" rtlCol="0"/>
          <a:lstStyle>
            <a:lvl1pPr algn="l" indent="0" marL="0">
              <a:buNone/>
              <a:defRPr lang="en-US" sz="6000" b="1" dirty="0">
                <a:solidFill>
                  <a:srgbClr val="FFFFFF"/>
                </a:solidFill>
                <a:latin typeface="Tahoma" pitchFamily="34" charset="0"/>
                <a:ea typeface="Tahoma" pitchFamily="34" charset="-122"/>
                <a:cs typeface="Tahoma" pitchFamily="34" charset="-120"/>
              </a:defRPr>
            </a:lvl1pPr>
          </a:lstStyle>
          <a:p>
            <a:pPr algn="l" indent="0" marL="0">
              <a:buNone/>
            </a:pPr>
            <a:endParaRPr lang="en-US" sz="6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7301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000" b="1" dirty="0">
                <a:solidFill>
                  <a:srgbClr val="FFFFFF"/>
                </a:solidFill>
                <a:latin typeface="Tahoma" pitchFamily="34" charset="0"/>
                <a:ea typeface="Tahoma" pitchFamily="34" charset="-122"/>
                <a:cs typeface="Tahom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5DFC6"/>
                </a:solidFill>
                <a:latin typeface="Tahoma"/>
                <a:ea typeface="Tahoma"/>
                <a:cs typeface="Tahoma"/>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000" b="1" dirty="0">
                <a:solidFill>
                  <a:srgbClr val="17301F"/>
                </a:solidFill>
                <a:latin typeface="Tahoma" pitchFamily="34" charset="0"/>
                <a:ea typeface="Tahoma" pitchFamily="34" charset="-122"/>
                <a:cs typeface="Tahom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5DFC6"/>
                </a:solidFill>
                <a:latin typeface="Tahoma"/>
                <a:ea typeface="Tahoma"/>
                <a:cs typeface="Tahoma"/>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2" Type="http://schemas.openxmlformats.org/officeDocument/2006/relationships/hyperlink" Target="https://moolek02.github.io/e-nose-hub/" TargetMode="External"/><Relationship Id="rId1" Type="http://schemas.openxmlformats.org/officeDocument/2006/relationships/image" Target="../media/image-23-1.png"/><Relationship Id="rId3" Type="http://schemas.openxmlformats.org/officeDocument/2006/relationships/slideLayout" Target="../slideLayouts/slideLayout3.xml"/><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960120"/>
            <a:ext cx="6400800" cy="365760"/>
          </a:xfrm>
          <a:prstGeom prst="rect">
            <a:avLst/>
          </a:prstGeom>
          <a:noFill/>
          <a:ln/>
        </p:spPr>
        <p:txBody>
          <a:bodyPr wrap="square" lIns="0" tIns="0" rIns="0" bIns="0" rtlCol="0" anchor="t"/>
          <a:lstStyle/>
          <a:p>
            <a:pPr algn="l" indent="0" marL="0">
              <a:buNone/>
            </a:pPr>
            <a:r>
              <a:rPr lang="en-US" sz="1400" b="1" dirty="0">
                <a:solidFill>
                  <a:srgbClr val="F5A742"/>
                </a:solidFill>
                <a:latin typeface="Tahoma" pitchFamily="34" charset="0"/>
                <a:ea typeface="Tahoma" pitchFamily="34" charset="-122"/>
                <a:cs typeface="Tahoma" pitchFamily="34" charset="-120"/>
              </a:rPr>
              <a:t>INTERNET OF THAILAND · IoT TRACK</a:t>
            </a:r>
            <a:endParaRPr lang="en-US" sz="1400" dirty="0"/>
          </a:p>
        </p:txBody>
      </p:sp>
      <p:sp>
        <p:nvSpPr>
          <p:cNvPr id="3" name="Text 0"/>
          <p:cNvSpPr/>
          <p:nvPr>
            <p:ph idx="100" type="title" hasCustomPrompt="1"/>
          </p:nvPr>
        </p:nvSpPr>
        <p:spPr>
          <a:xfrm>
            <a:off x="731520" y="1554480"/>
            <a:ext cx="6035040" cy="1371600"/>
          </a:xfrm>
          <a:prstGeom prst="rect">
            <a:avLst/>
          </a:prstGeom>
          <a:noFill/>
          <a:ln/>
        </p:spPr>
        <p:txBody>
          <a:bodyPr wrap="square" lIns="0" tIns="0" rIns="0" bIns="0" rtlCol="0" anchor="ctr"/>
          <a:lstStyle/>
          <a:p>
            <a:pPr algn="l" indent="0" marL="0">
              <a:buNone/>
            </a:pPr>
            <a:r>
              <a:rPr lang="en-US" sz="6000" b="1" dirty="0">
                <a:solidFill>
                  <a:srgbClr val="FFFFFF"/>
                </a:solidFill>
                <a:latin typeface="Tahoma" pitchFamily="34" charset="0"/>
                <a:ea typeface="Tahoma" pitchFamily="34" charset="-122"/>
                <a:cs typeface="Tahoma" pitchFamily="34" charset="-120"/>
              </a:rPr>
              <a:t>จมูกแมลงหวี่</a:t>
            </a:r>
            <a:endParaRPr lang="en-US" sz="6000" dirty="0"/>
          </a:p>
        </p:txBody>
      </p:sp>
      <p:sp>
        <p:nvSpPr>
          <p:cNvPr id="4" name="Text 2"/>
          <p:cNvSpPr txBox="1"/>
          <p:nvPr/>
        </p:nvSpPr>
        <p:spPr>
          <a:xfrm>
            <a:off x="731520" y="3017520"/>
            <a:ext cx="5943600" cy="1463040"/>
          </a:xfrm>
          <a:prstGeom prst="rect">
            <a:avLst/>
          </a:prstGeom>
          <a:noFill/>
          <a:ln/>
        </p:spPr>
        <p:txBody>
          <a:bodyPr wrap="square" lIns="0" tIns="0" rIns="0" bIns="0" rtlCol="0" anchor="t"/>
          <a:lstStyle/>
          <a:p>
            <a:pPr algn="l" indent="0" marL="0">
              <a:buNone/>
            </a:pPr>
            <a:r>
              <a:rPr lang="en-US" sz="2200" dirty="0">
                <a:solidFill>
                  <a:srgbClr val="D5DFC6"/>
                </a:solidFill>
                <a:latin typeface="Tahoma" pitchFamily="34" charset="0"/>
                <a:ea typeface="Tahoma" pitchFamily="34" charset="-122"/>
                <a:cs typeface="Tahoma" pitchFamily="34" charset="-120"/>
              </a:rPr>
              <a:t>IoT เฝ้าระวังการสุกและการเสียของทุเรียนส่งออก ด้วยอัลกอริทึม FlyHash จากสมองแมลงหวี่</a:t>
            </a:r>
            <a:endParaRPr lang="en-US" sz="2200" dirty="0"/>
          </a:p>
        </p:txBody>
      </p:sp>
      <p:sp>
        <p:nvSpPr>
          <p:cNvPr id="5" name="Text 3"/>
          <p:cNvSpPr txBox="1"/>
          <p:nvPr/>
        </p:nvSpPr>
        <p:spPr>
          <a:xfrm>
            <a:off x="731520" y="4572000"/>
            <a:ext cx="5943600" cy="457200"/>
          </a:xfrm>
          <a:prstGeom prst="rect">
            <a:avLst/>
          </a:prstGeom>
          <a:noFill/>
          <a:ln/>
        </p:spPr>
        <p:txBody>
          <a:bodyPr wrap="square" lIns="0" tIns="0" rIns="0" bIns="0" rtlCol="0" anchor="t"/>
          <a:lstStyle/>
          <a:p>
            <a:pPr algn="l" indent="0" marL="0">
              <a:buNone/>
            </a:pPr>
            <a:r>
              <a:rPr lang="en-US" sz="2000" dirty="0">
                <a:solidFill>
                  <a:srgbClr val="F5A742"/>
                </a:solidFill>
                <a:latin typeface="Tahoma" pitchFamily="34" charset="0"/>
                <a:ea typeface="Tahoma" pitchFamily="34" charset="-122"/>
                <a:cs typeface="Tahoma" pitchFamily="34" charset="-120"/>
              </a:rPr>
              <a:t>รู้ก่อนผลไม้เสีย ตั้งแต่ล้งจนถึงปลายทาง</a:t>
            </a:r>
            <a:endParaRPr lang="en-US" sz="2000" dirty="0"/>
          </a:p>
        </p:txBody>
      </p:sp>
      <p:sp>
        <p:nvSpPr>
          <p:cNvPr id="6" name="Text 4"/>
          <p:cNvSpPr txBox="1"/>
          <p:nvPr/>
        </p:nvSpPr>
        <p:spPr>
          <a:xfrm>
            <a:off x="731520" y="5943600"/>
            <a:ext cx="5943600" cy="365760"/>
          </a:xfrm>
          <a:prstGeom prst="rect">
            <a:avLst/>
          </a:prstGeom>
          <a:noFill/>
          <a:ln/>
        </p:spPr>
        <p:txBody>
          <a:bodyPr wrap="square" lIns="0" tIns="0" rIns="0" bIns="0" rtlCol="0" anchor="t"/>
          <a:lstStyle/>
          <a:p>
            <a:pPr algn="l" indent="0" marL="0">
              <a:buNone/>
            </a:pPr>
            <a:r>
              <a:rPr lang="en-US" sz="1400" dirty="0">
                <a:solidFill>
                  <a:srgbClr val="D5DFC6"/>
                </a:solidFill>
                <a:latin typeface="Tahoma" pitchFamily="34" charset="0"/>
                <a:ea typeface="Tahoma" pitchFamily="34" charset="-122"/>
                <a:cs typeface="Tahoma" pitchFamily="34" charset="-120"/>
              </a:rPr>
              <a:t>ผู้นำเสนอ: ณัฐพฤทธ์ เอกประเสริฐ</a:t>
            </a:r>
            <a:endParaRPr lang="en-US" sz="1400" dirty="0"/>
          </a:p>
        </p:txBody>
      </p:sp>
      <p:pic>
        <p:nvPicPr>
          <p:cNvPr id="7" name="Image 0" descr="ภาพจำลอง 3 มิติของเครื่อง e-nose">    </p:cNvPr>
          <p:cNvPicPr>
            <a:picLocks noChangeAspect="1"/>
          </p:cNvPicPr>
          <p:nvPr/>
        </p:nvPicPr>
        <p:blipFill>
          <a:blip r:embed="rId1"/>
          <a:stretch>
            <a:fillRect/>
          </a:stretch>
        </p:blipFill>
        <p:spPr>
          <a:xfrm>
            <a:off x="7086600" y="1691640"/>
            <a:ext cx="4572000" cy="2231136"/>
          </a:xfrm>
          <a:prstGeom prst="rect">
            <a:avLst/>
          </a:prstGeom>
        </p:spPr>
      </p:pic>
      <p:sp>
        <p:nvSpPr>
          <p:cNvPr id="8" name="Shape 5"/>
          <p:cNvSpPr/>
          <p:nvPr/>
        </p:nvSpPr>
        <p:spPr>
          <a:xfrm>
            <a:off x="7086600" y="4114800"/>
            <a:ext cx="2377440" cy="310896"/>
          </a:xfrm>
          <a:prstGeom prst="roundRect">
            <a:avLst>
              <a:gd name="adj" fmla="val 50000"/>
            </a:avLst>
          </a:prstGeom>
          <a:solidFill>
            <a:srgbClr val="FFF3D4"/>
          </a:solidFill>
          <a:ln/>
        </p:spPr>
      </p:sp>
      <p:sp>
        <p:nvSpPr>
          <p:cNvPr id="9" name="Text 6"/>
          <p:cNvSpPr txBox="1"/>
          <p:nvPr/>
        </p:nvSpPr>
        <p:spPr>
          <a:xfrm>
            <a:off x="7086600" y="4114800"/>
            <a:ext cx="2377440" cy="310896"/>
          </a:xfrm>
          <a:prstGeom prst="rect">
            <a:avLst/>
          </a:prstGeom>
          <a:noFill/>
          <a:ln/>
        </p:spPr>
        <p:txBody>
          <a:bodyPr wrap="square" lIns="0" tIns="0" rIns="0" bIns="0" rtlCol="0" anchor="ctr"/>
          <a:lstStyle/>
          <a:p>
            <a:pPr algn="ctr" indent="0" marL="0">
              <a:buNone/>
            </a:pPr>
            <a:r>
              <a:rPr lang="en-US" sz="1200" b="1" dirty="0">
                <a:solidFill>
                  <a:srgbClr val="7A4F00"/>
                </a:solidFill>
                <a:latin typeface="Tahoma" pitchFamily="34" charset="0"/>
                <a:ea typeface="Tahoma" pitchFamily="34" charset="-122"/>
                <a:cs typeface="Tahoma" pitchFamily="34" charset="-120"/>
              </a:rPr>
              <a:t>SIMULATION · ไม่ใช่ค่าจริง</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Tahoma" pitchFamily="34" charset="0"/>
                <a:ea typeface="Tahoma" pitchFamily="34" charset="-122"/>
                <a:cs typeface="Tahoma" pitchFamily="34" charset="-120"/>
              </a:rPr>
              <a:t>ความเป็นมาของปัญหา</a:t>
            </a:r>
            <a:endParaRPr lang="en-US" sz="3000" dirty="0"/>
          </a:p>
        </p:txBody>
      </p:sp>
      <p:sp>
        <p:nvSpPr>
          <p:cNvPr id="3" name="Text 1"/>
          <p:cNvSpPr txBox="1"/>
          <p:nvPr/>
        </p:nvSpPr>
        <p:spPr>
          <a:xfrm>
            <a:off x="548640" y="1371600"/>
            <a:ext cx="10972800" cy="1828800"/>
          </a:xfrm>
          <a:prstGeom prst="rect">
            <a:avLst/>
          </a:prstGeom>
          <a:noFill/>
          <a:ln/>
        </p:spPr>
        <p:txBody>
          <a:bodyPr wrap="square" lIns="0" tIns="0" rIns="0" bIns="0" rtlCol="0" anchor="ctr"/>
          <a:lstStyle/>
          <a:p>
            <a:pPr algn="l" indent="0" marL="0">
              <a:buNone/>
            </a:pPr>
            <a:r>
              <a:rPr lang="en-US" sz="11000" b="1" dirty="0">
                <a:solidFill>
                  <a:srgbClr val="F5A742"/>
                </a:solidFill>
                <a:latin typeface="Tahoma" pitchFamily="34" charset="0"/>
                <a:ea typeface="Tahoma" pitchFamily="34" charset="-122"/>
                <a:cs typeface="Tahoma" pitchFamily="34" charset="-120"/>
              </a:rPr>
              <a:t>500+ ลูก</a:t>
            </a:r>
            <a:endParaRPr lang="en-US" sz="11000" dirty="0"/>
          </a:p>
        </p:txBody>
      </p:sp>
      <p:sp>
        <p:nvSpPr>
          <p:cNvPr id="4" name="Text 2"/>
          <p:cNvSpPr txBox="1"/>
          <p:nvPr/>
        </p:nvSpPr>
        <p:spPr>
          <a:xfrm>
            <a:off x="548640" y="3429000"/>
            <a:ext cx="10789920" cy="1188720"/>
          </a:xfrm>
          <a:prstGeom prst="rect">
            <a:avLst/>
          </a:prstGeom>
          <a:noFill/>
          <a:ln/>
        </p:spPr>
        <p:txBody>
          <a:bodyPr wrap="square" lIns="0" tIns="0" rIns="0" bIns="0" rtlCol="0" anchor="t"/>
          <a:lstStyle/>
          <a:p>
            <a:pPr algn="l" indent="0" marL="0">
              <a:buNone/>
            </a:pPr>
            <a:r>
              <a:rPr lang="en-US" sz="2800" b="1" dirty="0">
                <a:solidFill>
                  <a:srgbClr val="FFFFFF"/>
                </a:solidFill>
                <a:latin typeface="Tahoma" pitchFamily="34" charset="0"/>
                <a:ea typeface="Tahoma" pitchFamily="34" charset="-122"/>
                <a:cs typeface="Tahoma" pitchFamily="34" charset="-120"/>
              </a:rPr>
              <a:t>ทุเรียนอ่อนที่เจ้าหน้าที่พบในล้งแห่งหนึ่งที่จันทบุรี ตอนบรรจุกล่องรอขึ้นรถแล้ว เมื่อ พ.ค. 2569</a:t>
            </a:r>
            <a:endParaRPr lang="en-US" sz="2800" dirty="0"/>
          </a:p>
        </p:txBody>
      </p:sp>
      <p:sp>
        <p:nvSpPr>
          <p:cNvPr id="5" name="Text 3"/>
          <p:cNvSpPr txBox="1"/>
          <p:nvPr/>
        </p:nvSpPr>
        <p:spPr>
          <a:xfrm>
            <a:off x="548640" y="4754880"/>
            <a:ext cx="10789920" cy="1005840"/>
          </a:xfrm>
          <a:prstGeom prst="rect">
            <a:avLst/>
          </a:prstGeom>
          <a:noFill/>
          <a:ln/>
        </p:spPr>
        <p:txBody>
          <a:bodyPr wrap="square" lIns="0" tIns="0" rIns="0" bIns="0" rtlCol="0" anchor="t"/>
          <a:lstStyle/>
          <a:p>
            <a:pPr algn="l" indent="0" marL="0">
              <a:buNone/>
            </a:pPr>
            <a:r>
              <a:rPr lang="en-US" sz="2000" dirty="0">
                <a:solidFill>
                  <a:srgbClr val="D5DFC6"/>
                </a:solidFill>
                <a:latin typeface="Tahoma" pitchFamily="34" charset="0"/>
                <a:ea typeface="Tahoma" pitchFamily="34" charset="-122"/>
                <a:cs typeface="Tahoma" pitchFamily="34" charset="-120"/>
              </a:rPr>
              <a:t>ทุเรียนที่ผ่านด่านไปแล้วยังเสี่ยงต่อ: สุกเกินระหว่างขนส่งหลายวัน ขึ้นรา และถูกตีกลับที่ปลายทาง โดยไม่มีใครรู้จนเปิดตู้</a:t>
            </a:r>
            <a:endParaRPr lang="en-US" sz="2000" dirty="0"/>
          </a:p>
        </p:txBody>
      </p:sp>
      <p:sp>
        <p:nvSpPr>
          <p:cNvPr id="6" name="Text 4"/>
          <p:cNvSpPr txBox="1"/>
          <p:nvPr/>
        </p:nvSpPr>
        <p:spPr>
          <a:xfrm>
            <a:off x="548640" y="6263640"/>
            <a:ext cx="5486400" cy="274320"/>
          </a:xfrm>
          <a:prstGeom prst="rect">
            <a:avLst/>
          </a:prstGeom>
          <a:noFill/>
          <a:ln/>
        </p:spPr>
        <p:txBody>
          <a:bodyPr wrap="square" lIns="0" tIns="0" rIns="0" bIns="0" rtlCol="0" anchor="t"/>
          <a:lstStyle/>
          <a:p>
            <a:pPr algn="l" indent="0" marL="0">
              <a:buNone/>
            </a:pPr>
            <a:r>
              <a:rPr lang="en-US" sz="1200" dirty="0">
                <a:solidFill>
                  <a:srgbClr val="D5DFC6"/>
                </a:solidFill>
                <a:latin typeface="Tahoma" pitchFamily="34" charset="0"/>
                <a:ea typeface="Tahoma" pitchFamily="34" charset="-122"/>
                <a:cs typeface="Tahoma" pitchFamily="34" charset="-120"/>
              </a:rPr>
              <a:t>ที่มา: Thai PBS</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5DFC6"/>
                </a:solidFill>
                <a:latin typeface="Tahoma"/>
                <a:ea typeface="Tahoma"/>
                <a:cs typeface="Tahoma"/>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ทุเรียนคือสินค้าผลไม้ส่งออกที่ใหญ่ที่สุดของไทย</a:t>
            </a:r>
            <a:endParaRPr lang="en-US" sz="3000" dirty="0"/>
          </a:p>
        </p:txBody>
      </p:sp>
      <p:sp>
        <p:nvSpPr>
          <p:cNvPr id="3" name="Text 1"/>
          <p:cNvSpPr txBox="1"/>
          <p:nvPr/>
        </p:nvSpPr>
        <p:spPr>
          <a:xfrm>
            <a:off x="548640" y="1371600"/>
            <a:ext cx="6583680" cy="365760"/>
          </a:xfrm>
          <a:prstGeom prst="rect">
            <a:avLst/>
          </a:prstGeom>
          <a:noFill/>
          <a:ln/>
        </p:spPr>
        <p:txBody>
          <a:bodyPr wrap="square" lIns="0" tIns="0" rIns="0" bIns="0" rtlCol="0" anchor="t"/>
          <a:lstStyle/>
          <a:p>
            <a:pPr algn="l" indent="0" marL="0">
              <a:buNone/>
            </a:pPr>
            <a:r>
              <a:rPr lang="en-US" sz="1600" b="1" dirty="0">
                <a:solidFill>
                  <a:srgbClr val="17301F"/>
                </a:solidFill>
                <a:latin typeface="Tahoma" pitchFamily="34" charset="0"/>
                <a:ea typeface="Tahoma" pitchFamily="34" charset="-122"/>
                <a:cs typeface="Tahoma" pitchFamily="34" charset="-120"/>
              </a:rPr>
              <a:t>มูลค่าส่งออกผลไม้สด ปี 2567 (ล้านบาท)</a:t>
            </a:r>
            <a:endParaRPr lang="en-US" sz="1600" dirty="0"/>
          </a:p>
        </p:txBody>
      </p:sp>
      <p:sp>
        <p:nvSpPr>
          <p:cNvPr id="4" name="Text 2"/>
          <p:cNvSpPr txBox="1"/>
          <p:nvPr/>
        </p:nvSpPr>
        <p:spPr>
          <a:xfrm>
            <a:off x="548640" y="1920240"/>
            <a:ext cx="1280160" cy="502920"/>
          </a:xfrm>
          <a:prstGeom prst="rect">
            <a:avLst/>
          </a:prstGeom>
          <a:noFill/>
          <a:ln/>
        </p:spPr>
        <p:txBody>
          <a:bodyPr wrap="square" lIns="0" tIns="0" rIns="0" bIns="0" rtlCol="0" anchor="ctr"/>
          <a:lstStyle/>
          <a:p>
            <a:pPr algn="l" indent="0" marL="0">
              <a:buNone/>
            </a:pPr>
            <a:r>
              <a:rPr lang="en-US" sz="1600" b="1" dirty="0">
                <a:solidFill>
                  <a:srgbClr val="17301F"/>
                </a:solidFill>
                <a:latin typeface="Tahoma" pitchFamily="34" charset="0"/>
                <a:ea typeface="Tahoma" pitchFamily="34" charset="-122"/>
                <a:cs typeface="Tahoma" pitchFamily="34" charset="-120"/>
              </a:rPr>
              <a:t>ทุเรียน</a:t>
            </a:r>
            <a:endParaRPr lang="en-US" sz="1600" dirty="0"/>
          </a:p>
        </p:txBody>
      </p:sp>
      <p:sp>
        <p:nvSpPr>
          <p:cNvPr id="5" name="Shape 3"/>
          <p:cNvSpPr/>
          <p:nvPr/>
        </p:nvSpPr>
        <p:spPr>
          <a:xfrm>
            <a:off x="1874520" y="1920240"/>
            <a:ext cx="4572000" cy="502920"/>
          </a:xfrm>
          <a:prstGeom prst="roundRect">
            <a:avLst>
              <a:gd name="adj" fmla="val 10909"/>
            </a:avLst>
          </a:prstGeom>
          <a:solidFill>
            <a:srgbClr val="2E6B3E"/>
          </a:solidFill>
          <a:ln/>
        </p:spPr>
      </p:sp>
      <p:sp>
        <p:nvSpPr>
          <p:cNvPr id="6" name="Text 4"/>
          <p:cNvSpPr txBox="1"/>
          <p:nvPr/>
        </p:nvSpPr>
        <p:spPr>
          <a:xfrm>
            <a:off x="1874520" y="1920240"/>
            <a:ext cx="4389120" cy="502920"/>
          </a:xfrm>
          <a:prstGeom prst="rect">
            <a:avLst/>
          </a:prstGeom>
          <a:noFill/>
          <a:ln/>
        </p:spPr>
        <p:txBody>
          <a:bodyPr wrap="square" lIns="0" tIns="0" rIns="0" bIns="0" rtlCol="0" anchor="ctr"/>
          <a:lstStyle/>
          <a:p>
            <a:pPr algn="r" indent="0" marL="0">
              <a:buNone/>
            </a:pPr>
            <a:r>
              <a:rPr lang="en-US" sz="1600" b="1" dirty="0">
                <a:solidFill>
                  <a:srgbClr val="FFFFFF"/>
                </a:solidFill>
                <a:latin typeface="Tahoma" pitchFamily="34" charset="0"/>
                <a:ea typeface="Tahoma" pitchFamily="34" charset="-122"/>
                <a:cs typeface="Tahoma" pitchFamily="34" charset="-120"/>
              </a:rPr>
              <a:t>134,007</a:t>
            </a:r>
            <a:endParaRPr lang="en-US" sz="1600" dirty="0"/>
          </a:p>
        </p:txBody>
      </p:sp>
      <p:sp>
        <p:nvSpPr>
          <p:cNvPr id="7" name="Text 5"/>
          <p:cNvSpPr txBox="1"/>
          <p:nvPr/>
        </p:nvSpPr>
        <p:spPr>
          <a:xfrm>
            <a:off x="548640" y="2743200"/>
            <a:ext cx="1280160" cy="502920"/>
          </a:xfrm>
          <a:prstGeom prst="rect">
            <a:avLst/>
          </a:prstGeom>
          <a:noFill/>
          <a:ln/>
        </p:spPr>
        <p:txBody>
          <a:bodyPr wrap="square" lIns="0" tIns="0" rIns="0" bIns="0" rtlCol="0" anchor="ctr"/>
          <a:lstStyle/>
          <a:p>
            <a:pPr algn="l" indent="0" marL="0">
              <a:buNone/>
            </a:pPr>
            <a:r>
              <a:rPr lang="en-US" sz="1600" dirty="0">
                <a:solidFill>
                  <a:srgbClr val="17301F"/>
                </a:solidFill>
                <a:latin typeface="Tahoma" pitchFamily="34" charset="0"/>
                <a:ea typeface="Tahoma" pitchFamily="34" charset="-122"/>
                <a:cs typeface="Tahoma" pitchFamily="34" charset="-120"/>
              </a:rPr>
              <a:t>อันดับ 2</a:t>
            </a:r>
            <a:endParaRPr lang="en-US" sz="1600" dirty="0"/>
          </a:p>
        </p:txBody>
      </p:sp>
      <p:sp>
        <p:nvSpPr>
          <p:cNvPr id="8" name="Shape 6"/>
          <p:cNvSpPr/>
          <p:nvPr/>
        </p:nvSpPr>
        <p:spPr>
          <a:xfrm>
            <a:off x="1874520" y="2743200"/>
            <a:ext cx="672049" cy="502920"/>
          </a:xfrm>
          <a:prstGeom prst="roundRect">
            <a:avLst>
              <a:gd name="adj" fmla="val 10909"/>
            </a:avLst>
          </a:prstGeom>
          <a:solidFill>
            <a:srgbClr val="9DB8A3"/>
          </a:solidFill>
          <a:ln/>
        </p:spPr>
      </p:sp>
      <p:sp>
        <p:nvSpPr>
          <p:cNvPr id="9" name="Text 7"/>
          <p:cNvSpPr txBox="1"/>
          <p:nvPr/>
        </p:nvSpPr>
        <p:spPr>
          <a:xfrm>
            <a:off x="2683729" y="2743200"/>
            <a:ext cx="1371600" cy="502920"/>
          </a:xfrm>
          <a:prstGeom prst="rect">
            <a:avLst/>
          </a:prstGeom>
          <a:noFill/>
          <a:ln/>
        </p:spPr>
        <p:txBody>
          <a:bodyPr wrap="square" lIns="0" tIns="0" rIns="0" bIns="0" rtlCol="0" anchor="ctr"/>
          <a:lstStyle/>
          <a:p>
            <a:pPr algn="l" indent="0" marL="0">
              <a:buNone/>
            </a:pPr>
            <a:r>
              <a:rPr lang="en-US" sz="1600" dirty="0">
                <a:solidFill>
                  <a:srgbClr val="17301F"/>
                </a:solidFill>
                <a:latin typeface="Tahoma" pitchFamily="34" charset="0"/>
                <a:ea typeface="Tahoma" pitchFamily="34" charset="-122"/>
                <a:cs typeface="Tahoma" pitchFamily="34" charset="-120"/>
              </a:rPr>
              <a:t>19,698</a:t>
            </a:r>
            <a:endParaRPr lang="en-US" sz="1600" dirty="0"/>
          </a:p>
        </p:txBody>
      </p:sp>
      <p:sp>
        <p:nvSpPr>
          <p:cNvPr id="10" name="Text 8"/>
          <p:cNvSpPr txBox="1"/>
          <p:nvPr/>
        </p:nvSpPr>
        <p:spPr>
          <a:xfrm>
            <a:off x="548640" y="3566160"/>
            <a:ext cx="1280160" cy="502920"/>
          </a:xfrm>
          <a:prstGeom prst="rect">
            <a:avLst/>
          </a:prstGeom>
          <a:noFill/>
          <a:ln/>
        </p:spPr>
        <p:txBody>
          <a:bodyPr wrap="square" lIns="0" tIns="0" rIns="0" bIns="0" rtlCol="0" anchor="ctr"/>
          <a:lstStyle/>
          <a:p>
            <a:pPr algn="l" indent="0" marL="0">
              <a:buNone/>
            </a:pPr>
            <a:r>
              <a:rPr lang="en-US" sz="1600" dirty="0">
                <a:solidFill>
                  <a:srgbClr val="17301F"/>
                </a:solidFill>
                <a:latin typeface="Tahoma" pitchFamily="34" charset="0"/>
                <a:ea typeface="Tahoma" pitchFamily="34" charset="-122"/>
                <a:cs typeface="Tahoma" pitchFamily="34" charset="-120"/>
              </a:rPr>
              <a:t>อันดับ 3</a:t>
            </a:r>
            <a:endParaRPr lang="en-US" sz="1600" dirty="0"/>
          </a:p>
        </p:txBody>
      </p:sp>
      <p:sp>
        <p:nvSpPr>
          <p:cNvPr id="11" name="Shape 9"/>
          <p:cNvSpPr/>
          <p:nvPr/>
        </p:nvSpPr>
        <p:spPr>
          <a:xfrm>
            <a:off x="1874520" y="3566160"/>
            <a:ext cx="599549" cy="502920"/>
          </a:xfrm>
          <a:prstGeom prst="roundRect">
            <a:avLst>
              <a:gd name="adj" fmla="val 10909"/>
            </a:avLst>
          </a:prstGeom>
          <a:solidFill>
            <a:srgbClr val="9DB8A3"/>
          </a:solidFill>
          <a:ln/>
        </p:spPr>
      </p:sp>
      <p:sp>
        <p:nvSpPr>
          <p:cNvPr id="12" name="Text 10"/>
          <p:cNvSpPr txBox="1"/>
          <p:nvPr/>
        </p:nvSpPr>
        <p:spPr>
          <a:xfrm>
            <a:off x="2611229" y="3566160"/>
            <a:ext cx="1371600" cy="502920"/>
          </a:xfrm>
          <a:prstGeom prst="rect">
            <a:avLst/>
          </a:prstGeom>
          <a:noFill/>
          <a:ln/>
        </p:spPr>
        <p:txBody>
          <a:bodyPr wrap="square" lIns="0" tIns="0" rIns="0" bIns="0" rtlCol="0" anchor="ctr"/>
          <a:lstStyle/>
          <a:p>
            <a:pPr algn="l" indent="0" marL="0">
              <a:buNone/>
            </a:pPr>
            <a:r>
              <a:rPr lang="en-US" sz="1600" dirty="0">
                <a:solidFill>
                  <a:srgbClr val="17301F"/>
                </a:solidFill>
                <a:latin typeface="Tahoma" pitchFamily="34" charset="0"/>
                <a:ea typeface="Tahoma" pitchFamily="34" charset="-122"/>
                <a:cs typeface="Tahoma" pitchFamily="34" charset="-120"/>
              </a:rPr>
              <a:t>17,573</a:t>
            </a:r>
            <a:endParaRPr lang="en-US" sz="1600" dirty="0"/>
          </a:p>
        </p:txBody>
      </p:sp>
      <p:sp>
        <p:nvSpPr>
          <p:cNvPr id="13" name="Text 11"/>
          <p:cNvSpPr txBox="1"/>
          <p:nvPr/>
        </p:nvSpPr>
        <p:spPr>
          <a:xfrm>
            <a:off x="548640" y="4389120"/>
            <a:ext cx="1280160" cy="502920"/>
          </a:xfrm>
          <a:prstGeom prst="rect">
            <a:avLst/>
          </a:prstGeom>
          <a:noFill/>
          <a:ln/>
        </p:spPr>
        <p:txBody>
          <a:bodyPr wrap="square" lIns="0" tIns="0" rIns="0" bIns="0" rtlCol="0" anchor="ctr"/>
          <a:lstStyle/>
          <a:p>
            <a:pPr algn="l" indent="0" marL="0">
              <a:buNone/>
            </a:pPr>
            <a:r>
              <a:rPr lang="en-US" sz="1600" dirty="0">
                <a:solidFill>
                  <a:srgbClr val="17301F"/>
                </a:solidFill>
                <a:latin typeface="Tahoma" pitchFamily="34" charset="0"/>
                <a:ea typeface="Tahoma" pitchFamily="34" charset="-122"/>
                <a:cs typeface="Tahoma" pitchFamily="34" charset="-120"/>
              </a:rPr>
              <a:t>อันดับ 4</a:t>
            </a:r>
            <a:endParaRPr lang="en-US" sz="1600" dirty="0"/>
          </a:p>
        </p:txBody>
      </p:sp>
      <p:sp>
        <p:nvSpPr>
          <p:cNvPr id="14" name="Shape 12"/>
          <p:cNvSpPr/>
          <p:nvPr/>
        </p:nvSpPr>
        <p:spPr>
          <a:xfrm>
            <a:off x="1874520" y="4389120"/>
            <a:ext cx="259294" cy="502920"/>
          </a:xfrm>
          <a:prstGeom prst="roundRect">
            <a:avLst>
              <a:gd name="adj" fmla="val 21159"/>
            </a:avLst>
          </a:prstGeom>
          <a:solidFill>
            <a:srgbClr val="9DB8A3"/>
          </a:solidFill>
          <a:ln/>
        </p:spPr>
      </p:sp>
      <p:sp>
        <p:nvSpPr>
          <p:cNvPr id="15" name="Text 13"/>
          <p:cNvSpPr txBox="1"/>
          <p:nvPr/>
        </p:nvSpPr>
        <p:spPr>
          <a:xfrm>
            <a:off x="2270974" y="4389120"/>
            <a:ext cx="1371600" cy="502920"/>
          </a:xfrm>
          <a:prstGeom prst="rect">
            <a:avLst/>
          </a:prstGeom>
          <a:noFill/>
          <a:ln/>
        </p:spPr>
        <p:txBody>
          <a:bodyPr wrap="square" lIns="0" tIns="0" rIns="0" bIns="0" rtlCol="0" anchor="ctr"/>
          <a:lstStyle/>
          <a:p>
            <a:pPr algn="l" indent="0" marL="0">
              <a:buNone/>
            </a:pPr>
            <a:r>
              <a:rPr lang="en-US" sz="1600" dirty="0">
                <a:solidFill>
                  <a:srgbClr val="17301F"/>
                </a:solidFill>
                <a:latin typeface="Tahoma" pitchFamily="34" charset="0"/>
                <a:ea typeface="Tahoma" pitchFamily="34" charset="-122"/>
                <a:cs typeface="Tahoma" pitchFamily="34" charset="-120"/>
              </a:rPr>
              <a:t>7,600</a:t>
            </a:r>
            <a:endParaRPr lang="en-US" sz="1600" dirty="0"/>
          </a:p>
        </p:txBody>
      </p:sp>
      <p:sp>
        <p:nvSpPr>
          <p:cNvPr id="16" name="Text 14"/>
          <p:cNvSpPr txBox="1"/>
          <p:nvPr/>
        </p:nvSpPr>
        <p:spPr>
          <a:xfrm>
            <a:off x="548640" y="5212080"/>
            <a:ext cx="1280160" cy="502920"/>
          </a:xfrm>
          <a:prstGeom prst="rect">
            <a:avLst/>
          </a:prstGeom>
          <a:noFill/>
          <a:ln/>
        </p:spPr>
        <p:txBody>
          <a:bodyPr wrap="square" lIns="0" tIns="0" rIns="0" bIns="0" rtlCol="0" anchor="ctr"/>
          <a:lstStyle/>
          <a:p>
            <a:pPr algn="l" indent="0" marL="0">
              <a:buNone/>
            </a:pPr>
            <a:r>
              <a:rPr lang="en-US" sz="1600" dirty="0">
                <a:solidFill>
                  <a:srgbClr val="17301F"/>
                </a:solidFill>
                <a:latin typeface="Tahoma" pitchFamily="34" charset="0"/>
                <a:ea typeface="Tahoma" pitchFamily="34" charset="-122"/>
                <a:cs typeface="Tahoma" pitchFamily="34" charset="-120"/>
              </a:rPr>
              <a:t>อันดับ 5</a:t>
            </a:r>
            <a:endParaRPr lang="en-US" sz="1600" dirty="0"/>
          </a:p>
        </p:txBody>
      </p:sp>
      <p:sp>
        <p:nvSpPr>
          <p:cNvPr id="17" name="Shape 15"/>
          <p:cNvSpPr/>
          <p:nvPr/>
        </p:nvSpPr>
        <p:spPr>
          <a:xfrm>
            <a:off x="1874520" y="5212080"/>
            <a:ext cx="168712" cy="502920"/>
          </a:xfrm>
          <a:prstGeom prst="roundRect">
            <a:avLst>
              <a:gd name="adj" fmla="val 32519"/>
            </a:avLst>
          </a:prstGeom>
          <a:solidFill>
            <a:srgbClr val="9DB8A3"/>
          </a:solidFill>
          <a:ln/>
        </p:spPr>
      </p:sp>
      <p:sp>
        <p:nvSpPr>
          <p:cNvPr id="18" name="Text 16"/>
          <p:cNvSpPr txBox="1"/>
          <p:nvPr/>
        </p:nvSpPr>
        <p:spPr>
          <a:xfrm>
            <a:off x="2180392" y="5212080"/>
            <a:ext cx="1371600" cy="502920"/>
          </a:xfrm>
          <a:prstGeom prst="rect">
            <a:avLst/>
          </a:prstGeom>
          <a:noFill/>
          <a:ln/>
        </p:spPr>
        <p:txBody>
          <a:bodyPr wrap="square" lIns="0" tIns="0" rIns="0" bIns="0" rtlCol="0" anchor="ctr"/>
          <a:lstStyle/>
          <a:p>
            <a:pPr algn="l" indent="0" marL="0">
              <a:buNone/>
            </a:pPr>
            <a:r>
              <a:rPr lang="en-US" sz="1600" dirty="0">
                <a:solidFill>
                  <a:srgbClr val="17301F"/>
                </a:solidFill>
                <a:latin typeface="Tahoma" pitchFamily="34" charset="0"/>
                <a:ea typeface="Tahoma" pitchFamily="34" charset="-122"/>
                <a:cs typeface="Tahoma" pitchFamily="34" charset="-120"/>
              </a:rPr>
              <a:t>4,945</a:t>
            </a:r>
            <a:endParaRPr lang="en-US" sz="1600" dirty="0"/>
          </a:p>
        </p:txBody>
      </p:sp>
      <p:sp>
        <p:nvSpPr>
          <p:cNvPr id="19" name="Shape 17"/>
          <p:cNvSpPr/>
          <p:nvPr/>
        </p:nvSpPr>
        <p:spPr>
          <a:xfrm>
            <a:off x="7498080" y="1371600"/>
            <a:ext cx="4142232" cy="1554480"/>
          </a:xfrm>
          <a:prstGeom prst="roundRect">
            <a:avLst>
              <a:gd name="adj" fmla="val 10588"/>
            </a:avLst>
          </a:prstGeom>
          <a:solidFill>
            <a:srgbClr val="17301F"/>
          </a:solidFill>
          <a:ln/>
        </p:spPr>
      </p:sp>
      <p:sp>
        <p:nvSpPr>
          <p:cNvPr id="20" name="Text 18"/>
          <p:cNvSpPr txBox="1"/>
          <p:nvPr/>
        </p:nvSpPr>
        <p:spPr>
          <a:xfrm>
            <a:off x="7772400" y="1371600"/>
            <a:ext cx="3657600" cy="1554480"/>
          </a:xfrm>
          <a:prstGeom prst="rect">
            <a:avLst/>
          </a:prstGeom>
          <a:noFill/>
          <a:ln/>
        </p:spPr>
        <p:txBody>
          <a:bodyPr wrap="square" lIns="0" tIns="0" rIns="0" bIns="0" rtlCol="0" anchor="ctr"/>
          <a:lstStyle/>
          <a:p>
            <a:pPr algn="l" indent="0" marL="0">
              <a:spcAft>
                <a:spcPts val="600"/>
              </a:spcAft>
              <a:buNone/>
            </a:pPr>
            <a:r>
              <a:rPr lang="en-US" sz="2000" b="1" dirty="0">
                <a:solidFill>
                  <a:srgbClr val="FFFFFF"/>
                </a:solidFill>
                <a:latin typeface="Tahoma" pitchFamily="34" charset="0"/>
                <a:ea typeface="Tahoma" pitchFamily="34" charset="-122"/>
                <a:cs typeface="Tahoma" pitchFamily="34" charset="-120"/>
              </a:rPr>
              <a:t>72.9%</a:t>
            </a:r>
            <a:pPr algn="l" indent="0" marL="0">
              <a:spcAft>
                <a:spcPts val="600"/>
              </a:spcAft>
              <a:buNone/>
            </a:pPr>
            <a:r>
              <a:rPr lang="en-US" sz="2000" b="1" dirty="0">
                <a:solidFill>
                  <a:srgbClr val="FFFFFF"/>
                </a:solidFill>
                <a:latin typeface="Tahoma" pitchFamily="34" charset="0"/>
                <a:ea typeface="Tahoma" pitchFamily="34" charset="-122"/>
                <a:cs typeface="Tahoma" pitchFamily="34" charset="-120"/>
              </a:rPr>
              <a:t> ของผลไม้สดส่งออก</a:t>
            </a:r>
            <a:endParaRPr lang="en-US" sz="2000" dirty="0"/>
          </a:p>
          <a:p>
            <a:pPr algn="l" indent="0" marL="0">
              <a:buNone/>
            </a:pPr>
            <a:r>
              <a:rPr lang="en-US" sz="1600" dirty="0">
                <a:solidFill>
                  <a:srgbClr val="D5DFC6"/>
                </a:solidFill>
                <a:latin typeface="Tahoma" pitchFamily="34" charset="0"/>
                <a:ea typeface="Tahoma" pitchFamily="34" charset="-122"/>
                <a:cs typeface="Tahoma" pitchFamily="34" charset="-120"/>
              </a:rPr>
              <a:t>รวม 183,823 ล้านบาท ปี 2567</a:t>
            </a:r>
            <a:endParaRPr lang="en-US" sz="2000" dirty="0"/>
          </a:p>
        </p:txBody>
      </p:sp>
      <p:sp>
        <p:nvSpPr>
          <p:cNvPr id="21" name="Shape 19"/>
          <p:cNvSpPr/>
          <p:nvPr/>
        </p:nvSpPr>
        <p:spPr>
          <a:xfrm>
            <a:off x="7498080" y="3063240"/>
            <a:ext cx="4142232" cy="1554480"/>
          </a:xfrm>
          <a:prstGeom prst="roundRect">
            <a:avLst>
              <a:gd name="adj" fmla="val 10588"/>
            </a:avLst>
          </a:prstGeom>
          <a:solidFill>
            <a:srgbClr val="EDF2E8"/>
          </a:solidFill>
          <a:ln w="12700">
            <a:solidFill>
              <a:srgbClr val="D5DFCB"/>
            </a:solidFill>
            <a:prstDash val="solid"/>
          </a:ln>
        </p:spPr>
      </p:sp>
      <p:sp>
        <p:nvSpPr>
          <p:cNvPr id="22" name="Text 20"/>
          <p:cNvSpPr txBox="1"/>
          <p:nvPr/>
        </p:nvSpPr>
        <p:spPr>
          <a:xfrm>
            <a:off x="7772400" y="3063240"/>
            <a:ext cx="3657600" cy="1554480"/>
          </a:xfrm>
          <a:prstGeom prst="rect">
            <a:avLst/>
          </a:prstGeom>
          <a:noFill/>
          <a:ln/>
        </p:spPr>
        <p:txBody>
          <a:bodyPr wrap="square" lIns="0" tIns="0" rIns="0" bIns="0" rtlCol="0" anchor="ctr"/>
          <a:lstStyle/>
          <a:p>
            <a:pPr algn="l" indent="0" marL="0">
              <a:spcAft>
                <a:spcPts val="600"/>
              </a:spcAft>
              <a:buNone/>
            </a:pPr>
            <a:r>
              <a:rPr lang="en-US" sz="2800" b="1" dirty="0">
                <a:solidFill>
                  <a:srgbClr val="2E6B3E"/>
                </a:solidFill>
                <a:latin typeface="Tahoma" pitchFamily="34" charset="0"/>
                <a:ea typeface="Tahoma" pitchFamily="34" charset="-122"/>
                <a:cs typeface="Tahoma" pitchFamily="34" charset="-120"/>
              </a:rPr>
              <a:t>150,279</a:t>
            </a:r>
            <a:pPr algn="l" indent="0" marL="0">
              <a:spcAft>
                <a:spcPts val="600"/>
              </a:spcAft>
              <a:buNone/>
            </a:pPr>
            <a:r>
              <a:rPr lang="en-US" sz="2800" b="1" dirty="0">
                <a:solidFill>
                  <a:srgbClr val="2E6B3E"/>
                </a:solidFill>
                <a:latin typeface="Tahoma" pitchFamily="34" charset="0"/>
                <a:ea typeface="Tahoma" pitchFamily="34" charset="-122"/>
                <a:cs typeface="Tahoma" pitchFamily="34" charset="-120"/>
              </a:rPr>
              <a:t> ล้านบาท</a:t>
            </a:r>
            <a:endParaRPr lang="en-US" sz="2800" dirty="0"/>
          </a:p>
          <a:p>
            <a:pPr algn="l" indent="0" marL="0">
              <a:buNone/>
            </a:pPr>
            <a:r>
              <a:rPr lang="en-US" sz="1600" dirty="0">
                <a:solidFill>
                  <a:srgbClr val="56665B"/>
                </a:solidFill>
                <a:latin typeface="Tahoma" pitchFamily="34" charset="0"/>
                <a:ea typeface="Tahoma" pitchFamily="34" charset="-122"/>
                <a:cs typeface="Tahoma" pitchFamily="34" charset="-120"/>
              </a:rPr>
              <a:t>ทุเรียนสดไปจีนอย่างเดียว ปี 2568</a:t>
            </a:r>
            <a:endParaRPr lang="en-US" sz="2800" dirty="0"/>
          </a:p>
        </p:txBody>
      </p:sp>
      <p:sp>
        <p:nvSpPr>
          <p:cNvPr id="23" name="Shape 21"/>
          <p:cNvSpPr/>
          <p:nvPr/>
        </p:nvSpPr>
        <p:spPr>
          <a:xfrm>
            <a:off x="7498080" y="4754880"/>
            <a:ext cx="4142232" cy="1463040"/>
          </a:xfrm>
          <a:prstGeom prst="roundRect">
            <a:avLst>
              <a:gd name="adj" fmla="val 11250"/>
            </a:avLst>
          </a:prstGeom>
          <a:solidFill>
            <a:srgbClr val="EDF2E8"/>
          </a:solidFill>
          <a:ln w="12700">
            <a:solidFill>
              <a:srgbClr val="D5DFCB"/>
            </a:solidFill>
            <a:prstDash val="solid"/>
          </a:ln>
        </p:spPr>
      </p:sp>
      <p:sp>
        <p:nvSpPr>
          <p:cNvPr id="24" name="Text 22"/>
          <p:cNvSpPr txBox="1"/>
          <p:nvPr/>
        </p:nvSpPr>
        <p:spPr>
          <a:xfrm>
            <a:off x="7772400" y="4754880"/>
            <a:ext cx="3657600" cy="1463040"/>
          </a:xfrm>
          <a:prstGeom prst="rect">
            <a:avLst/>
          </a:prstGeom>
          <a:noFill/>
          <a:ln/>
        </p:spPr>
        <p:txBody>
          <a:bodyPr wrap="square" lIns="0" tIns="0" rIns="0" bIns="0" rtlCol="0" anchor="ctr"/>
          <a:lstStyle/>
          <a:p>
            <a:pPr algn="l" indent="0" marL="0">
              <a:spcAft>
                <a:spcPts val="600"/>
              </a:spcAft>
              <a:buNone/>
            </a:pPr>
            <a:r>
              <a:rPr lang="en-US" sz="2400" b="1" dirty="0">
                <a:solidFill>
                  <a:srgbClr val="2E6B3E"/>
                </a:solidFill>
                <a:latin typeface="Tahoma" pitchFamily="34" charset="0"/>
                <a:ea typeface="Tahoma" pitchFamily="34" charset="-122"/>
                <a:cs typeface="Tahoma" pitchFamily="34" charset="-120"/>
              </a:rPr>
              <a:t>1.78 ล้านตัน</a:t>
            </a:r>
            <a:endParaRPr lang="en-US" sz="2400" dirty="0"/>
          </a:p>
          <a:p>
            <a:pPr algn="l" indent="0" marL="0">
              <a:buNone/>
            </a:pPr>
            <a:r>
              <a:rPr lang="en-US" sz="1600" dirty="0">
                <a:solidFill>
                  <a:srgbClr val="56665B"/>
                </a:solidFill>
                <a:latin typeface="Tahoma" pitchFamily="34" charset="0"/>
                <a:ea typeface="Tahoma" pitchFamily="34" charset="-122"/>
                <a:cs typeface="Tahoma" pitchFamily="34" charset="-120"/>
              </a:rPr>
              <a:t>ผลผลิตที่คาดไว้ปี 2569 (+15.71%) ของล้น คุณภาพยิ่งมีค่า</a:t>
            </a:r>
            <a:endParaRPr lang="en-US" sz="2400" dirty="0"/>
          </a:p>
        </p:txBody>
      </p:sp>
      <p:sp>
        <p:nvSpPr>
          <p:cNvPr id="25" name="Text 23"/>
          <p:cNvSpPr txBox="1"/>
          <p:nvPr/>
        </p:nvSpPr>
        <p:spPr>
          <a:xfrm>
            <a:off x="548640" y="6327648"/>
            <a:ext cx="10424160" cy="27432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ทุเรียน 2567 คำนวณจากสัดส่วน 72.9% · มะพร้าวแปลงจาก 217.4 ล้าน USD · ที่มา: MGR Online, Commerce News Agency, Nation Thailand</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Pain point: ทุเรียนเสียหนึ่งล็อต เสียมากกว่าแค่ผลไม้</a:t>
            </a:r>
            <a:endParaRPr lang="en-US" sz="3000" dirty="0"/>
          </a:p>
        </p:txBody>
      </p:sp>
      <p:sp>
        <p:nvSpPr>
          <p:cNvPr id="3" name="Shape 1"/>
          <p:cNvSpPr/>
          <p:nvPr/>
        </p:nvSpPr>
        <p:spPr>
          <a:xfrm>
            <a:off x="548640" y="1371600"/>
            <a:ext cx="2606040" cy="2880360"/>
          </a:xfrm>
          <a:prstGeom prst="roundRect">
            <a:avLst>
              <a:gd name="adj" fmla="val 6316"/>
            </a:avLst>
          </a:prstGeom>
          <a:solidFill>
            <a:srgbClr val="17301F"/>
          </a:solidFill>
          <a:ln/>
        </p:spPr>
      </p:sp>
      <p:sp>
        <p:nvSpPr>
          <p:cNvPr id="4" name="Text 2"/>
          <p:cNvSpPr txBox="1"/>
          <p:nvPr/>
        </p:nvSpPr>
        <p:spPr>
          <a:xfrm>
            <a:off x="749808" y="1481328"/>
            <a:ext cx="2240280" cy="548640"/>
          </a:xfrm>
          <a:prstGeom prst="rect">
            <a:avLst/>
          </a:prstGeom>
          <a:noFill/>
          <a:ln/>
        </p:spPr>
        <p:txBody>
          <a:bodyPr wrap="square" lIns="0" tIns="0" rIns="0" bIns="0" rtlCol="0" anchor="ctr"/>
          <a:lstStyle/>
          <a:p>
            <a:pPr algn="l" indent="0" marL="0">
              <a:buNone/>
            </a:pPr>
            <a:r>
              <a:rPr lang="en-US" sz="2000" b="1" dirty="0">
                <a:solidFill>
                  <a:srgbClr val="F5A742"/>
                </a:solidFill>
                <a:latin typeface="Tahoma" pitchFamily="34" charset="0"/>
                <a:ea typeface="Tahoma" pitchFamily="34" charset="-122"/>
                <a:cs typeface="Tahoma" pitchFamily="34" charset="-120"/>
              </a:rPr>
              <a:t>ขายไม่ได้</a:t>
            </a:r>
            <a:endParaRPr lang="en-US" sz="2000" dirty="0"/>
          </a:p>
        </p:txBody>
      </p:sp>
      <p:sp>
        <p:nvSpPr>
          <p:cNvPr id="5" name="Text 3"/>
          <p:cNvSpPr txBox="1"/>
          <p:nvPr/>
        </p:nvSpPr>
        <p:spPr>
          <a:xfrm>
            <a:off x="749808" y="2103120"/>
            <a:ext cx="2240280" cy="1280160"/>
          </a:xfrm>
          <a:prstGeom prst="rect">
            <a:avLst/>
          </a:prstGeom>
          <a:noFill/>
          <a:ln/>
        </p:spPr>
        <p:txBody>
          <a:bodyPr wrap="square" lIns="0" tIns="0" rIns="0" bIns="0" rtlCol="0" anchor="t"/>
          <a:lstStyle/>
          <a:p>
            <a:pPr algn="l" indent="0" marL="0">
              <a:buNone/>
            </a:pPr>
            <a:r>
              <a:rPr lang="en-US" sz="1600" dirty="0">
                <a:solidFill>
                  <a:srgbClr val="FFFFFF"/>
                </a:solidFill>
                <a:latin typeface="Tahoma" pitchFamily="34" charset="0"/>
                <a:ea typeface="Tahoma" pitchFamily="34" charset="-122"/>
                <a:cs typeface="Tahoma" pitchFamily="34" charset="-120"/>
              </a:rPr>
              <a:t>ล็อตที่สุกเกิน เน่า หรือผิดเกณฑ์ ถูกตีกลับหรือต้องขายลดราคา</a:t>
            </a:r>
            <a:endParaRPr lang="en-US" sz="1600" dirty="0"/>
          </a:p>
        </p:txBody>
      </p:sp>
      <p:sp>
        <p:nvSpPr>
          <p:cNvPr id="6" name="Text 4"/>
          <p:cNvSpPr txBox="1"/>
          <p:nvPr/>
        </p:nvSpPr>
        <p:spPr>
          <a:xfrm>
            <a:off x="749808" y="3429000"/>
            <a:ext cx="2240280" cy="731520"/>
          </a:xfrm>
          <a:prstGeom prst="rect">
            <a:avLst/>
          </a:prstGeom>
          <a:noFill/>
          <a:ln/>
        </p:spPr>
        <p:txBody>
          <a:bodyPr wrap="square" lIns="0" tIns="0" rIns="0" bIns="0" rtlCol="0" anchor="t"/>
          <a:lstStyle/>
          <a:p>
            <a:pPr algn="l" indent="0" marL="0">
              <a:buNone/>
            </a:pPr>
            <a:r>
              <a:rPr lang="en-US" sz="1400" dirty="0">
                <a:solidFill>
                  <a:srgbClr val="D5DFC6"/>
                </a:solidFill>
                <a:latin typeface="Tahoma" pitchFamily="34" charset="0"/>
                <a:ea typeface="Tahoma" pitchFamily="34" charset="-122"/>
                <a:cs typeface="Tahoma" pitchFamily="34" charset="-120"/>
              </a:rPr>
              <a:t>ทุเรียนอ่อน 500+ ลูกถูกสั่งรื้อ ห้ามส่งออก</a:t>
            </a:r>
            <a:endParaRPr lang="en-US" sz="1400" dirty="0"/>
          </a:p>
        </p:txBody>
      </p:sp>
      <p:sp>
        <p:nvSpPr>
          <p:cNvPr id="7" name="Text 5"/>
          <p:cNvSpPr txBox="1"/>
          <p:nvPr/>
        </p:nvSpPr>
        <p:spPr>
          <a:xfrm>
            <a:off x="3154680" y="2468880"/>
            <a:ext cx="219456" cy="457200"/>
          </a:xfrm>
          <a:prstGeom prst="rect">
            <a:avLst/>
          </a:prstGeom>
          <a:noFill/>
          <a:ln/>
        </p:spPr>
        <p:txBody>
          <a:bodyPr wrap="square" lIns="0" tIns="0" rIns="0" bIns="0" rtlCol="0" anchor="t"/>
          <a:lstStyle/>
          <a:p>
            <a:pPr algn="ctr" indent="0" marL="0">
              <a:buNone/>
            </a:pPr>
            <a:r>
              <a:rPr lang="en-US" sz="2400" b="1" dirty="0">
                <a:solidFill>
                  <a:srgbClr val="8E2B22"/>
                </a:solidFill>
                <a:latin typeface="Tahoma" pitchFamily="34" charset="0"/>
                <a:ea typeface="Tahoma" pitchFamily="34" charset="-122"/>
                <a:cs typeface="Tahoma" pitchFamily="34" charset="-120"/>
              </a:rPr>
              <a:t>›</a:t>
            </a:r>
            <a:endParaRPr lang="en-US" sz="2400" dirty="0"/>
          </a:p>
        </p:txBody>
      </p:sp>
      <p:sp>
        <p:nvSpPr>
          <p:cNvPr id="8" name="Shape 6"/>
          <p:cNvSpPr/>
          <p:nvPr/>
        </p:nvSpPr>
        <p:spPr>
          <a:xfrm>
            <a:off x="3374136" y="1371600"/>
            <a:ext cx="2606040" cy="2880360"/>
          </a:xfrm>
          <a:prstGeom prst="roundRect">
            <a:avLst>
              <a:gd name="adj" fmla="val 6316"/>
            </a:avLst>
          </a:prstGeom>
          <a:solidFill>
            <a:srgbClr val="FBE6E3"/>
          </a:solidFill>
          <a:ln w="12700">
            <a:solidFill>
              <a:srgbClr val="F3C6C0"/>
            </a:solidFill>
            <a:prstDash val="solid"/>
          </a:ln>
        </p:spPr>
      </p:sp>
      <p:sp>
        <p:nvSpPr>
          <p:cNvPr id="9" name="Text 7"/>
          <p:cNvSpPr txBox="1"/>
          <p:nvPr/>
        </p:nvSpPr>
        <p:spPr>
          <a:xfrm>
            <a:off x="3575304" y="1481328"/>
            <a:ext cx="2240280" cy="548640"/>
          </a:xfrm>
          <a:prstGeom prst="rect">
            <a:avLst/>
          </a:prstGeom>
          <a:noFill/>
          <a:ln/>
        </p:spPr>
        <p:txBody>
          <a:bodyPr wrap="square" lIns="0" tIns="0" rIns="0" bIns="0" rtlCol="0" anchor="ctr"/>
          <a:lstStyle/>
          <a:p>
            <a:pPr algn="l" indent="0" marL="0">
              <a:buNone/>
            </a:pPr>
            <a:r>
              <a:rPr lang="en-US" sz="2000" b="1" dirty="0">
                <a:solidFill>
                  <a:srgbClr val="8E2B22"/>
                </a:solidFill>
                <a:latin typeface="Tahoma" pitchFamily="34" charset="0"/>
                <a:ea typeface="Tahoma" pitchFamily="34" charset="-122"/>
                <a:cs typeface="Tahoma" pitchFamily="34" charset="-120"/>
              </a:rPr>
              <a:t>เสียเงิน</a:t>
            </a:r>
            <a:endParaRPr lang="en-US" sz="2000" dirty="0"/>
          </a:p>
        </p:txBody>
      </p:sp>
      <p:sp>
        <p:nvSpPr>
          <p:cNvPr id="10" name="Text 8"/>
          <p:cNvSpPr txBox="1"/>
          <p:nvPr/>
        </p:nvSpPr>
        <p:spPr>
          <a:xfrm>
            <a:off x="3575304" y="2103120"/>
            <a:ext cx="2240280" cy="1280160"/>
          </a:xfrm>
          <a:prstGeom prst="rect">
            <a:avLst/>
          </a:prstGeom>
          <a:noFill/>
          <a:ln/>
        </p:spPr>
        <p:txBody>
          <a:bodyPr wrap="square" lIns="0" tIns="0" rIns="0" bIns="0" rtlCol="0" anchor="t"/>
          <a:lstStyle/>
          <a:p>
            <a:pPr algn="l" indent="0" marL="0">
              <a:buNone/>
            </a:pPr>
            <a:r>
              <a:rPr lang="en-US" sz="1600" dirty="0">
                <a:solidFill>
                  <a:srgbClr val="17301F"/>
                </a:solidFill>
                <a:latin typeface="Tahoma" pitchFamily="34" charset="0"/>
                <a:ea typeface="Tahoma" pitchFamily="34" charset="-122"/>
                <a:cs typeface="Tahoma" pitchFamily="34" charset="-120"/>
              </a:rPr>
              <a:t>ชิปเมนต์ทุเรียนไปจีนเฉลี่ยราว 16 ตัน มูลค่าราว 2.6 ล้านบาท</a:t>
            </a:r>
            <a:endParaRPr lang="en-US" sz="1600" dirty="0"/>
          </a:p>
        </p:txBody>
      </p:sp>
      <p:sp>
        <p:nvSpPr>
          <p:cNvPr id="11" name="Text 9"/>
          <p:cNvSpPr txBox="1"/>
          <p:nvPr/>
        </p:nvSpPr>
        <p:spPr>
          <a:xfrm>
            <a:off x="3575304" y="3429000"/>
            <a:ext cx="2240280" cy="73152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ผ่าตรวจหนึ่งลูก = เสียราว 480–640 บาท</a:t>
            </a:r>
            <a:endParaRPr lang="en-US" sz="1400" dirty="0"/>
          </a:p>
        </p:txBody>
      </p:sp>
      <p:sp>
        <p:nvSpPr>
          <p:cNvPr id="12" name="Text 10"/>
          <p:cNvSpPr txBox="1"/>
          <p:nvPr/>
        </p:nvSpPr>
        <p:spPr>
          <a:xfrm>
            <a:off x="5980176" y="2468880"/>
            <a:ext cx="219456" cy="457200"/>
          </a:xfrm>
          <a:prstGeom prst="rect">
            <a:avLst/>
          </a:prstGeom>
          <a:noFill/>
          <a:ln/>
        </p:spPr>
        <p:txBody>
          <a:bodyPr wrap="square" lIns="0" tIns="0" rIns="0" bIns="0" rtlCol="0" anchor="t"/>
          <a:lstStyle/>
          <a:p>
            <a:pPr algn="ctr" indent="0" marL="0">
              <a:buNone/>
            </a:pPr>
            <a:r>
              <a:rPr lang="en-US" sz="2400" b="1" dirty="0">
                <a:solidFill>
                  <a:srgbClr val="8E2B22"/>
                </a:solidFill>
                <a:latin typeface="Tahoma" pitchFamily="34" charset="0"/>
                <a:ea typeface="Tahoma" pitchFamily="34" charset="-122"/>
                <a:cs typeface="Tahoma" pitchFamily="34" charset="-120"/>
              </a:rPr>
              <a:t>›</a:t>
            </a:r>
            <a:endParaRPr lang="en-US" sz="2400" dirty="0"/>
          </a:p>
        </p:txBody>
      </p:sp>
      <p:sp>
        <p:nvSpPr>
          <p:cNvPr id="13" name="Shape 11"/>
          <p:cNvSpPr/>
          <p:nvPr/>
        </p:nvSpPr>
        <p:spPr>
          <a:xfrm>
            <a:off x="6199632" y="1371600"/>
            <a:ext cx="2606040" cy="2880360"/>
          </a:xfrm>
          <a:prstGeom prst="roundRect">
            <a:avLst>
              <a:gd name="adj" fmla="val 6316"/>
            </a:avLst>
          </a:prstGeom>
          <a:solidFill>
            <a:srgbClr val="FBE6E3"/>
          </a:solidFill>
          <a:ln w="12700">
            <a:solidFill>
              <a:srgbClr val="F3C6C0"/>
            </a:solidFill>
            <a:prstDash val="solid"/>
          </a:ln>
        </p:spPr>
      </p:sp>
      <p:sp>
        <p:nvSpPr>
          <p:cNvPr id="14" name="Text 12"/>
          <p:cNvSpPr txBox="1"/>
          <p:nvPr/>
        </p:nvSpPr>
        <p:spPr>
          <a:xfrm>
            <a:off x="6400800" y="1481328"/>
            <a:ext cx="2240280" cy="548640"/>
          </a:xfrm>
          <a:prstGeom prst="rect">
            <a:avLst/>
          </a:prstGeom>
          <a:noFill/>
          <a:ln/>
        </p:spPr>
        <p:txBody>
          <a:bodyPr wrap="square" lIns="0" tIns="0" rIns="0" bIns="0" rtlCol="0" anchor="ctr"/>
          <a:lstStyle/>
          <a:p>
            <a:pPr algn="l" indent="0" marL="0">
              <a:buNone/>
            </a:pPr>
            <a:r>
              <a:rPr lang="en-US" sz="2000" b="1" dirty="0">
                <a:solidFill>
                  <a:srgbClr val="8E2B22"/>
                </a:solidFill>
                <a:latin typeface="Tahoma" pitchFamily="34" charset="0"/>
                <a:ea typeface="Tahoma" pitchFamily="34" charset="-122"/>
                <a:cs typeface="Tahoma" pitchFamily="34" charset="-120"/>
              </a:rPr>
              <a:t>เสียชื่อเสียง</a:t>
            </a:r>
            <a:endParaRPr lang="en-US" sz="2000" dirty="0"/>
          </a:p>
        </p:txBody>
      </p:sp>
      <p:sp>
        <p:nvSpPr>
          <p:cNvPr id="15" name="Text 13"/>
          <p:cNvSpPr txBox="1"/>
          <p:nvPr/>
        </p:nvSpPr>
        <p:spPr>
          <a:xfrm>
            <a:off x="6400800" y="2103120"/>
            <a:ext cx="2240280" cy="1280160"/>
          </a:xfrm>
          <a:prstGeom prst="rect">
            <a:avLst/>
          </a:prstGeom>
          <a:noFill/>
          <a:ln/>
        </p:spPr>
        <p:txBody>
          <a:bodyPr wrap="square" lIns="0" tIns="0" rIns="0" bIns="0" rtlCol="0" anchor="t"/>
          <a:lstStyle/>
          <a:p>
            <a:pPr algn="l" indent="0" marL="0">
              <a:buNone/>
            </a:pPr>
            <a:r>
              <a:rPr lang="en-US" sz="1600" dirty="0">
                <a:solidFill>
                  <a:srgbClr val="17301F"/>
                </a:solidFill>
                <a:latin typeface="Tahoma" pitchFamily="34" charset="0"/>
                <a:ea typeface="Tahoma" pitchFamily="34" charset="-122"/>
                <a:cs typeface="Tahoma" pitchFamily="34" charset="-120"/>
              </a:rPr>
              <a:t>ข่าวทุเรียนอ่อนหรือเน่าทำให้ผู้ซื้อมองว่าทุเรียนไทยคุมคุณภาพไม่ได้</a:t>
            </a:r>
            <a:endParaRPr lang="en-US" sz="1600" dirty="0"/>
          </a:p>
        </p:txBody>
      </p:sp>
      <p:sp>
        <p:nvSpPr>
          <p:cNvPr id="16" name="Text 14"/>
          <p:cNvSpPr txBox="1"/>
          <p:nvPr/>
        </p:nvSpPr>
        <p:spPr>
          <a:xfrm>
            <a:off x="6400800" y="3429000"/>
            <a:ext cx="2240280" cy="73152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จีนเพิ่มมาตรการตรวจเข้มทุกฤดู</a:t>
            </a:r>
            <a:endParaRPr lang="en-US" sz="1400" dirty="0"/>
          </a:p>
        </p:txBody>
      </p:sp>
      <p:sp>
        <p:nvSpPr>
          <p:cNvPr id="17" name="Text 15"/>
          <p:cNvSpPr txBox="1"/>
          <p:nvPr/>
        </p:nvSpPr>
        <p:spPr>
          <a:xfrm>
            <a:off x="8805672" y="2468880"/>
            <a:ext cx="219456" cy="457200"/>
          </a:xfrm>
          <a:prstGeom prst="rect">
            <a:avLst/>
          </a:prstGeom>
          <a:noFill/>
          <a:ln/>
        </p:spPr>
        <p:txBody>
          <a:bodyPr wrap="square" lIns="0" tIns="0" rIns="0" bIns="0" rtlCol="0" anchor="t"/>
          <a:lstStyle/>
          <a:p>
            <a:pPr algn="ctr" indent="0" marL="0">
              <a:buNone/>
            </a:pPr>
            <a:r>
              <a:rPr lang="en-US" sz="2400" b="1" dirty="0">
                <a:solidFill>
                  <a:srgbClr val="8E2B22"/>
                </a:solidFill>
                <a:latin typeface="Tahoma" pitchFamily="34" charset="0"/>
                <a:ea typeface="Tahoma" pitchFamily="34" charset="-122"/>
                <a:cs typeface="Tahoma" pitchFamily="34" charset="-120"/>
              </a:rPr>
              <a:t>›</a:t>
            </a:r>
            <a:endParaRPr lang="en-US" sz="2400" dirty="0"/>
          </a:p>
        </p:txBody>
      </p:sp>
      <p:sp>
        <p:nvSpPr>
          <p:cNvPr id="18" name="Shape 16"/>
          <p:cNvSpPr/>
          <p:nvPr/>
        </p:nvSpPr>
        <p:spPr>
          <a:xfrm>
            <a:off x="9025128" y="1371600"/>
            <a:ext cx="2606040" cy="2880360"/>
          </a:xfrm>
          <a:prstGeom prst="roundRect">
            <a:avLst>
              <a:gd name="adj" fmla="val 6316"/>
            </a:avLst>
          </a:prstGeom>
          <a:solidFill>
            <a:srgbClr val="FBE6E3"/>
          </a:solidFill>
          <a:ln w="12700">
            <a:solidFill>
              <a:srgbClr val="F3C6C0"/>
            </a:solidFill>
            <a:prstDash val="solid"/>
          </a:ln>
        </p:spPr>
      </p:sp>
      <p:sp>
        <p:nvSpPr>
          <p:cNvPr id="19" name="Text 17"/>
          <p:cNvSpPr txBox="1"/>
          <p:nvPr/>
        </p:nvSpPr>
        <p:spPr>
          <a:xfrm>
            <a:off x="9226296" y="1481328"/>
            <a:ext cx="2240280" cy="548640"/>
          </a:xfrm>
          <a:prstGeom prst="rect">
            <a:avLst/>
          </a:prstGeom>
          <a:noFill/>
          <a:ln/>
        </p:spPr>
        <p:txBody>
          <a:bodyPr wrap="square" lIns="0" tIns="0" rIns="0" bIns="0" rtlCol="0" anchor="ctr"/>
          <a:lstStyle/>
          <a:p>
            <a:pPr algn="l" indent="0" marL="0">
              <a:buNone/>
            </a:pPr>
            <a:r>
              <a:rPr lang="en-US" sz="2000" b="1" dirty="0">
                <a:solidFill>
                  <a:srgbClr val="8E2B22"/>
                </a:solidFill>
                <a:latin typeface="Tahoma" pitchFamily="34" charset="0"/>
                <a:ea typeface="Tahoma" pitchFamily="34" charset="-122"/>
                <a:cs typeface="Tahoma" pitchFamily="34" charset="-120"/>
              </a:rPr>
              <a:t>เสียความน่าเชื่อถือ</a:t>
            </a:r>
            <a:endParaRPr lang="en-US" sz="2000" dirty="0"/>
          </a:p>
        </p:txBody>
      </p:sp>
      <p:sp>
        <p:nvSpPr>
          <p:cNvPr id="20" name="Text 18"/>
          <p:cNvSpPr txBox="1"/>
          <p:nvPr/>
        </p:nvSpPr>
        <p:spPr>
          <a:xfrm>
            <a:off x="9226296" y="2103120"/>
            <a:ext cx="2240280" cy="1280160"/>
          </a:xfrm>
          <a:prstGeom prst="rect">
            <a:avLst/>
          </a:prstGeom>
          <a:noFill/>
          <a:ln/>
        </p:spPr>
        <p:txBody>
          <a:bodyPr wrap="square" lIns="0" tIns="0" rIns="0" bIns="0" rtlCol="0" anchor="t"/>
          <a:lstStyle/>
          <a:p>
            <a:pPr algn="l" indent="0" marL="0">
              <a:buNone/>
            </a:pPr>
            <a:r>
              <a:rPr lang="en-US" sz="1600" dirty="0">
                <a:solidFill>
                  <a:srgbClr val="17301F"/>
                </a:solidFill>
                <a:latin typeface="Tahoma" pitchFamily="34" charset="0"/>
                <a:ea typeface="Tahoma" pitchFamily="34" charset="-122"/>
                <a:cs typeface="Tahoma" pitchFamily="34" charset="-120"/>
              </a:rPr>
              <a:t>ผู้ซื้อหันไปหาคู่แข่ง เมื่อของไทยตรวจย้อนกลับไม่ได้</a:t>
            </a:r>
            <a:endParaRPr lang="en-US" sz="1600" dirty="0"/>
          </a:p>
        </p:txBody>
      </p:sp>
      <p:sp>
        <p:nvSpPr>
          <p:cNvPr id="21" name="Text 19"/>
          <p:cNvSpPr txBox="1"/>
          <p:nvPr/>
        </p:nvSpPr>
        <p:spPr>
          <a:xfrm>
            <a:off x="9226296" y="3429000"/>
            <a:ext cx="2240280" cy="73152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เวียดนามแข่งทั้งราคาและส่วนแบ่งตลาด</a:t>
            </a:r>
            <a:endParaRPr lang="en-US" sz="1400" dirty="0"/>
          </a:p>
        </p:txBody>
      </p:sp>
      <p:sp>
        <p:nvSpPr>
          <p:cNvPr id="22" name="Text 20"/>
          <p:cNvSpPr txBox="1"/>
          <p:nvPr/>
        </p:nvSpPr>
        <p:spPr>
          <a:xfrm>
            <a:off x="548640" y="4434840"/>
            <a:ext cx="4572000" cy="365760"/>
          </a:xfrm>
          <a:prstGeom prst="rect">
            <a:avLst/>
          </a:prstGeom>
          <a:noFill/>
          <a:ln/>
        </p:spPr>
        <p:txBody>
          <a:bodyPr wrap="square" lIns="0" tIns="0" rIns="0" bIns="0" rtlCol="0" anchor="t"/>
          <a:lstStyle/>
          <a:p>
            <a:pPr algn="l" indent="0" marL="0">
              <a:buNone/>
            </a:pPr>
            <a:r>
              <a:rPr lang="en-US" sz="2000" b="1" dirty="0">
                <a:solidFill>
                  <a:srgbClr val="17301F"/>
                </a:solidFill>
                <a:latin typeface="Tahoma" pitchFamily="34" charset="0"/>
                <a:ea typeface="Tahoma" pitchFamily="34" charset="-122"/>
                <a:cs typeface="Tahoma" pitchFamily="34" charset="-120"/>
              </a:rPr>
              <a:t>ใครเจ็บบ้าง</a:t>
            </a:r>
            <a:endParaRPr lang="en-US" sz="2000" dirty="0"/>
          </a:p>
        </p:txBody>
      </p:sp>
      <p:sp>
        <p:nvSpPr>
          <p:cNvPr id="23" name="Text 21"/>
          <p:cNvSpPr txBox="1"/>
          <p:nvPr/>
        </p:nvSpPr>
        <p:spPr>
          <a:xfrm>
            <a:off x="548640" y="4937760"/>
            <a:ext cx="3520440" cy="1097280"/>
          </a:xfrm>
          <a:prstGeom prst="rect">
            <a:avLst/>
          </a:prstGeom>
          <a:noFill/>
          <a:ln/>
        </p:spPr>
        <p:txBody>
          <a:bodyPr wrap="square" lIns="0" tIns="0" rIns="0" bIns="0" rtlCol="0" anchor="t"/>
          <a:lstStyle/>
          <a:p>
            <a:pPr algn="l" indent="0" marL="0">
              <a:buNone/>
            </a:pPr>
            <a:r>
              <a:rPr lang="en-US" sz="1800" b="1" dirty="0">
                <a:solidFill>
                  <a:srgbClr val="17301F"/>
                </a:solidFill>
                <a:latin typeface="Tahoma" pitchFamily="34" charset="0"/>
                <a:ea typeface="Tahoma" pitchFamily="34" charset="-122"/>
                <a:cs typeface="Tahoma" pitchFamily="34" charset="-120"/>
              </a:rPr>
              <a:t>เกษตรกร:</a:t>
            </a:r>
            <a:pPr algn="l" indent="0" marL="0">
              <a:buNone/>
            </a:pPr>
            <a:r>
              <a:rPr lang="en-US" sz="1800" dirty="0">
                <a:solidFill>
                  <a:srgbClr val="17301F"/>
                </a:solidFill>
                <a:latin typeface="Tahoma" pitchFamily="34" charset="0"/>
                <a:ea typeface="Tahoma" pitchFamily="34" charset="-122"/>
                <a:cs typeface="Tahoma" pitchFamily="34" charset="-120"/>
              </a:rPr>
              <a:t> ราคารับซื้อตกเมื่อตลาดไม่เชื่อมั่น</a:t>
            </a:r>
            <a:endParaRPr lang="en-US" sz="1800" dirty="0"/>
          </a:p>
        </p:txBody>
      </p:sp>
      <p:sp>
        <p:nvSpPr>
          <p:cNvPr id="24" name="Text 22"/>
          <p:cNvSpPr txBox="1"/>
          <p:nvPr/>
        </p:nvSpPr>
        <p:spPr>
          <a:xfrm>
            <a:off x="4297680" y="4937760"/>
            <a:ext cx="3520440" cy="1097280"/>
          </a:xfrm>
          <a:prstGeom prst="rect">
            <a:avLst/>
          </a:prstGeom>
          <a:noFill/>
          <a:ln/>
        </p:spPr>
        <p:txBody>
          <a:bodyPr wrap="square" lIns="0" tIns="0" rIns="0" bIns="0" rtlCol="0" anchor="t"/>
          <a:lstStyle/>
          <a:p>
            <a:pPr algn="l" indent="0" marL="0">
              <a:buNone/>
            </a:pPr>
            <a:r>
              <a:rPr lang="en-US" sz="1800" b="1" dirty="0">
                <a:solidFill>
                  <a:srgbClr val="17301F"/>
                </a:solidFill>
                <a:latin typeface="Tahoma" pitchFamily="34" charset="0"/>
                <a:ea typeface="Tahoma" pitchFamily="34" charset="-122"/>
                <a:cs typeface="Tahoma" pitchFamily="34" charset="-120"/>
              </a:rPr>
              <a:t>ล้งและผู้ส่งออก:</a:t>
            </a:r>
            <a:pPr algn="l" indent="0" marL="0">
              <a:buNone/>
            </a:pPr>
            <a:r>
              <a:rPr lang="en-US" sz="1800" dirty="0">
                <a:solidFill>
                  <a:srgbClr val="17301F"/>
                </a:solidFill>
                <a:latin typeface="Tahoma" pitchFamily="34" charset="0"/>
                <a:ea typeface="Tahoma" pitchFamily="34" charset="-122"/>
                <a:cs typeface="Tahoma" pitchFamily="34" charset="-120"/>
              </a:rPr>
              <a:t> ขาดทุนทั้งล็อต และเสี่ยงต่อสถานะส่งออก</a:t>
            </a:r>
            <a:endParaRPr lang="en-US" sz="1800" dirty="0"/>
          </a:p>
        </p:txBody>
      </p:sp>
      <p:sp>
        <p:nvSpPr>
          <p:cNvPr id="25" name="Text 23"/>
          <p:cNvSpPr txBox="1"/>
          <p:nvPr/>
        </p:nvSpPr>
        <p:spPr>
          <a:xfrm>
            <a:off x="8046720" y="4937760"/>
            <a:ext cx="3520440" cy="1097280"/>
          </a:xfrm>
          <a:prstGeom prst="rect">
            <a:avLst/>
          </a:prstGeom>
          <a:noFill/>
          <a:ln/>
        </p:spPr>
        <p:txBody>
          <a:bodyPr wrap="square" lIns="0" tIns="0" rIns="0" bIns="0" rtlCol="0" anchor="t"/>
          <a:lstStyle/>
          <a:p>
            <a:pPr algn="l" indent="0" marL="0">
              <a:buNone/>
            </a:pPr>
            <a:r>
              <a:rPr lang="en-US" sz="1800" b="1" dirty="0">
                <a:solidFill>
                  <a:srgbClr val="17301F"/>
                </a:solidFill>
                <a:latin typeface="Tahoma" pitchFamily="34" charset="0"/>
                <a:ea typeface="Tahoma" pitchFamily="34" charset="-122"/>
                <a:cs typeface="Tahoma" pitchFamily="34" charset="-120"/>
              </a:rPr>
              <a:t>ประเทศ:</a:t>
            </a:r>
            <a:pPr algn="l" indent="0" marL="0">
              <a:buNone/>
            </a:pPr>
            <a:r>
              <a:rPr lang="en-US" sz="1800" dirty="0">
                <a:solidFill>
                  <a:srgbClr val="17301F"/>
                </a:solidFill>
                <a:latin typeface="Tahoma" pitchFamily="34" charset="0"/>
                <a:ea typeface="Tahoma" pitchFamily="34" charset="-122"/>
                <a:cs typeface="Tahoma" pitchFamily="34" charset="-120"/>
              </a:rPr>
              <a:t> ภาพลักษณ์ของสินค้าแสนล้านบาท</a:t>
            </a:r>
            <a:endParaRPr lang="en-US" sz="1800" dirty="0"/>
          </a:p>
        </p:txBody>
      </p:sp>
      <p:sp>
        <p:nvSpPr>
          <p:cNvPr id="26" name="Text 24"/>
          <p:cNvSpPr txBox="1"/>
          <p:nvPr/>
        </p:nvSpPr>
        <p:spPr>
          <a:xfrm>
            <a:off x="548640" y="6327648"/>
            <a:ext cx="10424160" cy="27432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ค่าเฉลี่ยต่อชิปเมนต์คำนวณจาก 939,892 ตัน / 58,072 ชิปเมนต์ และมูลค่า 150,279 ล้านบาท ปี 2568 · ที่มา: Nation Thailand, Thai PBS, PRD</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ทำไมเราเลือกปัญหานี้เป็นโจทย์</a:t>
            </a:r>
            <a:endParaRPr lang="en-US" sz="3000" dirty="0"/>
          </a:p>
        </p:txBody>
      </p:sp>
      <p:sp>
        <p:nvSpPr>
          <p:cNvPr id="3" name="Shape 1"/>
          <p:cNvSpPr/>
          <p:nvPr/>
        </p:nvSpPr>
        <p:spPr>
          <a:xfrm>
            <a:off x="548640" y="1371600"/>
            <a:ext cx="5440680" cy="1600200"/>
          </a:xfrm>
          <a:prstGeom prst="roundRect">
            <a:avLst>
              <a:gd name="adj" fmla="val 10286"/>
            </a:avLst>
          </a:prstGeom>
          <a:solidFill>
            <a:srgbClr val="EDF2E8"/>
          </a:solidFill>
          <a:ln w="12700">
            <a:solidFill>
              <a:srgbClr val="D5DFCB"/>
            </a:solidFill>
            <a:prstDash val="solid"/>
          </a:ln>
        </p:spPr>
      </p:sp>
      <p:sp>
        <p:nvSpPr>
          <p:cNvPr id="4" name="Text 2"/>
          <p:cNvSpPr txBox="1"/>
          <p:nvPr/>
        </p:nvSpPr>
        <p:spPr>
          <a:xfrm>
            <a:off x="822960" y="1508760"/>
            <a:ext cx="4937760" cy="457200"/>
          </a:xfrm>
          <a:prstGeom prst="rect">
            <a:avLst/>
          </a:prstGeom>
          <a:noFill/>
          <a:ln/>
        </p:spPr>
        <p:txBody>
          <a:bodyPr wrap="square" lIns="0" tIns="0" rIns="0" bIns="0" rtlCol="0" anchor="ctr"/>
          <a:lstStyle/>
          <a:p>
            <a:pPr algn="l" indent="0" marL="0">
              <a:buNone/>
            </a:pPr>
            <a:r>
              <a:rPr lang="en-US" sz="2000" b="1" dirty="0">
                <a:solidFill>
                  <a:srgbClr val="2E6B3E"/>
                </a:solidFill>
                <a:latin typeface="Tahoma" pitchFamily="34" charset="0"/>
                <a:ea typeface="Tahoma" pitchFamily="34" charset="-122"/>
                <a:cs typeface="Tahoma" pitchFamily="34" charset="-120"/>
              </a:rPr>
              <a:t>ผลกระทบสูง</a:t>
            </a:r>
            <a:endParaRPr lang="en-US" sz="2000" dirty="0"/>
          </a:p>
        </p:txBody>
      </p:sp>
      <p:sp>
        <p:nvSpPr>
          <p:cNvPr id="5" name="Text 3"/>
          <p:cNvSpPr txBox="1"/>
          <p:nvPr/>
        </p:nvSpPr>
        <p:spPr>
          <a:xfrm>
            <a:off x="822960" y="2057400"/>
            <a:ext cx="4937760" cy="822960"/>
          </a:xfrm>
          <a:prstGeom prst="rect">
            <a:avLst/>
          </a:prstGeom>
          <a:noFill/>
          <a:ln/>
        </p:spPr>
        <p:txBody>
          <a:bodyPr wrap="square" lIns="0" tIns="0" rIns="0" bIns="0" rtlCol="0" anchor="t"/>
          <a:lstStyle/>
          <a:p>
            <a:pPr algn="l" indent="0" marL="0">
              <a:buNone/>
            </a:pPr>
            <a:r>
              <a:rPr lang="en-US" sz="1600" dirty="0">
                <a:solidFill>
                  <a:srgbClr val="17301F"/>
                </a:solidFill>
                <a:latin typeface="Tahoma" pitchFamily="34" charset="0"/>
                <a:ea typeface="Tahoma" pitchFamily="34" charset="-122"/>
                <a:cs typeface="Tahoma" pitchFamily="34" charset="-120"/>
              </a:rPr>
              <a:t>สินค้าแสนล้านบาท ล็อตเดียวที่เสียทำให้ทั้งตลาดเสียความเชื่อมั่น</a:t>
            </a:r>
            <a:endParaRPr lang="en-US" sz="1600" dirty="0"/>
          </a:p>
        </p:txBody>
      </p:sp>
      <p:sp>
        <p:nvSpPr>
          <p:cNvPr id="6" name="Shape 4"/>
          <p:cNvSpPr/>
          <p:nvPr/>
        </p:nvSpPr>
        <p:spPr>
          <a:xfrm>
            <a:off x="6199632" y="1371600"/>
            <a:ext cx="5440680" cy="1600200"/>
          </a:xfrm>
          <a:prstGeom prst="roundRect">
            <a:avLst>
              <a:gd name="adj" fmla="val 10286"/>
            </a:avLst>
          </a:prstGeom>
          <a:solidFill>
            <a:srgbClr val="EDF2E8"/>
          </a:solidFill>
          <a:ln w="12700">
            <a:solidFill>
              <a:srgbClr val="D5DFCB"/>
            </a:solidFill>
            <a:prstDash val="solid"/>
          </a:ln>
        </p:spPr>
      </p:sp>
      <p:sp>
        <p:nvSpPr>
          <p:cNvPr id="7" name="Text 5"/>
          <p:cNvSpPr txBox="1"/>
          <p:nvPr/>
        </p:nvSpPr>
        <p:spPr>
          <a:xfrm>
            <a:off x="6473952" y="1508760"/>
            <a:ext cx="4937760" cy="457200"/>
          </a:xfrm>
          <a:prstGeom prst="rect">
            <a:avLst/>
          </a:prstGeom>
          <a:noFill/>
          <a:ln/>
        </p:spPr>
        <p:txBody>
          <a:bodyPr wrap="square" lIns="0" tIns="0" rIns="0" bIns="0" rtlCol="0" anchor="ctr"/>
          <a:lstStyle/>
          <a:p>
            <a:pPr algn="l" indent="0" marL="0">
              <a:buNone/>
            </a:pPr>
            <a:r>
              <a:rPr lang="en-US" sz="2000" b="1" dirty="0">
                <a:solidFill>
                  <a:srgbClr val="2E6B3E"/>
                </a:solidFill>
                <a:latin typeface="Tahoma" pitchFamily="34" charset="0"/>
                <a:ea typeface="Tahoma" pitchFamily="34" charset="-122"/>
                <a:cs typeface="Tahoma" pitchFamily="34" charset="-120"/>
              </a:rPr>
              <a:t>เป็นปัญหาที่ "เงียบ"</a:t>
            </a:r>
            <a:endParaRPr lang="en-US" sz="2000" dirty="0"/>
          </a:p>
        </p:txBody>
      </p:sp>
      <p:sp>
        <p:nvSpPr>
          <p:cNvPr id="8" name="Text 6"/>
          <p:cNvSpPr txBox="1"/>
          <p:nvPr/>
        </p:nvSpPr>
        <p:spPr>
          <a:xfrm>
            <a:off x="6473952" y="2057400"/>
            <a:ext cx="4937760" cy="822960"/>
          </a:xfrm>
          <a:prstGeom prst="rect">
            <a:avLst/>
          </a:prstGeom>
          <a:noFill/>
          <a:ln/>
        </p:spPr>
        <p:txBody>
          <a:bodyPr wrap="square" lIns="0" tIns="0" rIns="0" bIns="0" rtlCol="0" anchor="t"/>
          <a:lstStyle/>
          <a:p>
            <a:pPr algn="l" indent="0" marL="0">
              <a:buNone/>
            </a:pPr>
            <a:r>
              <a:rPr lang="en-US" sz="1600" dirty="0">
                <a:solidFill>
                  <a:srgbClr val="17301F"/>
                </a:solidFill>
                <a:latin typeface="Tahoma" pitchFamily="34" charset="0"/>
                <a:ea typeface="Tahoma" pitchFamily="34" charset="-122"/>
                <a:cs typeface="Tahoma" pitchFamily="34" charset="-120"/>
              </a:rPr>
              <a:t>กลิ่นเปลี่ยนในตู้ที่ปิดสนิท ไม่มีใครวัด กว่าจะรู้ก็เปิดตู้แล้ว</a:t>
            </a:r>
            <a:endParaRPr lang="en-US" sz="1600" dirty="0"/>
          </a:p>
        </p:txBody>
      </p:sp>
      <p:sp>
        <p:nvSpPr>
          <p:cNvPr id="9" name="Shape 7"/>
          <p:cNvSpPr/>
          <p:nvPr/>
        </p:nvSpPr>
        <p:spPr>
          <a:xfrm>
            <a:off x="548640" y="3154680"/>
            <a:ext cx="5440680" cy="1600200"/>
          </a:xfrm>
          <a:prstGeom prst="roundRect">
            <a:avLst>
              <a:gd name="adj" fmla="val 10286"/>
            </a:avLst>
          </a:prstGeom>
          <a:solidFill>
            <a:srgbClr val="EFE9FB"/>
          </a:solidFill>
          <a:ln w="12700">
            <a:solidFill>
              <a:srgbClr val="D5DFCB"/>
            </a:solidFill>
            <a:prstDash val="solid"/>
          </a:ln>
        </p:spPr>
      </p:sp>
      <p:sp>
        <p:nvSpPr>
          <p:cNvPr id="10" name="Text 8"/>
          <p:cNvSpPr txBox="1"/>
          <p:nvPr/>
        </p:nvSpPr>
        <p:spPr>
          <a:xfrm>
            <a:off x="822960" y="3291840"/>
            <a:ext cx="4937760" cy="457200"/>
          </a:xfrm>
          <a:prstGeom prst="rect">
            <a:avLst/>
          </a:prstGeom>
          <a:noFill/>
          <a:ln/>
        </p:spPr>
        <p:txBody>
          <a:bodyPr wrap="square" lIns="0" tIns="0" rIns="0" bIns="0" rtlCol="0" anchor="ctr"/>
          <a:lstStyle/>
          <a:p>
            <a:pPr algn="l" indent="0" marL="0">
              <a:buNone/>
            </a:pPr>
            <a:r>
              <a:rPr lang="en-US" sz="2000" b="1" dirty="0">
                <a:solidFill>
                  <a:srgbClr val="6E4FB8"/>
                </a:solidFill>
                <a:latin typeface="Tahoma" pitchFamily="34" charset="0"/>
                <a:ea typeface="Tahoma" pitchFamily="34" charset="-122"/>
                <a:cs typeface="Tahoma" pitchFamily="34" charset="-120"/>
              </a:rPr>
              <a:t>IoT แก้ได้ตรงจุด</a:t>
            </a:r>
            <a:endParaRPr lang="en-US" sz="2000" dirty="0"/>
          </a:p>
        </p:txBody>
      </p:sp>
      <p:sp>
        <p:nvSpPr>
          <p:cNvPr id="11" name="Text 9"/>
          <p:cNvSpPr txBox="1"/>
          <p:nvPr/>
        </p:nvSpPr>
        <p:spPr>
          <a:xfrm>
            <a:off x="822960" y="3840480"/>
            <a:ext cx="4937760" cy="822960"/>
          </a:xfrm>
          <a:prstGeom prst="rect">
            <a:avLst/>
          </a:prstGeom>
          <a:noFill/>
          <a:ln/>
        </p:spPr>
        <p:txBody>
          <a:bodyPr wrap="square" lIns="0" tIns="0" rIns="0" bIns="0" rtlCol="0" anchor="t"/>
          <a:lstStyle/>
          <a:p>
            <a:pPr algn="l" indent="0" marL="0">
              <a:buNone/>
            </a:pPr>
            <a:r>
              <a:rPr lang="en-US" sz="1600" dirty="0">
                <a:solidFill>
                  <a:srgbClr val="17301F"/>
                </a:solidFill>
                <a:latin typeface="Tahoma" pitchFamily="34" charset="0"/>
                <a:ea typeface="Tahoma" pitchFamily="34" charset="-122"/>
                <a:cs typeface="Tahoma" pitchFamily="34" charset="-120"/>
              </a:rPr>
              <a:t>ต้องวัดต่อเนื่อง ณ จุดที่คนไม่อยู่ และเตือนก่อนสายเกินไป</a:t>
            </a:r>
            <a:endParaRPr lang="en-US" sz="1600" dirty="0"/>
          </a:p>
        </p:txBody>
      </p:sp>
      <p:sp>
        <p:nvSpPr>
          <p:cNvPr id="12" name="Shape 10"/>
          <p:cNvSpPr/>
          <p:nvPr/>
        </p:nvSpPr>
        <p:spPr>
          <a:xfrm>
            <a:off x="6199632" y="3154680"/>
            <a:ext cx="5440680" cy="1600200"/>
          </a:xfrm>
          <a:prstGeom prst="roundRect">
            <a:avLst>
              <a:gd name="adj" fmla="val 10286"/>
            </a:avLst>
          </a:prstGeom>
          <a:solidFill>
            <a:srgbClr val="EFE9FB"/>
          </a:solidFill>
          <a:ln w="12700">
            <a:solidFill>
              <a:srgbClr val="D5DFCB"/>
            </a:solidFill>
            <a:prstDash val="solid"/>
          </a:ln>
        </p:spPr>
      </p:sp>
      <p:sp>
        <p:nvSpPr>
          <p:cNvPr id="13" name="Text 11"/>
          <p:cNvSpPr txBox="1"/>
          <p:nvPr/>
        </p:nvSpPr>
        <p:spPr>
          <a:xfrm>
            <a:off x="6473952" y="3291840"/>
            <a:ext cx="4937760" cy="457200"/>
          </a:xfrm>
          <a:prstGeom prst="rect">
            <a:avLst/>
          </a:prstGeom>
          <a:noFill/>
          <a:ln/>
        </p:spPr>
        <p:txBody>
          <a:bodyPr wrap="square" lIns="0" tIns="0" rIns="0" bIns="0" rtlCol="0" anchor="ctr"/>
          <a:lstStyle/>
          <a:p>
            <a:pPr algn="l" indent="0" marL="0">
              <a:buNone/>
            </a:pPr>
            <a:r>
              <a:rPr lang="en-US" sz="2000" b="1" dirty="0">
                <a:solidFill>
                  <a:srgbClr val="6E4FB8"/>
                </a:solidFill>
                <a:latin typeface="Tahoma" pitchFamily="34" charset="0"/>
                <a:ea typeface="Tahoma" pitchFamily="34" charset="-122"/>
                <a:cs typeface="Tahoma" pitchFamily="34" charset="-120"/>
              </a:rPr>
              <a:t>ทำได้ด้วยทีมเรา</a:t>
            </a:r>
            <a:endParaRPr lang="en-US" sz="2000" dirty="0"/>
          </a:p>
        </p:txBody>
      </p:sp>
      <p:sp>
        <p:nvSpPr>
          <p:cNvPr id="14" name="Text 12"/>
          <p:cNvSpPr txBox="1"/>
          <p:nvPr/>
        </p:nvSpPr>
        <p:spPr>
          <a:xfrm>
            <a:off x="6473952" y="3840480"/>
            <a:ext cx="4937760" cy="822960"/>
          </a:xfrm>
          <a:prstGeom prst="rect">
            <a:avLst/>
          </a:prstGeom>
          <a:noFill/>
          <a:ln/>
        </p:spPr>
        <p:txBody>
          <a:bodyPr wrap="square" lIns="0" tIns="0" rIns="0" bIns="0" rtlCol="0" anchor="t"/>
          <a:lstStyle/>
          <a:p>
            <a:pPr algn="l" indent="0" marL="0">
              <a:buNone/>
            </a:pPr>
            <a:r>
              <a:rPr lang="en-US" sz="1600" dirty="0">
                <a:solidFill>
                  <a:srgbClr val="17301F"/>
                </a:solidFill>
                <a:latin typeface="Tahoma" pitchFamily="34" charset="0"/>
                <a:ea typeface="Tahoma" pitchFamily="34" charset="-122"/>
                <a:cs typeface="Tahoma" pitchFamily="34" charset="-120"/>
              </a:rPr>
              <a:t>ESP32 + เซนเซอร์แก๊สราคาหลักพัน และอัลกอริทึมที่เปิดให้ใช้ฟรี</a:t>
            </a:r>
            <a:endParaRPr lang="en-US" sz="1600" dirty="0"/>
          </a:p>
        </p:txBody>
      </p:sp>
      <p:sp>
        <p:nvSpPr>
          <p:cNvPr id="15" name="Shape 13"/>
          <p:cNvSpPr/>
          <p:nvPr/>
        </p:nvSpPr>
        <p:spPr>
          <a:xfrm>
            <a:off x="548640" y="5029200"/>
            <a:ext cx="11091672" cy="1188720"/>
          </a:xfrm>
          <a:prstGeom prst="roundRect">
            <a:avLst>
              <a:gd name="adj" fmla="val 13846"/>
            </a:avLst>
          </a:prstGeom>
          <a:solidFill>
            <a:srgbClr val="17301F"/>
          </a:solidFill>
          <a:ln/>
        </p:spPr>
      </p:sp>
      <p:sp>
        <p:nvSpPr>
          <p:cNvPr id="16" name="Text 14"/>
          <p:cNvSpPr txBox="1"/>
          <p:nvPr/>
        </p:nvSpPr>
        <p:spPr>
          <a:xfrm>
            <a:off x="868680" y="5029200"/>
            <a:ext cx="10424160" cy="1188720"/>
          </a:xfrm>
          <a:prstGeom prst="rect">
            <a:avLst/>
          </a:prstGeom>
          <a:noFill/>
          <a:ln/>
        </p:spPr>
        <p:txBody>
          <a:bodyPr wrap="square" lIns="0" tIns="0" rIns="0" bIns="0" rtlCol="0" anchor="ctr"/>
          <a:lstStyle/>
          <a:p>
            <a:pPr algn="l" indent="0" marL="0">
              <a:buNone/>
            </a:pPr>
            <a:r>
              <a:rPr lang="en-US" sz="2000" b="1" dirty="0">
                <a:solidFill>
                  <a:srgbClr val="FFFFFF"/>
                </a:solidFill>
                <a:latin typeface="Tahoma" pitchFamily="34" charset="0"/>
                <a:ea typeface="Tahoma" pitchFamily="34" charset="-122"/>
                <a:cs typeface="Tahoma" pitchFamily="34" charset="-120"/>
              </a:rPr>
              <a:t>โจทย์ของเรา:</a:t>
            </a:r>
            <a:pPr algn="l" indent="0" marL="0">
              <a:buNone/>
            </a:pPr>
            <a:r>
              <a:rPr lang="en-US" sz="2000" dirty="0">
                <a:solidFill>
                  <a:srgbClr val="FFFFFF"/>
                </a:solidFill>
                <a:latin typeface="Tahoma" pitchFamily="34" charset="0"/>
                <a:ea typeface="Tahoma" pitchFamily="34" charset="-122"/>
                <a:cs typeface="Tahoma" pitchFamily="34" charset="-120"/>
              </a:rPr>
              <a:t> จะรู้ได้อย่างไรว่าทุเรียนกำลังสุกเร็วผิดปกติหรือเริ่มเสีย ตั้งแต่ในล้งจนถึงในตู้คอนเทนเนอร์ โดยไม่ต้องผ่าผล</a:t>
            </a:r>
            <a:endParaRPr lang="en-US" sz="2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กลุ่มเป้าหมาย: ขายให้ใคร ใครใช้ ใครจ่าย</a:t>
            </a:r>
            <a:endParaRPr lang="en-US" sz="3000" dirty="0"/>
          </a:p>
        </p:txBody>
      </p:sp>
      <p:sp>
        <p:nvSpPr>
          <p:cNvPr id="3" name="Shape 1"/>
          <p:cNvSpPr/>
          <p:nvPr/>
        </p:nvSpPr>
        <p:spPr>
          <a:xfrm>
            <a:off x="548640" y="1371600"/>
            <a:ext cx="3593592" cy="4297680"/>
          </a:xfrm>
          <a:prstGeom prst="roundRect">
            <a:avLst>
              <a:gd name="adj" fmla="val 4580"/>
            </a:avLst>
          </a:prstGeom>
          <a:solidFill>
            <a:srgbClr val="17301F"/>
          </a:solidFill>
          <a:ln/>
        </p:spPr>
      </p:sp>
      <p:sp>
        <p:nvSpPr>
          <p:cNvPr id="4" name="Text 2"/>
          <p:cNvSpPr txBox="1"/>
          <p:nvPr/>
        </p:nvSpPr>
        <p:spPr>
          <a:xfrm>
            <a:off x="822960" y="1508760"/>
            <a:ext cx="3108960" cy="365760"/>
          </a:xfrm>
          <a:prstGeom prst="rect">
            <a:avLst/>
          </a:prstGeom>
          <a:noFill/>
          <a:ln/>
        </p:spPr>
        <p:txBody>
          <a:bodyPr wrap="square" lIns="0" tIns="0" rIns="0" bIns="0" rtlCol="0" anchor="t"/>
          <a:lstStyle/>
          <a:p>
            <a:pPr algn="l" indent="0" marL="0">
              <a:buNone/>
            </a:pPr>
            <a:r>
              <a:rPr lang="en-US" sz="1400" b="1" dirty="0">
                <a:solidFill>
                  <a:srgbClr val="F5A742"/>
                </a:solidFill>
                <a:latin typeface="Tahoma" pitchFamily="34" charset="0"/>
                <a:ea typeface="Tahoma" pitchFamily="34" charset="-122"/>
                <a:cs typeface="Tahoma" pitchFamily="34" charset="-120"/>
              </a:rPr>
              <a:t>ลูกค้าหลัก</a:t>
            </a:r>
            <a:endParaRPr lang="en-US" sz="1400" dirty="0"/>
          </a:p>
        </p:txBody>
      </p:sp>
      <p:sp>
        <p:nvSpPr>
          <p:cNvPr id="5" name="Text 3"/>
          <p:cNvSpPr txBox="1"/>
          <p:nvPr/>
        </p:nvSpPr>
        <p:spPr>
          <a:xfrm>
            <a:off x="822960" y="1920240"/>
            <a:ext cx="3108960" cy="914400"/>
          </a:xfrm>
          <a:prstGeom prst="rect">
            <a:avLst/>
          </a:prstGeom>
          <a:noFill/>
          <a:ln/>
        </p:spPr>
        <p:txBody>
          <a:bodyPr wrap="square" lIns="0" tIns="0" rIns="0" bIns="0" rtlCol="0" anchor="t"/>
          <a:lstStyle/>
          <a:p>
            <a:pPr algn="l" indent="0" marL="0">
              <a:buNone/>
            </a:pPr>
            <a:r>
              <a:rPr lang="en-US" sz="2200" b="1" dirty="0">
                <a:solidFill>
                  <a:srgbClr val="FFFFFF"/>
                </a:solidFill>
                <a:latin typeface="Tahoma" pitchFamily="34" charset="0"/>
                <a:ea typeface="Tahoma" pitchFamily="34" charset="-122"/>
                <a:cs typeface="Tahoma" pitchFamily="34" charset="-120"/>
              </a:rPr>
              <a:t>ล้งและผู้ส่งออกทุเรียน</a:t>
            </a:r>
            <a:endParaRPr lang="en-US" sz="2200" dirty="0"/>
          </a:p>
        </p:txBody>
      </p:sp>
      <p:sp>
        <p:nvSpPr>
          <p:cNvPr id="6" name="Text 4"/>
          <p:cNvSpPr txBox="1"/>
          <p:nvPr/>
        </p:nvSpPr>
        <p:spPr>
          <a:xfrm>
            <a:off x="822960" y="2926080"/>
            <a:ext cx="3108960" cy="2651760"/>
          </a:xfrm>
          <a:prstGeom prst="rect">
            <a:avLst/>
          </a:prstGeom>
          <a:noFill/>
          <a:ln/>
        </p:spPr>
        <p:txBody>
          <a:bodyPr wrap="square" lIns="0" tIns="0" rIns="0" bIns="0" rtlCol="0" anchor="t"/>
          <a:lstStyle/>
          <a:p>
            <a:pPr algn="l" indent="0" marL="0">
              <a:spcAft>
                <a:spcPts val="1000"/>
              </a:spcAft>
              <a:buNone/>
            </a:pPr>
            <a:r>
              <a:rPr lang="en-US" sz="1600" dirty="0">
                <a:solidFill>
                  <a:srgbClr val="FFFFFF"/>
                </a:solidFill>
                <a:latin typeface="Tahoma" pitchFamily="34" charset="0"/>
                <a:ea typeface="Tahoma" pitchFamily="34" charset="-122"/>
                <a:cs typeface="Tahoma" pitchFamily="34" charset="-120"/>
              </a:rPr>
              <a:t>ปัญหา: ล็อตสุกเกินหรือเสียโดนตีกลับ เสียชื่อและสถานะส่งออก</a:t>
            </a:r>
            <a:endParaRPr lang="en-US" sz="1600" dirty="0"/>
          </a:p>
          <a:p>
            <a:pPr algn="l" indent="0" marL="0">
              <a:spcAft>
                <a:spcPts val="1000"/>
              </a:spcAft>
              <a:buNone/>
            </a:pPr>
            <a:r>
              <a:rPr lang="en-US" sz="1600" dirty="0">
                <a:solidFill>
                  <a:srgbClr val="FFFFFF"/>
                </a:solidFill>
                <a:latin typeface="Tahoma" pitchFamily="34" charset="0"/>
                <a:ea typeface="Tahoma" pitchFamily="34" charset="-122"/>
                <a:cs typeface="Tahoma" pitchFamily="34" charset="-120"/>
              </a:rPr>
              <a:t>ได้: รู้ก่อนว่าล็อตไหนเสี่ยง ส่งตลาดใกล้ก่อน</a:t>
            </a:r>
            <a:endParaRPr lang="en-US" sz="1600" dirty="0"/>
          </a:p>
          <a:p>
            <a:pPr algn="l" indent="0" marL="0">
              <a:spcAft>
                <a:spcPts val="1000"/>
              </a:spcAft>
              <a:buNone/>
            </a:pPr>
            <a:r>
              <a:rPr lang="en-US" sz="1600" dirty="0">
                <a:solidFill>
                  <a:srgbClr val="FFFFFF"/>
                </a:solidFill>
                <a:latin typeface="Tahoma" pitchFamily="34" charset="0"/>
                <a:ea typeface="Tahoma" pitchFamily="34" charset="-122"/>
                <a:cs typeface="Tahoma" pitchFamily="34" charset="-120"/>
              </a:rPr>
              <a:t>ใช้งาน: ฝ่าย QC ที่ลานคัด</a:t>
            </a:r>
            <a:endParaRPr lang="en-US" sz="1600" dirty="0"/>
          </a:p>
        </p:txBody>
      </p:sp>
      <p:sp>
        <p:nvSpPr>
          <p:cNvPr id="7" name="Shape 5"/>
          <p:cNvSpPr/>
          <p:nvPr/>
        </p:nvSpPr>
        <p:spPr>
          <a:xfrm>
            <a:off x="4297680" y="1371600"/>
            <a:ext cx="3593592" cy="4297680"/>
          </a:xfrm>
          <a:prstGeom prst="roundRect">
            <a:avLst>
              <a:gd name="adj" fmla="val 4580"/>
            </a:avLst>
          </a:prstGeom>
          <a:solidFill>
            <a:srgbClr val="EDF2E8"/>
          </a:solidFill>
          <a:ln w="12700">
            <a:solidFill>
              <a:srgbClr val="D5DFCB"/>
            </a:solidFill>
            <a:prstDash val="solid"/>
          </a:ln>
        </p:spPr>
      </p:sp>
      <p:sp>
        <p:nvSpPr>
          <p:cNvPr id="8" name="Text 6"/>
          <p:cNvSpPr txBox="1"/>
          <p:nvPr/>
        </p:nvSpPr>
        <p:spPr>
          <a:xfrm>
            <a:off x="4572000" y="1508760"/>
            <a:ext cx="3108960" cy="365760"/>
          </a:xfrm>
          <a:prstGeom prst="rect">
            <a:avLst/>
          </a:prstGeom>
          <a:noFill/>
          <a:ln/>
        </p:spPr>
        <p:txBody>
          <a:bodyPr wrap="square" lIns="0" tIns="0" rIns="0" bIns="0" rtlCol="0" anchor="t"/>
          <a:lstStyle/>
          <a:p>
            <a:pPr algn="l" indent="0" marL="0">
              <a:buNone/>
            </a:pPr>
            <a:r>
              <a:rPr lang="en-US" sz="1400" b="1" dirty="0">
                <a:solidFill>
                  <a:srgbClr val="2E6B3E"/>
                </a:solidFill>
                <a:latin typeface="Tahoma" pitchFamily="34" charset="0"/>
                <a:ea typeface="Tahoma" pitchFamily="34" charset="-122"/>
                <a:cs typeface="Tahoma" pitchFamily="34" charset="-120"/>
              </a:rPr>
              <a:t>ลูกค้ารอง</a:t>
            </a:r>
            <a:endParaRPr lang="en-US" sz="1400" dirty="0"/>
          </a:p>
        </p:txBody>
      </p:sp>
      <p:sp>
        <p:nvSpPr>
          <p:cNvPr id="9" name="Text 7"/>
          <p:cNvSpPr txBox="1"/>
          <p:nvPr/>
        </p:nvSpPr>
        <p:spPr>
          <a:xfrm>
            <a:off x="4572000" y="1920240"/>
            <a:ext cx="3108960" cy="914400"/>
          </a:xfrm>
          <a:prstGeom prst="rect">
            <a:avLst/>
          </a:prstGeom>
          <a:noFill/>
          <a:ln/>
        </p:spPr>
        <p:txBody>
          <a:bodyPr wrap="square" lIns="0" tIns="0" rIns="0" bIns="0" rtlCol="0" anchor="t"/>
          <a:lstStyle/>
          <a:p>
            <a:pPr algn="l" indent="0" marL="0">
              <a:buNone/>
            </a:pPr>
            <a:r>
              <a:rPr lang="en-US" sz="2200" b="1" dirty="0">
                <a:solidFill>
                  <a:srgbClr val="17301F"/>
                </a:solidFill>
                <a:latin typeface="Tahoma" pitchFamily="34" charset="0"/>
                <a:ea typeface="Tahoma" pitchFamily="34" charset="-122"/>
                <a:cs typeface="Tahoma" pitchFamily="34" charset="-120"/>
              </a:rPr>
              <a:t>บริษัทขนส่งและห้องเย็น</a:t>
            </a:r>
            <a:endParaRPr lang="en-US" sz="2200" dirty="0"/>
          </a:p>
        </p:txBody>
      </p:sp>
      <p:sp>
        <p:nvSpPr>
          <p:cNvPr id="10" name="Text 8"/>
          <p:cNvSpPr txBox="1"/>
          <p:nvPr/>
        </p:nvSpPr>
        <p:spPr>
          <a:xfrm>
            <a:off x="4572000" y="2926080"/>
            <a:ext cx="3108960" cy="2651760"/>
          </a:xfrm>
          <a:prstGeom prst="rect">
            <a:avLst/>
          </a:prstGeom>
          <a:noFill/>
          <a:ln/>
        </p:spPr>
        <p:txBody>
          <a:bodyPr wrap="square" lIns="0" tIns="0" rIns="0" bIns="0" rtlCol="0" anchor="t"/>
          <a:lstStyle/>
          <a:p>
            <a:pPr algn="l" indent="0" marL="0">
              <a:spcAft>
                <a:spcPts val="1000"/>
              </a:spcAft>
              <a:buNone/>
            </a:pPr>
            <a:r>
              <a:rPr lang="en-US" sz="1600" dirty="0">
                <a:solidFill>
                  <a:srgbClr val="17301F"/>
                </a:solidFill>
                <a:latin typeface="Tahoma" pitchFamily="34" charset="0"/>
                <a:ea typeface="Tahoma" pitchFamily="34" charset="-122"/>
                <a:cs typeface="Tahoma" pitchFamily="34" charset="-120"/>
              </a:rPr>
              <a:t>ปัญหา: ไม่รู้สภาพผลไม้ระหว่างทาง เคลมยาก</a:t>
            </a:r>
            <a:endParaRPr lang="en-US" sz="1600" dirty="0"/>
          </a:p>
          <a:p>
            <a:pPr algn="l" indent="0" marL="0">
              <a:spcAft>
                <a:spcPts val="1000"/>
              </a:spcAft>
              <a:buNone/>
            </a:pPr>
            <a:r>
              <a:rPr lang="en-US" sz="1600" dirty="0">
                <a:solidFill>
                  <a:srgbClr val="17301F"/>
                </a:solidFill>
                <a:latin typeface="Tahoma" pitchFamily="34" charset="0"/>
                <a:ea typeface="Tahoma" pitchFamily="34" charset="-122"/>
                <a:cs typeface="Tahoma" pitchFamily="34" charset="-120"/>
              </a:rPr>
              <a:t>ได้: ประวัติกลิ่นรายตู้ ใช้เป็นหลักฐาน</a:t>
            </a:r>
            <a:endParaRPr lang="en-US" sz="1600" dirty="0"/>
          </a:p>
          <a:p>
            <a:pPr algn="l" indent="0" marL="0">
              <a:spcAft>
                <a:spcPts val="1000"/>
              </a:spcAft>
              <a:buNone/>
            </a:pPr>
            <a:r>
              <a:rPr lang="en-US" sz="1600" dirty="0">
                <a:solidFill>
                  <a:srgbClr val="17301F"/>
                </a:solidFill>
                <a:latin typeface="Tahoma" pitchFamily="34" charset="0"/>
                <a:ea typeface="Tahoma" pitchFamily="34" charset="-122"/>
                <a:cs typeface="Tahoma" pitchFamily="34" charset="-120"/>
              </a:rPr>
              <a:t>ใช้งาน: วางกล่องในตู้ ไม่ต้องดูแล</a:t>
            </a:r>
            <a:endParaRPr lang="en-US" sz="1600" dirty="0"/>
          </a:p>
        </p:txBody>
      </p:sp>
      <p:sp>
        <p:nvSpPr>
          <p:cNvPr id="11" name="Shape 9"/>
          <p:cNvSpPr/>
          <p:nvPr/>
        </p:nvSpPr>
        <p:spPr>
          <a:xfrm>
            <a:off x="8046720" y="1371600"/>
            <a:ext cx="3593592" cy="4297680"/>
          </a:xfrm>
          <a:prstGeom prst="roundRect">
            <a:avLst>
              <a:gd name="adj" fmla="val 4580"/>
            </a:avLst>
          </a:prstGeom>
          <a:solidFill>
            <a:srgbClr val="EFE9FB"/>
          </a:solidFill>
          <a:ln w="12700">
            <a:solidFill>
              <a:srgbClr val="D5DFCB"/>
            </a:solidFill>
            <a:prstDash val="solid"/>
          </a:ln>
        </p:spPr>
      </p:sp>
      <p:sp>
        <p:nvSpPr>
          <p:cNvPr id="12" name="Text 10"/>
          <p:cNvSpPr txBox="1"/>
          <p:nvPr/>
        </p:nvSpPr>
        <p:spPr>
          <a:xfrm>
            <a:off x="8321040" y="1508760"/>
            <a:ext cx="3108960" cy="365760"/>
          </a:xfrm>
          <a:prstGeom prst="rect">
            <a:avLst/>
          </a:prstGeom>
          <a:noFill/>
          <a:ln/>
        </p:spPr>
        <p:txBody>
          <a:bodyPr wrap="square" lIns="0" tIns="0" rIns="0" bIns="0" rtlCol="0" anchor="t"/>
          <a:lstStyle/>
          <a:p>
            <a:pPr algn="l" indent="0" marL="0">
              <a:buNone/>
            </a:pPr>
            <a:r>
              <a:rPr lang="en-US" sz="1400" b="1" dirty="0">
                <a:solidFill>
                  <a:srgbClr val="6E4FB8"/>
                </a:solidFill>
                <a:latin typeface="Tahoma" pitchFamily="34" charset="0"/>
                <a:ea typeface="Tahoma" pitchFamily="34" charset="-122"/>
                <a:cs typeface="Tahoma" pitchFamily="34" charset="-120"/>
              </a:rPr>
              <a:t>กลุ่มทดลองตลาด</a:t>
            </a:r>
            <a:endParaRPr lang="en-US" sz="1400" dirty="0"/>
          </a:p>
        </p:txBody>
      </p:sp>
      <p:sp>
        <p:nvSpPr>
          <p:cNvPr id="13" name="Text 11"/>
          <p:cNvSpPr txBox="1"/>
          <p:nvPr/>
        </p:nvSpPr>
        <p:spPr>
          <a:xfrm>
            <a:off x="8321040" y="1920240"/>
            <a:ext cx="3108960" cy="914400"/>
          </a:xfrm>
          <a:prstGeom prst="rect">
            <a:avLst/>
          </a:prstGeom>
          <a:noFill/>
          <a:ln/>
        </p:spPr>
        <p:txBody>
          <a:bodyPr wrap="square" lIns="0" tIns="0" rIns="0" bIns="0" rtlCol="0" anchor="t"/>
          <a:lstStyle/>
          <a:p>
            <a:pPr algn="l" indent="0" marL="0">
              <a:buNone/>
            </a:pPr>
            <a:r>
              <a:rPr lang="en-US" sz="2200" b="1" dirty="0">
                <a:solidFill>
                  <a:srgbClr val="17301F"/>
                </a:solidFill>
                <a:latin typeface="Tahoma" pitchFamily="34" charset="0"/>
                <a:ea typeface="Tahoma" pitchFamily="34" charset="-122"/>
                <a:cs typeface="Tahoma" pitchFamily="34" charset="-120"/>
              </a:rPr>
              <a:t>ร้านผลไม้พรีเมียมและขายออนไลน์</a:t>
            </a:r>
            <a:endParaRPr lang="en-US" sz="2200" dirty="0"/>
          </a:p>
        </p:txBody>
      </p:sp>
      <p:sp>
        <p:nvSpPr>
          <p:cNvPr id="14" name="Text 12"/>
          <p:cNvSpPr txBox="1"/>
          <p:nvPr/>
        </p:nvSpPr>
        <p:spPr>
          <a:xfrm>
            <a:off x="8321040" y="2926080"/>
            <a:ext cx="3108960" cy="2651760"/>
          </a:xfrm>
          <a:prstGeom prst="rect">
            <a:avLst/>
          </a:prstGeom>
          <a:noFill/>
          <a:ln/>
        </p:spPr>
        <p:txBody>
          <a:bodyPr wrap="square" lIns="0" tIns="0" rIns="0" bIns="0" rtlCol="0" anchor="t"/>
          <a:lstStyle/>
          <a:p>
            <a:pPr algn="l" indent="0" marL="0">
              <a:spcAft>
                <a:spcPts val="1000"/>
              </a:spcAft>
              <a:buNone/>
            </a:pPr>
            <a:r>
              <a:rPr lang="en-US" sz="1600" dirty="0">
                <a:solidFill>
                  <a:srgbClr val="17301F"/>
                </a:solidFill>
                <a:latin typeface="Tahoma" pitchFamily="34" charset="0"/>
                <a:ea typeface="Tahoma" pitchFamily="34" charset="-122"/>
                <a:cs typeface="Tahoma" pitchFamily="34" charset="-120"/>
              </a:rPr>
              <a:t>ปัญหา: ลูกค้าได้ผลดิบหรือเละ ร้องเรียน</a:t>
            </a:r>
            <a:endParaRPr lang="en-US" sz="1600" dirty="0"/>
          </a:p>
          <a:p>
            <a:pPr algn="l" indent="0" marL="0">
              <a:spcAft>
                <a:spcPts val="1000"/>
              </a:spcAft>
              <a:buNone/>
            </a:pPr>
            <a:r>
              <a:rPr lang="en-US" sz="1600" dirty="0">
                <a:solidFill>
                  <a:srgbClr val="17301F"/>
                </a:solidFill>
                <a:latin typeface="Tahoma" pitchFamily="34" charset="0"/>
                <a:ea typeface="Tahoma" pitchFamily="34" charset="-122"/>
                <a:cs typeface="Tahoma" pitchFamily="34" charset="-120"/>
              </a:rPr>
              <a:t>ได้: บอกลูกค้าว่าพร้อมกินวันไหน</a:t>
            </a:r>
            <a:endParaRPr lang="en-US" sz="1600" dirty="0"/>
          </a:p>
          <a:p>
            <a:pPr algn="l" indent="0" marL="0">
              <a:spcAft>
                <a:spcPts val="1000"/>
              </a:spcAft>
              <a:buNone/>
            </a:pPr>
            <a:r>
              <a:rPr lang="en-US" sz="1600" dirty="0">
                <a:solidFill>
                  <a:srgbClr val="17301F"/>
                </a:solidFill>
                <a:latin typeface="Tahoma" pitchFamily="34" charset="0"/>
                <a:ea typeface="Tahoma" pitchFamily="34" charset="-122"/>
                <a:cs typeface="Tahoma" pitchFamily="34" charset="-120"/>
              </a:rPr>
              <a:t>ใช้งาน: ดมวันละครั้งที่หน้าร้าน</a:t>
            </a:r>
            <a:endParaRPr lang="en-US" sz="1600" dirty="0"/>
          </a:p>
        </p:txBody>
      </p:sp>
      <p:sp>
        <p:nvSpPr>
          <p:cNvPr id="15" name="Text 13"/>
          <p:cNvSpPr txBox="1"/>
          <p:nvPr/>
        </p:nvSpPr>
        <p:spPr>
          <a:xfrm>
            <a:off x="548640" y="5852160"/>
            <a:ext cx="11091672" cy="457200"/>
          </a:xfrm>
          <a:prstGeom prst="rect">
            <a:avLst/>
          </a:prstGeom>
          <a:noFill/>
          <a:ln/>
        </p:spPr>
        <p:txBody>
          <a:bodyPr wrap="square" lIns="0" tIns="0" rIns="0" bIns="0" rtlCol="0" anchor="t"/>
          <a:lstStyle/>
          <a:p>
            <a:pPr algn="l" indent="0" marL="0">
              <a:buNone/>
            </a:pPr>
            <a:r>
              <a:rPr lang="en-US" sz="1600" dirty="0">
                <a:solidFill>
                  <a:srgbClr val="56665B"/>
                </a:solidFill>
                <a:latin typeface="Tahoma" pitchFamily="34" charset="0"/>
                <a:ea typeface="Tahoma" pitchFamily="34" charset="-122"/>
                <a:cs typeface="Tahoma" pitchFamily="34" charset="-120"/>
              </a:rPr>
              <a:t>เริ่มขายที่ล้งก่อน เพราะเจ็บปวดที่สุดและจ่ายได้ ส่วนร้านค้าใช้ทดลองตลาดเพราะเก็บผลตอบรับง่าย</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แนวทางที่ใช้กันมานานแล้ว และข้อจำกัด</a:t>
            </a:r>
            <a:endParaRPr lang="en-US" sz="3000" dirty="0"/>
          </a:p>
        </p:txBody>
      </p:sp>
      <p:sp>
        <p:nvSpPr>
          <p:cNvPr id="3" name="Shape 1"/>
          <p:cNvSpPr/>
          <p:nvPr/>
        </p:nvSpPr>
        <p:spPr>
          <a:xfrm>
            <a:off x="548640" y="1325880"/>
            <a:ext cx="11091672" cy="457200"/>
          </a:xfrm>
          <a:prstGeom prst="roundRect">
            <a:avLst>
              <a:gd name="adj" fmla="val 20000"/>
            </a:avLst>
          </a:prstGeom>
          <a:solidFill>
            <a:srgbClr val="17301F"/>
          </a:solidFill>
          <a:ln/>
        </p:spPr>
      </p:sp>
      <p:sp>
        <p:nvSpPr>
          <p:cNvPr id="4" name="Text 2"/>
          <p:cNvSpPr txBox="1"/>
          <p:nvPr/>
        </p:nvSpPr>
        <p:spPr>
          <a:xfrm>
            <a:off x="685800" y="1325880"/>
            <a:ext cx="228600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วิธี</a:t>
            </a:r>
            <a:endParaRPr lang="en-US" sz="1400" dirty="0"/>
          </a:p>
        </p:txBody>
      </p:sp>
      <p:sp>
        <p:nvSpPr>
          <p:cNvPr id="5" name="Text 3"/>
          <p:cNvSpPr txBox="1"/>
          <p:nvPr/>
        </p:nvSpPr>
        <p:spPr>
          <a:xfrm>
            <a:off x="3154680" y="1325880"/>
            <a:ext cx="365760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ทำอย่างไร</a:t>
            </a:r>
            <a:endParaRPr lang="en-US" sz="1400" dirty="0"/>
          </a:p>
        </p:txBody>
      </p:sp>
      <p:sp>
        <p:nvSpPr>
          <p:cNvPr id="6" name="Text 4"/>
          <p:cNvSpPr txBox="1"/>
          <p:nvPr/>
        </p:nvSpPr>
        <p:spPr>
          <a:xfrm>
            <a:off x="6995160" y="1325880"/>
            <a:ext cx="4599432"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ข้อจำกัด</a:t>
            </a:r>
            <a:endParaRPr lang="en-US" sz="1400" dirty="0"/>
          </a:p>
        </p:txBody>
      </p:sp>
      <p:sp>
        <p:nvSpPr>
          <p:cNvPr id="7" name="Shape 5"/>
          <p:cNvSpPr/>
          <p:nvPr/>
        </p:nvSpPr>
        <p:spPr>
          <a:xfrm>
            <a:off x="548640" y="1837944"/>
            <a:ext cx="11091672" cy="640080"/>
          </a:xfrm>
          <a:prstGeom prst="roundRect">
            <a:avLst>
              <a:gd name="adj" fmla="val 8571"/>
            </a:avLst>
          </a:prstGeom>
          <a:solidFill>
            <a:srgbClr val="EDF2E8"/>
          </a:solidFill>
          <a:ln w="12700">
            <a:solidFill>
              <a:srgbClr val="D5DFCB"/>
            </a:solidFill>
            <a:prstDash val="solid"/>
          </a:ln>
        </p:spPr>
      </p:sp>
      <p:sp>
        <p:nvSpPr>
          <p:cNvPr id="8" name="Text 6"/>
          <p:cNvSpPr txBox="1"/>
          <p:nvPr/>
        </p:nvSpPr>
        <p:spPr>
          <a:xfrm>
            <a:off x="685800" y="1837944"/>
            <a:ext cx="2240280" cy="64008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นับวันหลังดอกบาน</a:t>
            </a:r>
            <a:endParaRPr lang="en-US" sz="1400" dirty="0"/>
          </a:p>
        </p:txBody>
      </p:sp>
      <p:sp>
        <p:nvSpPr>
          <p:cNvPr id="9" name="Text 7"/>
          <p:cNvSpPr txBox="1"/>
          <p:nvPr/>
        </p:nvSpPr>
        <p:spPr>
          <a:xfrm>
            <a:off x="3154680" y="1837944"/>
            <a:ext cx="3611880" cy="64008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ผูกป้ายตอนดอกบาน ตัดตามจำนวนวัน</a:t>
            </a:r>
            <a:endParaRPr lang="en-US" sz="1400" dirty="0"/>
          </a:p>
        </p:txBody>
      </p:sp>
      <p:sp>
        <p:nvSpPr>
          <p:cNvPr id="10" name="Text 8"/>
          <p:cNvSpPr txBox="1"/>
          <p:nvPr/>
        </p:nvSpPr>
        <p:spPr>
          <a:xfrm>
            <a:off x="6995160" y="1837944"/>
            <a:ext cx="4553712" cy="64008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ต่างกันตามพันธุ์ สวน และอากาศ ไม่ได้บอกสภาพผลหลังตัด</a:t>
            </a:r>
            <a:endParaRPr lang="en-US" sz="1400" dirty="0"/>
          </a:p>
        </p:txBody>
      </p:sp>
      <p:sp>
        <p:nvSpPr>
          <p:cNvPr id="11" name="Shape 9"/>
          <p:cNvSpPr/>
          <p:nvPr/>
        </p:nvSpPr>
        <p:spPr>
          <a:xfrm>
            <a:off x="548640" y="2514600"/>
            <a:ext cx="11091672" cy="640080"/>
          </a:xfrm>
          <a:prstGeom prst="roundRect">
            <a:avLst>
              <a:gd name="adj" fmla="val 8571"/>
            </a:avLst>
          </a:prstGeom>
          <a:solidFill>
            <a:srgbClr val="FFFFFF"/>
          </a:solidFill>
          <a:ln w="12700">
            <a:solidFill>
              <a:srgbClr val="D5DFCB"/>
            </a:solidFill>
            <a:prstDash val="solid"/>
          </a:ln>
        </p:spPr>
      </p:sp>
      <p:sp>
        <p:nvSpPr>
          <p:cNvPr id="12" name="Text 10"/>
          <p:cNvSpPr txBox="1"/>
          <p:nvPr/>
        </p:nvSpPr>
        <p:spPr>
          <a:xfrm>
            <a:off x="685800" y="2514600"/>
            <a:ext cx="2240280" cy="64008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มือตัดเคาะฟังเสียง</a:t>
            </a:r>
            <a:endParaRPr lang="en-US" sz="1400" dirty="0"/>
          </a:p>
        </p:txBody>
      </p:sp>
      <p:sp>
        <p:nvSpPr>
          <p:cNvPr id="13" name="Text 11"/>
          <p:cNvSpPr txBox="1"/>
          <p:nvPr/>
        </p:nvSpPr>
        <p:spPr>
          <a:xfrm>
            <a:off x="3154680" y="2514600"/>
            <a:ext cx="3611880" cy="64008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อาศัยประสบการณ์ ฟังเสียงเปลือก</a:t>
            </a:r>
            <a:endParaRPr lang="en-US" sz="1400" dirty="0"/>
          </a:p>
        </p:txBody>
      </p:sp>
      <p:sp>
        <p:nvSpPr>
          <p:cNvPr id="14" name="Text 12"/>
          <p:cNvSpPr txBox="1"/>
          <p:nvPr/>
        </p:nvSpPr>
        <p:spPr>
          <a:xfrm>
            <a:off x="6995160" y="2514600"/>
            <a:ext cx="4553712" cy="64008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ขึ้นกับทักษะของแต่ละคน ตรวจสอบย้อนหลังไม่ได้</a:t>
            </a:r>
            <a:endParaRPr lang="en-US" sz="1400" dirty="0"/>
          </a:p>
        </p:txBody>
      </p:sp>
      <p:sp>
        <p:nvSpPr>
          <p:cNvPr id="15" name="Shape 13"/>
          <p:cNvSpPr/>
          <p:nvPr/>
        </p:nvSpPr>
        <p:spPr>
          <a:xfrm>
            <a:off x="548640" y="3191256"/>
            <a:ext cx="11091672" cy="640080"/>
          </a:xfrm>
          <a:prstGeom prst="roundRect">
            <a:avLst>
              <a:gd name="adj" fmla="val 8571"/>
            </a:avLst>
          </a:prstGeom>
          <a:solidFill>
            <a:srgbClr val="EDF2E8"/>
          </a:solidFill>
          <a:ln w="12700">
            <a:solidFill>
              <a:srgbClr val="D5DFCB"/>
            </a:solidFill>
            <a:prstDash val="solid"/>
          </a:ln>
        </p:spPr>
      </p:sp>
      <p:sp>
        <p:nvSpPr>
          <p:cNvPr id="16" name="Text 14"/>
          <p:cNvSpPr txBox="1"/>
          <p:nvPr/>
        </p:nvSpPr>
        <p:spPr>
          <a:xfrm>
            <a:off x="685800" y="3191256"/>
            <a:ext cx="2240280" cy="64008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ผ่าวัดน้ำหนักแห้ง</a:t>
            </a:r>
            <a:endParaRPr lang="en-US" sz="1400" dirty="0"/>
          </a:p>
        </p:txBody>
      </p:sp>
      <p:sp>
        <p:nvSpPr>
          <p:cNvPr id="17" name="Text 15"/>
          <p:cNvSpPr txBox="1"/>
          <p:nvPr/>
        </p:nvSpPr>
        <p:spPr>
          <a:xfrm>
            <a:off x="3154680" y="3191256"/>
            <a:ext cx="3611880" cy="64008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เกณฑ์ มกษ. 3-2567 (หมอนทอง ≥ 32%)</a:t>
            </a:r>
            <a:endParaRPr lang="en-US" sz="1400" dirty="0"/>
          </a:p>
        </p:txBody>
      </p:sp>
      <p:sp>
        <p:nvSpPr>
          <p:cNvPr id="18" name="Text 16"/>
          <p:cNvSpPr txBox="1"/>
          <p:nvPr/>
        </p:nvSpPr>
        <p:spPr>
          <a:xfrm>
            <a:off x="6995160" y="3191256"/>
            <a:ext cx="4553712" cy="64008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ต้องทำลายผล (ลูกละราว 480–640 บาท) ทำได้แค่สุ่ม</a:t>
            </a:r>
            <a:endParaRPr lang="en-US" sz="1400" dirty="0"/>
          </a:p>
        </p:txBody>
      </p:sp>
      <p:sp>
        <p:nvSpPr>
          <p:cNvPr id="19" name="Shape 17"/>
          <p:cNvSpPr/>
          <p:nvPr/>
        </p:nvSpPr>
        <p:spPr>
          <a:xfrm>
            <a:off x="548640" y="3867912"/>
            <a:ext cx="11091672" cy="749808"/>
          </a:xfrm>
          <a:prstGeom prst="roundRect">
            <a:avLst>
              <a:gd name="adj" fmla="val 7317"/>
            </a:avLst>
          </a:prstGeom>
          <a:solidFill>
            <a:srgbClr val="FFFFFF"/>
          </a:solidFill>
          <a:ln w="12700">
            <a:solidFill>
              <a:srgbClr val="D5DFCB"/>
            </a:solidFill>
            <a:prstDash val="solid"/>
          </a:ln>
        </p:spPr>
      </p:sp>
      <p:sp>
        <p:nvSpPr>
          <p:cNvPr id="20" name="Text 18"/>
          <p:cNvSpPr txBox="1"/>
          <p:nvPr/>
        </p:nvSpPr>
        <p:spPr>
          <a:xfrm>
            <a:off x="685800" y="3867912"/>
            <a:ext cx="2240280" cy="749808"/>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NIR สเปกโตรมิเตอร์</a:t>
            </a:r>
            <a:endParaRPr lang="en-US" sz="1400" dirty="0"/>
          </a:p>
        </p:txBody>
      </p:sp>
      <p:sp>
        <p:nvSpPr>
          <p:cNvPr id="21" name="Text 19"/>
          <p:cNvSpPr txBox="1"/>
          <p:nvPr/>
        </p:nvSpPr>
        <p:spPr>
          <a:xfrm>
            <a:off x="3154680" y="3867912"/>
            <a:ext cx="3611880" cy="74980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ยิงแสงใกล้อินฟราเรดผ่านเปลือก</a:t>
            </a:r>
            <a:endParaRPr lang="en-US" sz="1400" dirty="0"/>
          </a:p>
        </p:txBody>
      </p:sp>
      <p:sp>
        <p:nvSpPr>
          <p:cNvPr id="22" name="Text 20"/>
          <p:cNvSpPr txBox="1"/>
          <p:nvPr/>
        </p:nvSpPr>
        <p:spPr>
          <a:xfrm>
            <a:off x="6995160" y="3867912"/>
            <a:ext cx="4553712" cy="74980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เครื่องแพง ความแม่นยังจำกัด (SEP 1.67%, R 0.78) และแปรตามความเร็วการแก่</a:t>
            </a:r>
            <a:endParaRPr lang="en-US" sz="1400" dirty="0"/>
          </a:p>
        </p:txBody>
      </p:sp>
      <p:sp>
        <p:nvSpPr>
          <p:cNvPr id="23" name="Shape 21"/>
          <p:cNvSpPr/>
          <p:nvPr/>
        </p:nvSpPr>
        <p:spPr>
          <a:xfrm>
            <a:off x="548640" y="4654296"/>
            <a:ext cx="11091672" cy="640080"/>
          </a:xfrm>
          <a:prstGeom prst="roundRect">
            <a:avLst>
              <a:gd name="adj" fmla="val 8571"/>
            </a:avLst>
          </a:prstGeom>
          <a:solidFill>
            <a:srgbClr val="EDF2E8"/>
          </a:solidFill>
          <a:ln w="12700">
            <a:solidFill>
              <a:srgbClr val="D5DFCB"/>
            </a:solidFill>
            <a:prstDash val="solid"/>
          </a:ln>
        </p:spPr>
      </p:sp>
      <p:sp>
        <p:nvSpPr>
          <p:cNvPr id="24" name="Text 22"/>
          <p:cNvSpPr txBox="1"/>
          <p:nvPr/>
        </p:nvSpPr>
        <p:spPr>
          <a:xfrm>
            <a:off x="685800" y="4654296"/>
            <a:ext cx="2240280" cy="64008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GC-MS ในแล็บ</a:t>
            </a:r>
            <a:endParaRPr lang="en-US" sz="1400" dirty="0"/>
          </a:p>
        </p:txBody>
      </p:sp>
      <p:sp>
        <p:nvSpPr>
          <p:cNvPr id="25" name="Text 23"/>
          <p:cNvSpPr txBox="1"/>
          <p:nvPr/>
        </p:nvSpPr>
        <p:spPr>
          <a:xfrm>
            <a:off x="3154680" y="4654296"/>
            <a:ext cx="3611880" cy="64008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แยกสารกลิ่นทีละตัว แม่นที่สุด</a:t>
            </a:r>
            <a:endParaRPr lang="en-US" sz="1400" dirty="0"/>
          </a:p>
        </p:txBody>
      </p:sp>
      <p:sp>
        <p:nvSpPr>
          <p:cNvPr id="26" name="Text 24"/>
          <p:cNvSpPr txBox="1"/>
          <p:nvPr/>
        </p:nvSpPr>
        <p:spPr>
          <a:xfrm>
            <a:off x="6995160" y="4654296"/>
            <a:ext cx="4553712" cy="64008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แพง ช้า ต้องส่งตัวอย่าง ใช้หน้างานหรือในตู้ไม่ได้</a:t>
            </a:r>
            <a:endParaRPr lang="en-US" sz="1400" dirty="0"/>
          </a:p>
        </p:txBody>
      </p:sp>
      <p:sp>
        <p:nvSpPr>
          <p:cNvPr id="27" name="Shape 25"/>
          <p:cNvSpPr/>
          <p:nvPr/>
        </p:nvSpPr>
        <p:spPr>
          <a:xfrm>
            <a:off x="548640" y="5330952"/>
            <a:ext cx="11091672" cy="640080"/>
          </a:xfrm>
          <a:prstGeom prst="roundRect">
            <a:avLst>
              <a:gd name="adj" fmla="val 8571"/>
            </a:avLst>
          </a:prstGeom>
          <a:solidFill>
            <a:srgbClr val="FFFFFF"/>
          </a:solidFill>
          <a:ln w="12700">
            <a:solidFill>
              <a:srgbClr val="D5DFCB"/>
            </a:solidFill>
            <a:prstDash val="solid"/>
          </a:ln>
        </p:spPr>
      </p:sp>
      <p:sp>
        <p:nvSpPr>
          <p:cNvPr id="28" name="Text 26"/>
          <p:cNvSpPr txBox="1"/>
          <p:nvPr/>
        </p:nvSpPr>
        <p:spPr>
          <a:xfrm>
            <a:off x="685800" y="5330952"/>
            <a:ext cx="2240280" cy="64008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Data logger ในตู้</a:t>
            </a:r>
            <a:endParaRPr lang="en-US" sz="1400" dirty="0"/>
          </a:p>
        </p:txBody>
      </p:sp>
      <p:sp>
        <p:nvSpPr>
          <p:cNvPr id="29" name="Text 27"/>
          <p:cNvSpPr txBox="1"/>
          <p:nvPr/>
        </p:nvSpPr>
        <p:spPr>
          <a:xfrm>
            <a:off x="3154680" y="5330952"/>
            <a:ext cx="3611880" cy="64008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บันทึกอุณหภูมิและความชื้น</a:t>
            </a:r>
            <a:endParaRPr lang="en-US" sz="1400" dirty="0"/>
          </a:p>
        </p:txBody>
      </p:sp>
      <p:sp>
        <p:nvSpPr>
          <p:cNvPr id="30" name="Text 28"/>
          <p:cNvSpPr txBox="1"/>
          <p:nvPr/>
        </p:nvSpPr>
        <p:spPr>
          <a:xfrm>
            <a:off x="6995160" y="5330952"/>
            <a:ext cx="4553712" cy="64008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รู้แค่สภาพอากาศในตู้ ไม่รู้ว่าผลไม้กำลังสุกหรือเสีย</a:t>
            </a:r>
            <a:endParaRPr lang="en-US" sz="1400" dirty="0"/>
          </a:p>
        </p:txBody>
      </p:sp>
      <p:sp>
        <p:nvSpPr>
          <p:cNvPr id="31" name="Text 29"/>
          <p:cNvSpPr txBox="1"/>
          <p:nvPr/>
        </p:nvSpPr>
        <p:spPr>
          <a:xfrm>
            <a:off x="548640" y="6327648"/>
            <a:ext cx="10424160" cy="27432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ที่มา: LINE Today (มกษ. 3-2567), ISHS (NIR หลง-หลินลับแล)</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ทำไมเราใช้ "จมูก" + FlyHash</a:t>
            </a:r>
            <a:endParaRPr lang="en-US" sz="3000" dirty="0"/>
          </a:p>
        </p:txBody>
      </p:sp>
      <p:sp>
        <p:nvSpPr>
          <p:cNvPr id="3" name="Shape 1"/>
          <p:cNvSpPr/>
          <p:nvPr/>
        </p:nvSpPr>
        <p:spPr>
          <a:xfrm>
            <a:off x="548640" y="1371600"/>
            <a:ext cx="4297680" cy="4663440"/>
          </a:xfrm>
          <a:prstGeom prst="roundRect">
            <a:avLst>
              <a:gd name="adj" fmla="val 3830"/>
            </a:avLst>
          </a:prstGeom>
          <a:solidFill>
            <a:srgbClr val="17301F"/>
          </a:solidFill>
          <a:ln/>
        </p:spPr>
      </p:sp>
      <p:sp>
        <p:nvSpPr>
          <p:cNvPr id="4" name="Text 2"/>
          <p:cNvSpPr txBox="1"/>
          <p:nvPr/>
        </p:nvSpPr>
        <p:spPr>
          <a:xfrm>
            <a:off x="868680" y="1600200"/>
            <a:ext cx="3657600" cy="457200"/>
          </a:xfrm>
          <a:prstGeom prst="rect">
            <a:avLst/>
          </a:prstGeom>
          <a:noFill/>
          <a:ln/>
        </p:spPr>
        <p:txBody>
          <a:bodyPr wrap="square" lIns="0" tIns="0" rIns="0" bIns="0" rtlCol="0" anchor="t"/>
          <a:lstStyle/>
          <a:p>
            <a:pPr algn="l" indent="0" marL="0">
              <a:buNone/>
            </a:pPr>
            <a:r>
              <a:rPr lang="en-US" sz="2000" b="1" dirty="0">
                <a:solidFill>
                  <a:srgbClr val="F5A742"/>
                </a:solidFill>
                <a:latin typeface="Tahoma" pitchFamily="34" charset="0"/>
                <a:ea typeface="Tahoma" pitchFamily="34" charset="-122"/>
                <a:cs typeface="Tahoma" pitchFamily="34" charset="-120"/>
              </a:rPr>
              <a:t>ช่องว่างที่ค้นแล้วยังไม่พบ</a:t>
            </a:r>
            <a:endParaRPr lang="en-US" sz="2000" dirty="0"/>
          </a:p>
        </p:txBody>
      </p:sp>
      <p:sp>
        <p:nvSpPr>
          <p:cNvPr id="5" name="Text 3"/>
          <p:cNvSpPr txBox="1"/>
          <p:nvPr/>
        </p:nvSpPr>
        <p:spPr>
          <a:xfrm>
            <a:off x="868680" y="2240280"/>
            <a:ext cx="3657600" cy="2468880"/>
          </a:xfrm>
          <a:prstGeom prst="rect">
            <a:avLst/>
          </a:prstGeom>
          <a:noFill/>
          <a:ln/>
        </p:spPr>
        <p:txBody>
          <a:bodyPr wrap="square" lIns="0" tIns="0" rIns="0" bIns="0" rtlCol="0" anchor="t"/>
          <a:lstStyle/>
          <a:p>
            <a:pPr algn="l" indent="0" marL="0">
              <a:buNone/>
            </a:pPr>
            <a:r>
              <a:rPr lang="en-US" sz="1800" dirty="0">
                <a:solidFill>
                  <a:srgbClr val="FFFFFF"/>
                </a:solidFill>
                <a:latin typeface="Tahoma" pitchFamily="34" charset="0"/>
                <a:ea typeface="Tahoma" pitchFamily="34" charset="-122"/>
                <a:cs typeface="Tahoma" pitchFamily="34" charset="-120"/>
              </a:rPr>
              <a:t>ค้นแล้วไม่พบเครื่องที่ "ดม" ผลไม้ได้ต่อเนื่อง ราคาถูก ทำงานในตู้ที่ไม่มีเน็ต และเรียนพันธุ์ใหม่ได้เอง รวมอยู่ในเครื่องเดียว ทั้งที่กลิ่นคือสัญญาณแรกของการสุกและการเสีย</a:t>
            </a:r>
            <a:endParaRPr lang="en-US" sz="1800" dirty="0"/>
          </a:p>
        </p:txBody>
      </p:sp>
      <p:sp>
        <p:nvSpPr>
          <p:cNvPr id="6" name="Text 4"/>
          <p:cNvSpPr txBox="1"/>
          <p:nvPr/>
        </p:nvSpPr>
        <p:spPr>
          <a:xfrm>
            <a:off x="868680" y="4892040"/>
            <a:ext cx="3657600" cy="1005840"/>
          </a:xfrm>
          <a:prstGeom prst="rect">
            <a:avLst/>
          </a:prstGeom>
          <a:noFill/>
          <a:ln/>
        </p:spPr>
        <p:txBody>
          <a:bodyPr wrap="square" lIns="0" tIns="0" rIns="0" bIns="0" rtlCol="0" anchor="t"/>
          <a:lstStyle/>
          <a:p>
            <a:pPr algn="l" indent="0" marL="0">
              <a:buNone/>
            </a:pPr>
            <a:r>
              <a:rPr lang="en-US" sz="1400" dirty="0">
                <a:solidFill>
                  <a:srgbClr val="D5DFC6"/>
                </a:solidFill>
                <a:latin typeface="Tahoma" pitchFamily="34" charset="0"/>
                <a:ea typeface="Tahoma" pitchFamily="34" charset="-122"/>
                <a:cs typeface="Tahoma" pitchFamily="34" charset="-120"/>
              </a:rPr>
              <a:t>e-nose ราคาถูกปี 2025 ทำได้บางส่วน (ติดตามการสุก ตรวจเพลี้ยแป้ง) แต่เพิ่มพันธุ์ใหม่ต้องเทรนใหม่ — ดูสไลด์ 13</a:t>
            </a:r>
            <a:endParaRPr lang="en-US" sz="1400" dirty="0"/>
          </a:p>
        </p:txBody>
      </p:sp>
      <p:sp>
        <p:nvSpPr>
          <p:cNvPr id="7" name="Shape 5"/>
          <p:cNvSpPr/>
          <p:nvPr/>
        </p:nvSpPr>
        <p:spPr>
          <a:xfrm>
            <a:off x="5212080" y="1463040"/>
            <a:ext cx="566928" cy="566928"/>
          </a:xfrm>
          <a:prstGeom prst="ellipse">
            <a:avLst/>
          </a:prstGeom>
          <a:solidFill>
            <a:srgbClr val="EFE9FB"/>
          </a:solidFill>
          <a:ln/>
        </p:spPr>
      </p:sp>
      <p:sp>
        <p:nvSpPr>
          <p:cNvPr id="8" name="Text 6"/>
          <p:cNvSpPr txBox="1"/>
          <p:nvPr/>
        </p:nvSpPr>
        <p:spPr>
          <a:xfrm>
            <a:off x="5212080" y="1463040"/>
            <a:ext cx="566928" cy="566928"/>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1</a:t>
            </a:r>
            <a:endParaRPr lang="en-US" sz="1800" dirty="0"/>
          </a:p>
        </p:txBody>
      </p:sp>
      <p:sp>
        <p:nvSpPr>
          <p:cNvPr id="9" name="Text 7"/>
          <p:cNvSpPr txBox="1"/>
          <p:nvPr/>
        </p:nvSpPr>
        <p:spPr>
          <a:xfrm>
            <a:off x="5943600" y="1371600"/>
            <a:ext cx="5669280" cy="457200"/>
          </a:xfrm>
          <a:prstGeom prst="rect">
            <a:avLst/>
          </a:prstGeom>
          <a:noFill/>
          <a:ln/>
        </p:spPr>
        <p:txBody>
          <a:bodyPr wrap="square" lIns="0" tIns="0" rIns="0" bIns="0" rtlCol="0" anchor="ctr"/>
          <a:lstStyle/>
          <a:p>
            <a:pPr algn="l" indent="0" marL="0">
              <a:buNone/>
            </a:pPr>
            <a:r>
              <a:rPr lang="en-US" sz="1800" b="1" dirty="0">
                <a:solidFill>
                  <a:srgbClr val="17301F"/>
                </a:solidFill>
                <a:latin typeface="Tahoma" pitchFamily="34" charset="0"/>
                <a:ea typeface="Tahoma" pitchFamily="34" charset="-122"/>
                <a:cs typeface="Tahoma" pitchFamily="34" charset="-120"/>
              </a:rPr>
              <a:t>กลิ่นเปลี่ยนก่อนตาเห็น</a:t>
            </a:r>
            <a:endParaRPr lang="en-US" sz="1800" dirty="0"/>
          </a:p>
        </p:txBody>
      </p:sp>
      <p:sp>
        <p:nvSpPr>
          <p:cNvPr id="10" name="Text 8"/>
          <p:cNvSpPr txBox="1"/>
          <p:nvPr/>
        </p:nvSpPr>
        <p:spPr>
          <a:xfrm>
            <a:off x="5943600" y="1810512"/>
            <a:ext cx="5669280" cy="45720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ผลที่สุกปล่อยสารระเหยมากกว่าผลแก่ที่ยังไม่สุกราว 4 เท่า</a:t>
            </a:r>
            <a:endParaRPr lang="en-US" sz="1400" dirty="0"/>
          </a:p>
        </p:txBody>
      </p:sp>
      <p:sp>
        <p:nvSpPr>
          <p:cNvPr id="11" name="Shape 9"/>
          <p:cNvSpPr/>
          <p:nvPr/>
        </p:nvSpPr>
        <p:spPr>
          <a:xfrm>
            <a:off x="5212080" y="2395728"/>
            <a:ext cx="566928" cy="566928"/>
          </a:xfrm>
          <a:prstGeom prst="ellipse">
            <a:avLst/>
          </a:prstGeom>
          <a:solidFill>
            <a:srgbClr val="EFE9FB"/>
          </a:solidFill>
          <a:ln/>
        </p:spPr>
      </p:sp>
      <p:sp>
        <p:nvSpPr>
          <p:cNvPr id="12" name="Text 10"/>
          <p:cNvSpPr txBox="1"/>
          <p:nvPr/>
        </p:nvSpPr>
        <p:spPr>
          <a:xfrm>
            <a:off x="5212080" y="2395728"/>
            <a:ext cx="566928" cy="566928"/>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2</a:t>
            </a:r>
            <a:endParaRPr lang="en-US" sz="1800" dirty="0"/>
          </a:p>
        </p:txBody>
      </p:sp>
      <p:sp>
        <p:nvSpPr>
          <p:cNvPr id="13" name="Text 11"/>
          <p:cNvSpPr txBox="1"/>
          <p:nvPr/>
        </p:nvSpPr>
        <p:spPr>
          <a:xfrm>
            <a:off x="5943600" y="2304288"/>
            <a:ext cx="5669280" cy="457200"/>
          </a:xfrm>
          <a:prstGeom prst="rect">
            <a:avLst/>
          </a:prstGeom>
          <a:noFill/>
          <a:ln/>
        </p:spPr>
        <p:txBody>
          <a:bodyPr wrap="square" lIns="0" tIns="0" rIns="0" bIns="0" rtlCol="0" anchor="ctr"/>
          <a:lstStyle/>
          <a:p>
            <a:pPr algn="l" indent="0" marL="0">
              <a:buNone/>
            </a:pPr>
            <a:r>
              <a:rPr lang="en-US" sz="1800" b="1" dirty="0">
                <a:solidFill>
                  <a:srgbClr val="17301F"/>
                </a:solidFill>
                <a:latin typeface="Tahoma" pitchFamily="34" charset="0"/>
                <a:ea typeface="Tahoma" pitchFamily="34" charset="-122"/>
                <a:cs typeface="Tahoma" pitchFamily="34" charset="-120"/>
              </a:rPr>
              <a:t>ไม่ทำลายผล</a:t>
            </a:r>
            <a:endParaRPr lang="en-US" sz="1800" dirty="0"/>
          </a:p>
        </p:txBody>
      </p:sp>
      <p:sp>
        <p:nvSpPr>
          <p:cNvPr id="14" name="Text 12"/>
          <p:cNvSpPr txBox="1"/>
          <p:nvPr/>
        </p:nvSpPr>
        <p:spPr>
          <a:xfrm>
            <a:off x="5943600" y="2743200"/>
            <a:ext cx="5669280" cy="45720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ดมได้ทุกลูก ทุกล็อต ซ้ำได้ทุกวัน</a:t>
            </a:r>
            <a:endParaRPr lang="en-US" sz="1400" dirty="0"/>
          </a:p>
        </p:txBody>
      </p:sp>
      <p:sp>
        <p:nvSpPr>
          <p:cNvPr id="15" name="Shape 13"/>
          <p:cNvSpPr/>
          <p:nvPr/>
        </p:nvSpPr>
        <p:spPr>
          <a:xfrm>
            <a:off x="5212080" y="3328416"/>
            <a:ext cx="566928" cy="566928"/>
          </a:xfrm>
          <a:prstGeom prst="ellipse">
            <a:avLst/>
          </a:prstGeom>
          <a:solidFill>
            <a:srgbClr val="EFE9FB"/>
          </a:solidFill>
          <a:ln/>
        </p:spPr>
      </p:sp>
      <p:sp>
        <p:nvSpPr>
          <p:cNvPr id="16" name="Text 14"/>
          <p:cNvSpPr txBox="1"/>
          <p:nvPr/>
        </p:nvSpPr>
        <p:spPr>
          <a:xfrm>
            <a:off x="5212080" y="3328416"/>
            <a:ext cx="566928" cy="566928"/>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3</a:t>
            </a:r>
            <a:endParaRPr lang="en-US" sz="1800" dirty="0"/>
          </a:p>
        </p:txBody>
      </p:sp>
      <p:sp>
        <p:nvSpPr>
          <p:cNvPr id="17" name="Text 15"/>
          <p:cNvSpPr txBox="1"/>
          <p:nvPr/>
        </p:nvSpPr>
        <p:spPr>
          <a:xfrm>
            <a:off x="5943600" y="3236976"/>
            <a:ext cx="5669280" cy="457200"/>
          </a:xfrm>
          <a:prstGeom prst="rect">
            <a:avLst/>
          </a:prstGeom>
          <a:noFill/>
          <a:ln/>
        </p:spPr>
        <p:txBody>
          <a:bodyPr wrap="square" lIns="0" tIns="0" rIns="0" bIns="0" rtlCol="0" anchor="ctr"/>
          <a:lstStyle/>
          <a:p>
            <a:pPr algn="l" indent="0" marL="0">
              <a:buNone/>
            </a:pPr>
            <a:r>
              <a:rPr lang="en-US" sz="1800" b="1" dirty="0">
                <a:solidFill>
                  <a:srgbClr val="17301F"/>
                </a:solidFill>
                <a:latin typeface="Tahoma" pitchFamily="34" charset="0"/>
                <a:ea typeface="Tahoma" pitchFamily="34" charset="-122"/>
                <a:cs typeface="Tahoma" pitchFamily="34" charset="-120"/>
              </a:rPr>
              <a:t>เรียนจากตัวอย่างน้อย</a:t>
            </a:r>
            <a:endParaRPr lang="en-US" sz="1800" dirty="0"/>
          </a:p>
        </p:txBody>
      </p:sp>
      <p:sp>
        <p:nvSpPr>
          <p:cNvPr id="18" name="Text 16"/>
          <p:cNvSpPr txBox="1"/>
          <p:nvPr/>
        </p:nvSpPr>
        <p:spPr>
          <a:xfrm>
            <a:off x="5943600" y="3675888"/>
            <a:ext cx="5669280" cy="45720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FlyHash ไม่ต้องใช้ข้อมูลมหาศาลแบบ deep learning</a:t>
            </a:r>
            <a:endParaRPr lang="en-US" sz="1400" dirty="0"/>
          </a:p>
        </p:txBody>
      </p:sp>
      <p:sp>
        <p:nvSpPr>
          <p:cNvPr id="19" name="Shape 17"/>
          <p:cNvSpPr/>
          <p:nvPr/>
        </p:nvSpPr>
        <p:spPr>
          <a:xfrm>
            <a:off x="5212080" y="4261104"/>
            <a:ext cx="566928" cy="566928"/>
          </a:xfrm>
          <a:prstGeom prst="ellipse">
            <a:avLst/>
          </a:prstGeom>
          <a:solidFill>
            <a:srgbClr val="EFE9FB"/>
          </a:solidFill>
          <a:ln/>
        </p:spPr>
      </p:sp>
      <p:sp>
        <p:nvSpPr>
          <p:cNvPr id="20" name="Text 18"/>
          <p:cNvSpPr txBox="1"/>
          <p:nvPr/>
        </p:nvSpPr>
        <p:spPr>
          <a:xfrm>
            <a:off x="5212080" y="4261104"/>
            <a:ext cx="566928" cy="566928"/>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4</a:t>
            </a:r>
            <a:endParaRPr lang="en-US" sz="1800" dirty="0"/>
          </a:p>
        </p:txBody>
      </p:sp>
      <p:sp>
        <p:nvSpPr>
          <p:cNvPr id="21" name="Text 19"/>
          <p:cNvSpPr txBox="1"/>
          <p:nvPr/>
        </p:nvSpPr>
        <p:spPr>
          <a:xfrm>
            <a:off x="5943600" y="4169664"/>
            <a:ext cx="5669280" cy="457200"/>
          </a:xfrm>
          <a:prstGeom prst="rect">
            <a:avLst/>
          </a:prstGeom>
          <a:noFill/>
          <a:ln/>
        </p:spPr>
        <p:txBody>
          <a:bodyPr wrap="square" lIns="0" tIns="0" rIns="0" bIns="0" rtlCol="0" anchor="ctr"/>
          <a:lstStyle/>
          <a:p>
            <a:pPr algn="l" indent="0" marL="0">
              <a:buNone/>
            </a:pPr>
            <a:r>
              <a:rPr lang="en-US" sz="1800" b="1" dirty="0">
                <a:solidFill>
                  <a:srgbClr val="17301F"/>
                </a:solidFill>
                <a:latin typeface="Tahoma" pitchFamily="34" charset="0"/>
                <a:ea typeface="Tahoma" pitchFamily="34" charset="-122"/>
                <a:cs typeface="Tahoma" pitchFamily="34" charset="-120"/>
              </a:rPr>
              <a:t>ทำงานบนบอร์ดเล็ก</a:t>
            </a:r>
            <a:endParaRPr lang="en-US" sz="1800" dirty="0"/>
          </a:p>
        </p:txBody>
      </p:sp>
      <p:sp>
        <p:nvSpPr>
          <p:cNvPr id="22" name="Text 20"/>
          <p:cNvSpPr txBox="1"/>
          <p:nvPr/>
        </p:nvSpPr>
        <p:spPr>
          <a:xfrm>
            <a:off x="5943600" y="4608576"/>
            <a:ext cx="5669280" cy="45720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รันบน ESP32 ได้ ไม่ต้องพึ่งคลาวด์ในตู้</a:t>
            </a:r>
            <a:endParaRPr lang="en-US" sz="1400" dirty="0"/>
          </a:p>
        </p:txBody>
      </p:sp>
      <p:sp>
        <p:nvSpPr>
          <p:cNvPr id="23" name="Shape 21"/>
          <p:cNvSpPr/>
          <p:nvPr/>
        </p:nvSpPr>
        <p:spPr>
          <a:xfrm>
            <a:off x="5212080" y="5193792"/>
            <a:ext cx="566928" cy="566928"/>
          </a:xfrm>
          <a:prstGeom prst="ellipse">
            <a:avLst/>
          </a:prstGeom>
          <a:solidFill>
            <a:srgbClr val="EFE9FB"/>
          </a:solidFill>
          <a:ln/>
        </p:spPr>
      </p:sp>
      <p:sp>
        <p:nvSpPr>
          <p:cNvPr id="24" name="Text 22"/>
          <p:cNvSpPr txBox="1"/>
          <p:nvPr/>
        </p:nvSpPr>
        <p:spPr>
          <a:xfrm>
            <a:off x="5212080" y="5193792"/>
            <a:ext cx="566928" cy="566928"/>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5</a:t>
            </a:r>
            <a:endParaRPr lang="en-US" sz="1800" dirty="0"/>
          </a:p>
        </p:txBody>
      </p:sp>
      <p:sp>
        <p:nvSpPr>
          <p:cNvPr id="25" name="Text 23"/>
          <p:cNvSpPr txBox="1"/>
          <p:nvPr/>
        </p:nvSpPr>
        <p:spPr>
          <a:xfrm>
            <a:off x="5943600" y="5102352"/>
            <a:ext cx="5669280" cy="457200"/>
          </a:xfrm>
          <a:prstGeom prst="rect">
            <a:avLst/>
          </a:prstGeom>
          <a:noFill/>
          <a:ln/>
        </p:spPr>
        <p:txBody>
          <a:bodyPr wrap="square" lIns="0" tIns="0" rIns="0" bIns="0" rtlCol="0" anchor="ctr"/>
          <a:lstStyle/>
          <a:p>
            <a:pPr algn="l" indent="0" marL="0">
              <a:buNone/>
            </a:pPr>
            <a:r>
              <a:rPr lang="en-US" sz="1800" b="1" dirty="0">
                <a:solidFill>
                  <a:srgbClr val="17301F"/>
                </a:solidFill>
                <a:latin typeface="Tahoma" pitchFamily="34" charset="0"/>
                <a:ea typeface="Tahoma" pitchFamily="34" charset="-122"/>
                <a:cs typeface="Tahoma" pitchFamily="34" charset="-120"/>
              </a:rPr>
              <a:t>บอกได้ว่า "ไม่แน่ใจ"</a:t>
            </a:r>
            <a:endParaRPr lang="en-US" sz="1800" dirty="0"/>
          </a:p>
        </p:txBody>
      </p:sp>
      <p:sp>
        <p:nvSpPr>
          <p:cNvPr id="26" name="Text 24"/>
          <p:cNvSpPr txBox="1"/>
          <p:nvPr/>
        </p:nvSpPr>
        <p:spPr>
          <a:xfrm>
            <a:off x="5943600" y="5541264"/>
            <a:ext cx="5669280" cy="45720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ส่งลูกนั้นให้คนตรวจแทนการเดา</a:t>
            </a:r>
            <a:endParaRPr lang="en-US" sz="1400" dirty="0"/>
          </a:p>
        </p:txBody>
      </p:sp>
      <p:sp>
        <p:nvSpPr>
          <p:cNvPr id="27" name="Text 25"/>
          <p:cNvSpPr txBox="1"/>
          <p:nvPr/>
        </p:nvSpPr>
        <p:spPr>
          <a:xfrm>
            <a:off x="548640" y="6327648"/>
            <a:ext cx="10424160" cy="27432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ที่มา: phtnet (SPME ทุเรียนแก่เทียบสุก)</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หลักการดมกลิ่นของ FlyHash</a:t>
            </a:r>
            <a:endParaRPr lang="en-US" sz="3000" dirty="0"/>
          </a:p>
        </p:txBody>
      </p:sp>
      <p:sp>
        <p:nvSpPr>
          <p:cNvPr id="3" name="Shape 1"/>
          <p:cNvSpPr/>
          <p:nvPr/>
        </p:nvSpPr>
        <p:spPr>
          <a:xfrm>
            <a:off x="548640" y="1371600"/>
            <a:ext cx="2560320" cy="1234440"/>
          </a:xfrm>
          <a:prstGeom prst="roundRect">
            <a:avLst>
              <a:gd name="adj" fmla="val 13333"/>
            </a:avLst>
          </a:prstGeom>
          <a:solidFill>
            <a:srgbClr val="EDF2E8"/>
          </a:solidFill>
          <a:ln/>
        </p:spPr>
      </p:sp>
      <p:sp>
        <p:nvSpPr>
          <p:cNvPr id="4" name="Text 2"/>
          <p:cNvSpPr txBox="1"/>
          <p:nvPr/>
        </p:nvSpPr>
        <p:spPr>
          <a:xfrm>
            <a:off x="685800" y="1371600"/>
            <a:ext cx="2286000" cy="1234440"/>
          </a:xfrm>
          <a:prstGeom prst="rect">
            <a:avLst/>
          </a:prstGeom>
          <a:noFill/>
          <a:ln/>
        </p:spPr>
        <p:txBody>
          <a:bodyPr wrap="square" lIns="0" tIns="0" rIns="0" bIns="0" rtlCol="0" anchor="ctr"/>
          <a:lstStyle/>
          <a:p>
            <a:pPr algn="ctr" indent="0" marL="0">
              <a:spcAft>
                <a:spcPts val="400"/>
              </a:spcAft>
              <a:buNone/>
            </a:pPr>
            <a:r>
              <a:rPr lang="en-US" sz="1800" b="1" dirty="0">
                <a:solidFill>
                  <a:srgbClr val="2E6B3E"/>
                </a:solidFill>
                <a:latin typeface="Tahoma" pitchFamily="34" charset="0"/>
                <a:ea typeface="Tahoma" pitchFamily="34" charset="-122"/>
                <a:cs typeface="Tahoma" pitchFamily="34" charset="-120"/>
              </a:rPr>
              <a:t>ตัวรับกลิ่น 50 ชนิด</a:t>
            </a:r>
            <a:endParaRPr lang="en-US" sz="1800" dirty="0"/>
          </a:p>
          <a:p>
            <a:pPr algn="ctr" indent="0" marL="0">
              <a:buNone/>
            </a:pPr>
            <a:r>
              <a:rPr lang="en-US" sz="1400" dirty="0">
                <a:solidFill>
                  <a:srgbClr val="56665B"/>
                </a:solidFill>
                <a:latin typeface="Tahoma" pitchFamily="34" charset="0"/>
                <a:ea typeface="Tahoma" pitchFamily="34" charset="-122"/>
                <a:cs typeface="Tahoma" pitchFamily="34" charset="-120"/>
              </a:rPr>
              <a:t>เซนเซอร์แก๊สหลายช่อง</a:t>
            </a:r>
            <a:endParaRPr lang="en-US" sz="1800" dirty="0"/>
          </a:p>
        </p:txBody>
      </p:sp>
      <p:sp>
        <p:nvSpPr>
          <p:cNvPr id="5" name="Text 3"/>
          <p:cNvSpPr txBox="1"/>
          <p:nvPr/>
        </p:nvSpPr>
        <p:spPr>
          <a:xfrm>
            <a:off x="3108960" y="1691640"/>
            <a:ext cx="246888" cy="548640"/>
          </a:xfrm>
          <a:prstGeom prst="rect">
            <a:avLst/>
          </a:prstGeom>
          <a:noFill/>
          <a:ln/>
        </p:spPr>
        <p:txBody>
          <a:bodyPr wrap="square" lIns="0" tIns="0" rIns="0" bIns="0" rtlCol="0" anchor="t"/>
          <a:lstStyle/>
          <a:p>
            <a:pPr algn="ctr" indent="0" marL="0">
              <a:buNone/>
            </a:pPr>
            <a:r>
              <a:rPr lang="en-US" sz="2200" b="1" dirty="0">
                <a:solidFill>
                  <a:srgbClr val="2E6B3E"/>
                </a:solidFill>
                <a:latin typeface="Tahoma" pitchFamily="34" charset="0"/>
                <a:ea typeface="Tahoma" pitchFamily="34" charset="-122"/>
                <a:cs typeface="Tahoma" pitchFamily="34" charset="-120"/>
              </a:rPr>
              <a:t>→</a:t>
            </a:r>
            <a:endParaRPr lang="en-US" sz="2200" dirty="0"/>
          </a:p>
        </p:txBody>
      </p:sp>
      <p:sp>
        <p:nvSpPr>
          <p:cNvPr id="6" name="Shape 4"/>
          <p:cNvSpPr/>
          <p:nvPr/>
        </p:nvSpPr>
        <p:spPr>
          <a:xfrm>
            <a:off x="3355848" y="1371600"/>
            <a:ext cx="2560320" cy="1234440"/>
          </a:xfrm>
          <a:prstGeom prst="roundRect">
            <a:avLst>
              <a:gd name="adj" fmla="val 13333"/>
            </a:avLst>
          </a:prstGeom>
          <a:solidFill>
            <a:srgbClr val="EFE9FB"/>
          </a:solidFill>
          <a:ln/>
        </p:spPr>
      </p:sp>
      <p:sp>
        <p:nvSpPr>
          <p:cNvPr id="7" name="Text 5"/>
          <p:cNvSpPr txBox="1"/>
          <p:nvPr/>
        </p:nvSpPr>
        <p:spPr>
          <a:xfrm>
            <a:off x="3493008" y="1371600"/>
            <a:ext cx="2286000" cy="1234440"/>
          </a:xfrm>
          <a:prstGeom prst="rect">
            <a:avLst/>
          </a:prstGeom>
          <a:noFill/>
          <a:ln/>
        </p:spPr>
        <p:txBody>
          <a:bodyPr wrap="square" lIns="0" tIns="0" rIns="0" bIns="0" rtlCol="0" anchor="ctr"/>
          <a:lstStyle/>
          <a:p>
            <a:pPr algn="ctr" indent="0" marL="0">
              <a:spcAft>
                <a:spcPts val="400"/>
              </a:spcAft>
              <a:buNone/>
            </a:pPr>
            <a:r>
              <a:rPr lang="en-US" sz="1800" b="1" dirty="0">
                <a:solidFill>
                  <a:srgbClr val="6E4FB8"/>
                </a:solidFill>
                <a:latin typeface="Tahoma" pitchFamily="34" charset="0"/>
                <a:ea typeface="Tahoma" pitchFamily="34" charset="-122"/>
                <a:cs typeface="Tahoma" pitchFamily="34" charset="-120"/>
              </a:rPr>
              <a:t>แอนเทนนัลโลบ</a:t>
            </a:r>
            <a:endParaRPr lang="en-US" sz="1800" dirty="0"/>
          </a:p>
          <a:p>
            <a:pPr algn="ctr" indent="0" marL="0">
              <a:buNone/>
            </a:pPr>
            <a:r>
              <a:rPr lang="en-US" sz="1400" dirty="0">
                <a:solidFill>
                  <a:srgbClr val="56665B"/>
                </a:solidFill>
                <a:latin typeface="Tahoma" pitchFamily="34" charset="0"/>
                <a:ea typeface="Tahoma" pitchFamily="34" charset="-122"/>
                <a:cs typeface="Tahoma" pitchFamily="34" charset="-120"/>
              </a:rPr>
              <a:t>ปรับมาตรฐาน ตัดผลความเข้ม</a:t>
            </a:r>
            <a:endParaRPr lang="en-US" sz="1800" dirty="0"/>
          </a:p>
        </p:txBody>
      </p:sp>
      <p:sp>
        <p:nvSpPr>
          <p:cNvPr id="8" name="Text 6"/>
          <p:cNvSpPr txBox="1"/>
          <p:nvPr/>
        </p:nvSpPr>
        <p:spPr>
          <a:xfrm>
            <a:off x="5916168" y="1691640"/>
            <a:ext cx="246888" cy="548640"/>
          </a:xfrm>
          <a:prstGeom prst="rect">
            <a:avLst/>
          </a:prstGeom>
          <a:noFill/>
          <a:ln/>
        </p:spPr>
        <p:txBody>
          <a:bodyPr wrap="square" lIns="0" tIns="0" rIns="0" bIns="0" rtlCol="0" anchor="t"/>
          <a:lstStyle/>
          <a:p>
            <a:pPr algn="ctr" indent="0" marL="0">
              <a:buNone/>
            </a:pPr>
            <a:r>
              <a:rPr lang="en-US" sz="2200" b="1" dirty="0">
                <a:solidFill>
                  <a:srgbClr val="2E6B3E"/>
                </a:solidFill>
                <a:latin typeface="Tahoma" pitchFamily="34" charset="0"/>
                <a:ea typeface="Tahoma" pitchFamily="34" charset="-122"/>
                <a:cs typeface="Tahoma" pitchFamily="34" charset="-120"/>
              </a:rPr>
              <a:t>→</a:t>
            </a:r>
            <a:endParaRPr lang="en-US" sz="2200" dirty="0"/>
          </a:p>
        </p:txBody>
      </p:sp>
      <p:sp>
        <p:nvSpPr>
          <p:cNvPr id="9" name="Shape 7"/>
          <p:cNvSpPr/>
          <p:nvPr/>
        </p:nvSpPr>
        <p:spPr>
          <a:xfrm>
            <a:off x="6163056" y="1371600"/>
            <a:ext cx="2560320" cy="1234440"/>
          </a:xfrm>
          <a:prstGeom prst="roundRect">
            <a:avLst>
              <a:gd name="adj" fmla="val 13333"/>
            </a:avLst>
          </a:prstGeom>
          <a:solidFill>
            <a:srgbClr val="EFE9FB"/>
          </a:solidFill>
          <a:ln/>
        </p:spPr>
      </p:sp>
      <p:sp>
        <p:nvSpPr>
          <p:cNvPr id="10" name="Text 8"/>
          <p:cNvSpPr txBox="1"/>
          <p:nvPr/>
        </p:nvSpPr>
        <p:spPr>
          <a:xfrm>
            <a:off x="6300216" y="1371600"/>
            <a:ext cx="2286000" cy="1234440"/>
          </a:xfrm>
          <a:prstGeom prst="rect">
            <a:avLst/>
          </a:prstGeom>
          <a:noFill/>
          <a:ln/>
        </p:spPr>
        <p:txBody>
          <a:bodyPr wrap="square" lIns="0" tIns="0" rIns="0" bIns="0" rtlCol="0" anchor="ctr"/>
          <a:lstStyle/>
          <a:p>
            <a:pPr algn="ctr" indent="0" marL="0">
              <a:spcAft>
                <a:spcPts val="400"/>
              </a:spcAft>
              <a:buNone/>
            </a:pPr>
            <a:r>
              <a:rPr lang="en-US" sz="1800" b="1" dirty="0">
                <a:solidFill>
                  <a:srgbClr val="6E4FB8"/>
                </a:solidFill>
                <a:latin typeface="Tahoma" pitchFamily="34" charset="0"/>
                <a:ea typeface="Tahoma" pitchFamily="34" charset="-122"/>
                <a:cs typeface="Tahoma" pitchFamily="34" charset="-120"/>
              </a:rPr>
              <a:t>เคนยอน 2,000 เซลล์</a:t>
            </a:r>
            <a:endParaRPr lang="en-US" sz="1800" dirty="0"/>
          </a:p>
          <a:p>
            <a:pPr algn="ctr" indent="0" marL="0">
              <a:buNone/>
            </a:pPr>
            <a:r>
              <a:rPr lang="en-US" sz="1400" dirty="0">
                <a:solidFill>
                  <a:srgbClr val="56665B"/>
                </a:solidFill>
                <a:latin typeface="Tahoma" pitchFamily="34" charset="0"/>
                <a:ea typeface="Tahoma" pitchFamily="34" charset="-122"/>
                <a:cs typeface="Tahoma" pitchFamily="34" charset="-120"/>
              </a:rPr>
              <a:t>สุ่มรับ 6 ช่อง/เซลล์</a:t>
            </a:r>
            <a:endParaRPr lang="en-US" sz="1800" dirty="0"/>
          </a:p>
        </p:txBody>
      </p:sp>
      <p:sp>
        <p:nvSpPr>
          <p:cNvPr id="11" name="Text 9"/>
          <p:cNvSpPr txBox="1"/>
          <p:nvPr/>
        </p:nvSpPr>
        <p:spPr>
          <a:xfrm>
            <a:off x="8723376" y="1691640"/>
            <a:ext cx="246888" cy="548640"/>
          </a:xfrm>
          <a:prstGeom prst="rect">
            <a:avLst/>
          </a:prstGeom>
          <a:noFill/>
          <a:ln/>
        </p:spPr>
        <p:txBody>
          <a:bodyPr wrap="square" lIns="0" tIns="0" rIns="0" bIns="0" rtlCol="0" anchor="t"/>
          <a:lstStyle/>
          <a:p>
            <a:pPr algn="ctr" indent="0" marL="0">
              <a:buNone/>
            </a:pPr>
            <a:r>
              <a:rPr lang="en-US" sz="2200" b="1" dirty="0">
                <a:solidFill>
                  <a:srgbClr val="2E6B3E"/>
                </a:solidFill>
                <a:latin typeface="Tahoma" pitchFamily="34" charset="0"/>
                <a:ea typeface="Tahoma" pitchFamily="34" charset="-122"/>
                <a:cs typeface="Tahoma" pitchFamily="34" charset="-120"/>
              </a:rPr>
              <a:t>→</a:t>
            </a:r>
            <a:endParaRPr lang="en-US" sz="2200" dirty="0"/>
          </a:p>
        </p:txBody>
      </p:sp>
      <p:sp>
        <p:nvSpPr>
          <p:cNvPr id="12" name="Shape 10"/>
          <p:cNvSpPr/>
          <p:nvPr/>
        </p:nvSpPr>
        <p:spPr>
          <a:xfrm>
            <a:off x="8970264" y="1371600"/>
            <a:ext cx="2560320" cy="1234440"/>
          </a:xfrm>
          <a:prstGeom prst="roundRect">
            <a:avLst>
              <a:gd name="adj" fmla="val 13333"/>
            </a:avLst>
          </a:prstGeom>
          <a:solidFill>
            <a:srgbClr val="DDF0E3"/>
          </a:solidFill>
          <a:ln/>
        </p:spPr>
      </p:sp>
      <p:sp>
        <p:nvSpPr>
          <p:cNvPr id="13" name="Text 11"/>
          <p:cNvSpPr txBox="1"/>
          <p:nvPr/>
        </p:nvSpPr>
        <p:spPr>
          <a:xfrm>
            <a:off x="9107424" y="1371600"/>
            <a:ext cx="2286000" cy="1234440"/>
          </a:xfrm>
          <a:prstGeom prst="rect">
            <a:avLst/>
          </a:prstGeom>
          <a:noFill/>
          <a:ln/>
        </p:spPr>
        <p:txBody>
          <a:bodyPr wrap="square" lIns="0" tIns="0" rIns="0" bIns="0" rtlCol="0" anchor="ctr"/>
          <a:lstStyle/>
          <a:p>
            <a:pPr algn="ctr" indent="0" marL="0">
              <a:spcAft>
                <a:spcPts val="400"/>
              </a:spcAft>
              <a:buNone/>
            </a:pPr>
            <a:r>
              <a:rPr lang="en-US" sz="1800" b="1" dirty="0">
                <a:solidFill>
                  <a:srgbClr val="2E7D4F"/>
                </a:solidFill>
                <a:latin typeface="Tahoma" pitchFamily="34" charset="0"/>
                <a:ea typeface="Tahoma" pitchFamily="34" charset="-122"/>
                <a:cs typeface="Tahoma" pitchFamily="34" charset="-120"/>
              </a:rPr>
              <a:t>APL เก็บแค่ 5%</a:t>
            </a:r>
            <a:endParaRPr lang="en-US" sz="1800" dirty="0"/>
          </a:p>
          <a:p>
            <a:pPr algn="ctr" indent="0" marL="0">
              <a:buNone/>
            </a:pPr>
            <a:r>
              <a:rPr lang="en-US" sz="1400" dirty="0">
                <a:solidFill>
                  <a:srgbClr val="56665B"/>
                </a:solidFill>
                <a:latin typeface="Tahoma" pitchFamily="34" charset="0"/>
                <a:ea typeface="Tahoma" pitchFamily="34" charset="-122"/>
                <a:cs typeface="Tahoma" pitchFamily="34" charset="-120"/>
              </a:rPr>
              <a:t>ได้แท็ก 100 บิต</a:t>
            </a:r>
            <a:endParaRPr lang="en-US" sz="1800" dirty="0"/>
          </a:p>
        </p:txBody>
      </p:sp>
      <p:sp>
        <p:nvSpPr>
          <p:cNvPr id="14" name="Text 12"/>
          <p:cNvSpPr txBox="1"/>
          <p:nvPr/>
        </p:nvSpPr>
        <p:spPr>
          <a:xfrm>
            <a:off x="548640" y="2880360"/>
            <a:ext cx="10972800" cy="411480"/>
          </a:xfrm>
          <a:prstGeom prst="rect">
            <a:avLst/>
          </a:prstGeom>
          <a:noFill/>
          <a:ln/>
        </p:spPr>
        <p:txBody>
          <a:bodyPr wrap="square" lIns="0" tIns="0" rIns="0" bIns="0" rtlCol="0" anchor="t"/>
          <a:lstStyle/>
          <a:p>
            <a:pPr algn="l" indent="0" marL="0">
              <a:buNone/>
            </a:pPr>
            <a:r>
              <a:rPr lang="en-US" sz="2000" b="1" dirty="0">
                <a:solidFill>
                  <a:srgbClr val="17301F"/>
                </a:solidFill>
                <a:latin typeface="Tahoma" pitchFamily="34" charset="0"/>
                <a:ea typeface="Tahoma" pitchFamily="34" charset="-122"/>
                <a:cs typeface="Tahoma" pitchFamily="34" charset="-120"/>
              </a:rPr>
              <a:t>ทำไมหลักการนี้เหมาะกับโจทย์ผลไม้</a:t>
            </a:r>
            <a:endParaRPr lang="en-US" sz="2000" dirty="0"/>
          </a:p>
        </p:txBody>
      </p:sp>
      <p:sp>
        <p:nvSpPr>
          <p:cNvPr id="15" name="Shape 13"/>
          <p:cNvSpPr/>
          <p:nvPr/>
        </p:nvSpPr>
        <p:spPr>
          <a:xfrm>
            <a:off x="548640" y="3502152"/>
            <a:ext cx="548640" cy="548640"/>
          </a:xfrm>
          <a:prstGeom prst="ellipse">
            <a:avLst/>
          </a:prstGeom>
          <a:solidFill>
            <a:srgbClr val="EFE9FB"/>
          </a:solidFill>
          <a:ln/>
        </p:spPr>
      </p:sp>
      <p:sp>
        <p:nvSpPr>
          <p:cNvPr id="16" name="Text 14"/>
          <p:cNvSpPr txBox="1"/>
          <p:nvPr/>
        </p:nvSpPr>
        <p:spPr>
          <a:xfrm>
            <a:off x="548640" y="3502152"/>
            <a:ext cx="548640" cy="548640"/>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1</a:t>
            </a:r>
            <a:endParaRPr lang="en-US" sz="1800" dirty="0"/>
          </a:p>
        </p:txBody>
      </p:sp>
      <p:sp>
        <p:nvSpPr>
          <p:cNvPr id="17" name="Text 15"/>
          <p:cNvSpPr txBox="1"/>
          <p:nvPr/>
        </p:nvSpPr>
        <p:spPr>
          <a:xfrm>
            <a:off x="1280160" y="3429000"/>
            <a:ext cx="4754880" cy="411480"/>
          </a:xfrm>
          <a:prstGeom prst="rect">
            <a:avLst/>
          </a:prstGeom>
          <a:noFill/>
          <a:ln/>
        </p:spPr>
        <p:txBody>
          <a:bodyPr wrap="square" lIns="0" tIns="0" rIns="0" bIns="0" rtlCol="0" anchor="ctr"/>
          <a:lstStyle/>
          <a:p>
            <a:pPr algn="l" indent="0" marL="0">
              <a:buNone/>
            </a:pPr>
            <a:r>
              <a:rPr lang="en-US" sz="1600" b="1" dirty="0">
                <a:solidFill>
                  <a:srgbClr val="17301F"/>
                </a:solidFill>
                <a:latin typeface="Tahoma" pitchFamily="34" charset="0"/>
                <a:ea typeface="Tahoma" pitchFamily="34" charset="-122"/>
                <a:cs typeface="Tahoma" pitchFamily="34" charset="-120"/>
              </a:rPr>
              <a:t>กลิ่นคล้ายกัน → แท็กคล้ายกัน</a:t>
            </a:r>
            <a:endParaRPr lang="en-US" sz="1600" dirty="0"/>
          </a:p>
        </p:txBody>
      </p:sp>
      <p:sp>
        <p:nvSpPr>
          <p:cNvPr id="18" name="Text 16"/>
          <p:cNvSpPr txBox="1"/>
          <p:nvPr/>
        </p:nvSpPr>
        <p:spPr>
          <a:xfrm>
            <a:off x="1280160" y="3840480"/>
            <a:ext cx="4754880" cy="64008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ผลที่สุกระดับเดียวกันได้แท็กใกล้กัน ค้นหาเพื่อนบ้านได้เร็ว</a:t>
            </a:r>
            <a:endParaRPr lang="en-US" sz="1400" dirty="0"/>
          </a:p>
        </p:txBody>
      </p:sp>
      <p:sp>
        <p:nvSpPr>
          <p:cNvPr id="19" name="Shape 17"/>
          <p:cNvSpPr/>
          <p:nvPr/>
        </p:nvSpPr>
        <p:spPr>
          <a:xfrm>
            <a:off x="6199632" y="3502152"/>
            <a:ext cx="548640" cy="548640"/>
          </a:xfrm>
          <a:prstGeom prst="ellipse">
            <a:avLst/>
          </a:prstGeom>
          <a:solidFill>
            <a:srgbClr val="EFE9FB"/>
          </a:solidFill>
          <a:ln/>
        </p:spPr>
      </p:sp>
      <p:sp>
        <p:nvSpPr>
          <p:cNvPr id="20" name="Text 18"/>
          <p:cNvSpPr txBox="1"/>
          <p:nvPr/>
        </p:nvSpPr>
        <p:spPr>
          <a:xfrm>
            <a:off x="6199632" y="3502152"/>
            <a:ext cx="548640" cy="548640"/>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2</a:t>
            </a:r>
            <a:endParaRPr lang="en-US" sz="1800" dirty="0"/>
          </a:p>
        </p:txBody>
      </p:sp>
      <p:sp>
        <p:nvSpPr>
          <p:cNvPr id="21" name="Text 19"/>
          <p:cNvSpPr txBox="1"/>
          <p:nvPr/>
        </p:nvSpPr>
        <p:spPr>
          <a:xfrm>
            <a:off x="6931152" y="3429000"/>
            <a:ext cx="4754880" cy="411480"/>
          </a:xfrm>
          <a:prstGeom prst="rect">
            <a:avLst/>
          </a:prstGeom>
          <a:noFill/>
          <a:ln/>
        </p:spPr>
        <p:txBody>
          <a:bodyPr wrap="square" lIns="0" tIns="0" rIns="0" bIns="0" rtlCol="0" anchor="ctr"/>
          <a:lstStyle/>
          <a:p>
            <a:pPr algn="l" indent="0" marL="0">
              <a:buNone/>
            </a:pPr>
            <a:r>
              <a:rPr lang="en-US" sz="1600" b="1" dirty="0">
                <a:solidFill>
                  <a:srgbClr val="17301F"/>
                </a:solidFill>
                <a:latin typeface="Tahoma" pitchFamily="34" charset="0"/>
                <a:ea typeface="Tahoma" pitchFamily="34" charset="-122"/>
                <a:cs typeface="Tahoma" pitchFamily="34" charset="-120"/>
              </a:rPr>
              <a:t>ไม่สนใจความเข้มข้น</a:t>
            </a:r>
            <a:endParaRPr lang="en-US" sz="1600" dirty="0"/>
          </a:p>
        </p:txBody>
      </p:sp>
      <p:sp>
        <p:nvSpPr>
          <p:cNvPr id="22" name="Text 20"/>
          <p:cNvSpPr txBox="1"/>
          <p:nvPr/>
        </p:nvSpPr>
        <p:spPr>
          <a:xfrm>
            <a:off x="6931152" y="3840480"/>
            <a:ext cx="4754880" cy="64008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ลูกใหญ่กลิ่นแรงกว่า แต่ไม่ได้แปลว่าสุกกว่า</a:t>
            </a:r>
            <a:endParaRPr lang="en-US" sz="1400" dirty="0"/>
          </a:p>
        </p:txBody>
      </p:sp>
      <p:sp>
        <p:nvSpPr>
          <p:cNvPr id="23" name="Shape 21"/>
          <p:cNvSpPr/>
          <p:nvPr/>
        </p:nvSpPr>
        <p:spPr>
          <a:xfrm>
            <a:off x="548640" y="4599432"/>
            <a:ext cx="548640" cy="548640"/>
          </a:xfrm>
          <a:prstGeom prst="ellipse">
            <a:avLst/>
          </a:prstGeom>
          <a:solidFill>
            <a:srgbClr val="EFE9FB"/>
          </a:solidFill>
          <a:ln/>
        </p:spPr>
      </p:sp>
      <p:sp>
        <p:nvSpPr>
          <p:cNvPr id="24" name="Text 22"/>
          <p:cNvSpPr txBox="1"/>
          <p:nvPr/>
        </p:nvSpPr>
        <p:spPr>
          <a:xfrm>
            <a:off x="548640" y="4599432"/>
            <a:ext cx="548640" cy="548640"/>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3</a:t>
            </a:r>
            <a:endParaRPr lang="en-US" sz="1800" dirty="0"/>
          </a:p>
        </p:txBody>
      </p:sp>
      <p:sp>
        <p:nvSpPr>
          <p:cNvPr id="25" name="Text 23"/>
          <p:cNvSpPr txBox="1"/>
          <p:nvPr/>
        </p:nvSpPr>
        <p:spPr>
          <a:xfrm>
            <a:off x="1280160" y="4526280"/>
            <a:ext cx="4754880" cy="411480"/>
          </a:xfrm>
          <a:prstGeom prst="rect">
            <a:avLst/>
          </a:prstGeom>
          <a:noFill/>
          <a:ln/>
        </p:spPr>
        <p:txBody>
          <a:bodyPr wrap="square" lIns="0" tIns="0" rIns="0" bIns="0" rtlCol="0" anchor="ctr"/>
          <a:lstStyle/>
          <a:p>
            <a:pPr algn="l" indent="0" marL="0">
              <a:buNone/>
            </a:pPr>
            <a:r>
              <a:rPr lang="en-US" sz="1600" b="1" dirty="0">
                <a:solidFill>
                  <a:srgbClr val="17301F"/>
                </a:solidFill>
                <a:latin typeface="Tahoma" pitchFamily="34" charset="0"/>
                <a:ea typeface="Tahoma" pitchFamily="34" charset="-122"/>
                <a:cs typeface="Tahoma" pitchFamily="34" charset="-120"/>
              </a:rPr>
              <a:t>เรียนเพิ่มได้ทีละตัวอย่าง</a:t>
            </a:r>
            <a:endParaRPr lang="en-US" sz="1600" dirty="0"/>
          </a:p>
        </p:txBody>
      </p:sp>
      <p:sp>
        <p:nvSpPr>
          <p:cNvPr id="26" name="Text 24"/>
          <p:cNvSpPr txBox="1"/>
          <p:nvPr/>
        </p:nvSpPr>
        <p:spPr>
          <a:xfrm>
            <a:off x="1280160" y="4937760"/>
            <a:ext cx="4754880" cy="64008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เพิ่มพันธุ์หรือผลไม้ใหม่โดยไม่ลบความจำเดิม</a:t>
            </a:r>
            <a:endParaRPr lang="en-US" sz="1400" dirty="0"/>
          </a:p>
        </p:txBody>
      </p:sp>
      <p:sp>
        <p:nvSpPr>
          <p:cNvPr id="27" name="Shape 25"/>
          <p:cNvSpPr/>
          <p:nvPr/>
        </p:nvSpPr>
        <p:spPr>
          <a:xfrm>
            <a:off x="6199632" y="4599432"/>
            <a:ext cx="548640" cy="548640"/>
          </a:xfrm>
          <a:prstGeom prst="ellipse">
            <a:avLst/>
          </a:prstGeom>
          <a:solidFill>
            <a:srgbClr val="EFE9FB"/>
          </a:solidFill>
          <a:ln/>
        </p:spPr>
      </p:sp>
      <p:sp>
        <p:nvSpPr>
          <p:cNvPr id="28" name="Text 26"/>
          <p:cNvSpPr txBox="1"/>
          <p:nvPr/>
        </p:nvSpPr>
        <p:spPr>
          <a:xfrm>
            <a:off x="6199632" y="4599432"/>
            <a:ext cx="548640" cy="548640"/>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4</a:t>
            </a:r>
            <a:endParaRPr lang="en-US" sz="1800" dirty="0"/>
          </a:p>
        </p:txBody>
      </p:sp>
      <p:sp>
        <p:nvSpPr>
          <p:cNvPr id="29" name="Text 27"/>
          <p:cNvSpPr txBox="1"/>
          <p:nvPr/>
        </p:nvSpPr>
        <p:spPr>
          <a:xfrm>
            <a:off x="6931152" y="4526280"/>
            <a:ext cx="4754880" cy="411480"/>
          </a:xfrm>
          <a:prstGeom prst="rect">
            <a:avLst/>
          </a:prstGeom>
          <a:noFill/>
          <a:ln/>
        </p:spPr>
        <p:txBody>
          <a:bodyPr wrap="square" lIns="0" tIns="0" rIns="0" bIns="0" rtlCol="0" anchor="ctr"/>
          <a:lstStyle/>
          <a:p>
            <a:pPr algn="l" indent="0" marL="0">
              <a:buNone/>
            </a:pPr>
            <a:r>
              <a:rPr lang="en-US" sz="1600" b="1" dirty="0">
                <a:solidFill>
                  <a:srgbClr val="17301F"/>
                </a:solidFill>
                <a:latin typeface="Tahoma" pitchFamily="34" charset="0"/>
                <a:ea typeface="Tahoma" pitchFamily="34" charset="-122"/>
                <a:cs typeface="Tahoma" pitchFamily="34" charset="-120"/>
              </a:rPr>
              <a:t>ใช้แค่การบวกและการเลือก</a:t>
            </a:r>
            <a:endParaRPr lang="en-US" sz="1600" dirty="0"/>
          </a:p>
        </p:txBody>
      </p:sp>
      <p:sp>
        <p:nvSpPr>
          <p:cNvPr id="30" name="Text 28"/>
          <p:cNvSpPr txBox="1"/>
          <p:nvPr/>
        </p:nvSpPr>
        <p:spPr>
          <a:xfrm>
            <a:off x="6931152" y="4937760"/>
            <a:ext cx="4754880" cy="64008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ราว 12,000 การบวกต่อการดมหนึ่งครั้ง เบาสำหรับ ESP32</a:t>
            </a:r>
            <a:endParaRPr lang="en-US" sz="1400" dirty="0"/>
          </a:p>
        </p:txBody>
      </p:sp>
      <p:sp>
        <p:nvSpPr>
          <p:cNvPr id="31" name="Shape 29"/>
          <p:cNvSpPr/>
          <p:nvPr/>
        </p:nvSpPr>
        <p:spPr>
          <a:xfrm>
            <a:off x="548640" y="5623560"/>
            <a:ext cx="11091672" cy="548640"/>
          </a:xfrm>
          <a:prstGeom prst="roundRect">
            <a:avLst>
              <a:gd name="adj" fmla="val 30000"/>
            </a:avLst>
          </a:prstGeom>
          <a:solidFill>
            <a:srgbClr val="FFF3D4"/>
          </a:solidFill>
          <a:ln/>
        </p:spPr>
      </p:sp>
      <p:sp>
        <p:nvSpPr>
          <p:cNvPr id="32" name="Text 30"/>
          <p:cNvSpPr txBox="1"/>
          <p:nvPr/>
        </p:nvSpPr>
        <p:spPr>
          <a:xfrm>
            <a:off x="822960" y="5623560"/>
            <a:ext cx="10543032" cy="548640"/>
          </a:xfrm>
          <a:prstGeom prst="rect">
            <a:avLst/>
          </a:prstGeom>
          <a:noFill/>
          <a:ln/>
        </p:spPr>
        <p:txBody>
          <a:bodyPr wrap="square" lIns="0" tIns="0" rIns="0" bIns="0" rtlCol="0" anchor="ctr"/>
          <a:lstStyle/>
          <a:p>
            <a:pPr algn="l" indent="0" marL="0">
              <a:spcAft>
                <a:spcPts val="300"/>
              </a:spcAft>
              <a:buNone/>
            </a:pPr>
            <a:r>
              <a:rPr lang="en-US" sz="1400" dirty="0">
                <a:solidFill>
                  <a:srgbClr val="17301F"/>
                </a:solidFill>
                <a:latin typeface="Tahoma" pitchFamily="34" charset="0"/>
                <a:ea typeface="Tahoma" pitchFamily="34" charset="-122"/>
                <a:cs typeface="Tahoma" pitchFamily="34" charset="-120"/>
              </a:rPr>
              <a:t>FlyHash กับกลิ่นผลไม้จริงยังเป็นสมมติฐานของทีม — รายละเอียดอยู่สไลด์ข้อจำกัด</a:t>
            </a:r>
            <a:endParaRPr lang="en-US" sz="1400" dirty="0"/>
          </a:p>
        </p:txBody>
      </p:sp>
      <p:sp>
        <p:nvSpPr>
          <p:cNvPr id="33" name="Text 31"/>
          <p:cNvSpPr txBox="1"/>
          <p:nvPr/>
        </p:nvSpPr>
        <p:spPr>
          <a:xfrm>
            <a:off x="548640" y="6309360"/>
            <a:ext cx="10424160" cy="27432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อ้างอิง: Dasgupta et al. (2017) Science · ตัวเลข 50 → 2,000 → 5% ตามโมเดลที่ใช้ใน mockup</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FlyHash Brain Lab: ลองเล่นได้จริงใน mockup</a:t>
            </a:r>
            <a:endParaRPr lang="en-US" sz="3000" dirty="0"/>
          </a:p>
        </p:txBody>
      </p:sp>
      <p:pic>
        <p:nvPicPr>
          <p:cNvPr id="3" name="Image 0" descr="ภาพหน้าจอ FlyHash Brain Lab">    </p:cNvPr>
          <p:cNvPicPr>
            <a:picLocks noChangeAspect="1"/>
          </p:cNvPicPr>
          <p:nvPr/>
        </p:nvPicPr>
        <p:blipFill>
          <a:blip r:embed="rId1"/>
          <a:stretch>
            <a:fillRect/>
          </a:stretch>
        </p:blipFill>
        <p:spPr>
          <a:xfrm>
            <a:off x="548640" y="1371600"/>
            <a:ext cx="6400800" cy="4480560"/>
          </a:xfrm>
          <a:prstGeom prst="rect">
            <a:avLst/>
          </a:prstGeom>
        </p:spPr>
      </p:pic>
      <p:sp>
        <p:nvSpPr>
          <p:cNvPr id="4" name="Text 1"/>
          <p:cNvSpPr txBox="1"/>
          <p:nvPr/>
        </p:nvSpPr>
        <p:spPr>
          <a:xfrm>
            <a:off x="548640" y="5897880"/>
            <a:ext cx="6400800" cy="45720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สมองแมลงหวี่ 3D ที่ลากหมุนได้ และคำนวณ FlyHash จริงทุกครั้งที่ปรับค่า</a:t>
            </a:r>
            <a:endParaRPr lang="en-US" sz="1400" dirty="0"/>
          </a:p>
        </p:txBody>
      </p:sp>
      <p:sp>
        <p:nvSpPr>
          <p:cNvPr id="5" name="Text 2"/>
          <p:cNvSpPr txBox="1"/>
          <p:nvPr/>
        </p:nvSpPr>
        <p:spPr>
          <a:xfrm>
            <a:off x="7315200" y="1371600"/>
            <a:ext cx="4297680" cy="457200"/>
          </a:xfrm>
          <a:prstGeom prst="rect">
            <a:avLst/>
          </a:prstGeom>
          <a:noFill/>
          <a:ln/>
        </p:spPr>
        <p:txBody>
          <a:bodyPr wrap="square" lIns="0" tIns="0" rIns="0" bIns="0" rtlCol="0" anchor="t"/>
          <a:lstStyle/>
          <a:p>
            <a:pPr algn="l" indent="0" marL="0">
              <a:buNone/>
            </a:pPr>
            <a:r>
              <a:rPr lang="en-US" sz="2000" b="1" dirty="0">
                <a:solidFill>
                  <a:srgbClr val="2E6B3E"/>
                </a:solidFill>
                <a:latin typeface="Tahoma" pitchFamily="34" charset="0"/>
                <a:ea typeface="Tahoma" pitchFamily="34" charset="-122"/>
                <a:cs typeface="Tahoma" pitchFamily="34" charset="-120"/>
              </a:rPr>
              <a:t>สิ่งที่ mockup ให้ลอง</a:t>
            </a:r>
            <a:endParaRPr lang="en-US" sz="2000" dirty="0"/>
          </a:p>
        </p:txBody>
      </p:sp>
      <p:sp>
        <p:nvSpPr>
          <p:cNvPr id="6" name="Text 3"/>
          <p:cNvSpPr txBox="1"/>
          <p:nvPr/>
        </p:nvSpPr>
        <p:spPr>
          <a:xfrm>
            <a:off x="7315200" y="1965960"/>
            <a:ext cx="4325112" cy="3200400"/>
          </a:xfrm>
          <a:prstGeom prst="rect">
            <a:avLst/>
          </a:prstGeom>
          <a:noFill/>
          <a:ln/>
        </p:spPr>
        <p:txBody>
          <a:bodyPr wrap="square" lIns="0" tIns="0" rIns="0" bIns="0" rtlCol="0" anchor="t"/>
          <a:lstStyle/>
          <a:p>
            <a:pPr algn="l" marL="203200" indent="-203200">
              <a:spcAft>
                <a:spcPts val="800"/>
              </a:spcAft>
              <a:buSzPct val="100000"/>
              <a:buChar char="•"/>
            </a:pPr>
            <a:r>
              <a:rPr lang="en-US" sz="1600" dirty="0">
                <a:solidFill>
                  <a:srgbClr val="1F2A23"/>
                </a:solidFill>
                <a:latin typeface="Tahoma" pitchFamily="34" charset="0"/>
                <a:ea typeface="Tahoma" pitchFamily="34" charset="-122"/>
                <a:cs typeface="Tahoma" pitchFamily="34" charset="-120"/>
              </a:rPr>
              <a:t>เลือกกลิ่น ผสมกลิ่น ปรับความเข้มข้นและสัญญาณรบกวน</a:t>
            </a:r>
            <a:endParaRPr lang="en-US" sz="1600" dirty="0"/>
          </a:p>
          <a:p>
            <a:pPr algn="l" marL="203200" indent="-203200">
              <a:spcAft>
                <a:spcPts val="800"/>
              </a:spcAft>
              <a:buSzPct val="100000"/>
              <a:buChar char="•"/>
            </a:pPr>
            <a:r>
              <a:rPr lang="en-US" sz="1600" dirty="0">
                <a:solidFill>
                  <a:srgbClr val="1F2A23"/>
                </a:solidFill>
                <a:latin typeface="Tahoma" pitchFamily="34" charset="0"/>
                <a:ea typeface="Tahoma" pitchFamily="34" charset="-122"/>
                <a:cs typeface="Tahoma" pitchFamily="34" charset="-120"/>
              </a:rPr>
              <a:t>เห็นเซลล์เคนยอนที่ทำงานสว่างขึ้น และแท็ก 100 บิต</a:t>
            </a:r>
            <a:endParaRPr lang="en-US" sz="1600" dirty="0"/>
          </a:p>
          <a:p>
            <a:pPr algn="l" marL="203200" indent="-203200">
              <a:spcAft>
                <a:spcPts val="800"/>
              </a:spcAft>
              <a:buSzPct val="100000"/>
              <a:buChar char="•"/>
            </a:pPr>
            <a:r>
              <a:rPr lang="en-US" sz="1600" dirty="0">
                <a:solidFill>
                  <a:srgbClr val="1F2A23"/>
                </a:solidFill>
                <a:latin typeface="Tahoma" pitchFamily="34" charset="0"/>
                <a:ea typeface="Tahoma" pitchFamily="34" charset="-122"/>
                <a:cs typeface="Tahoma" pitchFamily="34" charset="-120"/>
              </a:rPr>
              <a:t>ความจำ: เทียบความคล้ายของกลิ่นใหม่กับกลิ่นที่จำไว้</a:t>
            </a:r>
            <a:endParaRPr lang="en-US" sz="1600" dirty="0"/>
          </a:p>
          <a:p>
            <a:pPr algn="l" marL="203200" indent="-203200">
              <a:spcAft>
                <a:spcPts val="800"/>
              </a:spcAft>
              <a:buSzPct val="100000"/>
              <a:buChar char="•"/>
            </a:pPr>
            <a:r>
              <a:rPr lang="en-US" sz="1600" dirty="0">
                <a:solidFill>
                  <a:srgbClr val="1F2A23"/>
                </a:solidFill>
                <a:latin typeface="Tahoma" pitchFamily="34" charset="0"/>
                <a:ea typeface="Tahoma" pitchFamily="34" charset="-122"/>
                <a:cs typeface="Tahoma" pitchFamily="34" charset="-120"/>
              </a:rPr>
              <a:t>การเรียนรู้: "ให้น้ำตาล" หรือ "ไฟช็อต" แล้วผลลามไปกลิ่นที่คล้ายกัน</a:t>
            </a:r>
            <a:endParaRPr lang="en-US" sz="1600" dirty="0"/>
          </a:p>
          <a:p>
            <a:pPr algn="l" marL="203200" indent="-203200">
              <a:spcAft>
                <a:spcPts val="800"/>
              </a:spcAft>
              <a:buSzPct val="100000"/>
              <a:buChar char="•"/>
            </a:pPr>
            <a:r>
              <a:rPr lang="en-US" sz="1600" dirty="0">
                <a:solidFill>
                  <a:srgbClr val="1F2A23"/>
                </a:solidFill>
                <a:latin typeface="Tahoma" pitchFamily="34" charset="0"/>
                <a:ea typeface="Tahoma" pitchFamily="34" charset="-122"/>
                <a:cs typeface="Tahoma" pitchFamily="34" charset="-120"/>
              </a:rPr>
              <a:t>มีการมองเห็นและความหิวเป็นอินพุตเสริม</a:t>
            </a:r>
            <a:endParaRPr lang="en-US" sz="1600" dirty="0"/>
          </a:p>
        </p:txBody>
      </p:sp>
      <p:sp>
        <p:nvSpPr>
          <p:cNvPr id="7" name="Shape 4"/>
          <p:cNvSpPr/>
          <p:nvPr/>
        </p:nvSpPr>
        <p:spPr>
          <a:xfrm>
            <a:off x="7315200" y="5257800"/>
            <a:ext cx="4325112" cy="960120"/>
          </a:xfrm>
          <a:prstGeom prst="roundRect">
            <a:avLst>
              <a:gd name="adj" fmla="val 17143"/>
            </a:avLst>
          </a:prstGeom>
          <a:solidFill>
            <a:srgbClr val="FFF3D4"/>
          </a:solidFill>
          <a:ln/>
        </p:spPr>
      </p:sp>
      <p:sp>
        <p:nvSpPr>
          <p:cNvPr id="8" name="Text 5"/>
          <p:cNvSpPr txBox="1"/>
          <p:nvPr/>
        </p:nvSpPr>
        <p:spPr>
          <a:xfrm>
            <a:off x="7543800" y="5257800"/>
            <a:ext cx="3931920" cy="96012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กลิ่นใน mockup ผู้ใช้เลือกเอง ยังไม่ใช่ข้อมูลจากเซนเซอร์จริง</a:t>
            </a:r>
            <a:endParaRPr lang="en-US" sz="1400" dirty="0"/>
          </a:p>
        </p:txBody>
      </p:sp>
      <p:sp>
        <p:nvSpPr>
          <p:cNvPr id="9" name="Text 6"/>
          <p:cNvSpPr txBox="1"/>
          <p:nvPr/>
        </p:nvSpPr>
        <p:spPr>
          <a:xfrm>
            <a:off x="548640" y="6327648"/>
            <a:ext cx="10424160" cy="27432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github.com/marawanmak/flyhash-mockup · เว็บ: moolek02.github.io/e-nose-hub/flyhash-mockup.html</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ไม่มีสารเดียวที่บอกว่า "เน่า"</a:t>
            </a:r>
            <a:endParaRPr lang="en-US" sz="3000" dirty="0"/>
          </a:p>
        </p:txBody>
      </p:sp>
      <p:sp>
        <p:nvSpPr>
          <p:cNvPr id="3" name="Shape 1"/>
          <p:cNvSpPr/>
          <p:nvPr/>
        </p:nvSpPr>
        <p:spPr>
          <a:xfrm>
            <a:off x="548640" y="1371600"/>
            <a:ext cx="3593592" cy="3931920"/>
          </a:xfrm>
          <a:prstGeom prst="roundRect">
            <a:avLst>
              <a:gd name="adj" fmla="val 4580"/>
            </a:avLst>
          </a:prstGeom>
          <a:solidFill>
            <a:srgbClr val="EDF2E8"/>
          </a:solidFill>
          <a:ln/>
        </p:spPr>
      </p:sp>
      <p:sp>
        <p:nvSpPr>
          <p:cNvPr id="4" name="Shape 2"/>
          <p:cNvSpPr/>
          <p:nvPr/>
        </p:nvSpPr>
        <p:spPr>
          <a:xfrm>
            <a:off x="548640" y="1371600"/>
            <a:ext cx="3593592" cy="594360"/>
          </a:xfrm>
          <a:prstGeom prst="roundRect">
            <a:avLst>
              <a:gd name="adj" fmla="val 27692"/>
            </a:avLst>
          </a:prstGeom>
          <a:solidFill>
            <a:srgbClr val="17301F"/>
          </a:solidFill>
          <a:ln/>
        </p:spPr>
      </p:sp>
      <p:sp>
        <p:nvSpPr>
          <p:cNvPr id="5" name="Shape 3"/>
          <p:cNvSpPr/>
          <p:nvPr/>
        </p:nvSpPr>
        <p:spPr>
          <a:xfrm>
            <a:off x="548640" y="1691640"/>
            <a:ext cx="3593592" cy="274320"/>
          </a:xfrm>
          <a:prstGeom prst="rect">
            <a:avLst/>
          </a:prstGeom>
          <a:solidFill>
            <a:srgbClr val="17301F"/>
          </a:solidFill>
          <a:ln/>
        </p:spPr>
      </p:sp>
      <p:sp>
        <p:nvSpPr>
          <p:cNvPr id="6" name="Text 4"/>
          <p:cNvSpPr txBox="1"/>
          <p:nvPr/>
        </p:nvSpPr>
        <p:spPr>
          <a:xfrm>
            <a:off x="777240" y="1371600"/>
            <a:ext cx="3108960" cy="594360"/>
          </a:xfrm>
          <a:prstGeom prst="rect">
            <a:avLst/>
          </a:prstGeom>
          <a:noFill/>
          <a:ln/>
        </p:spPr>
        <p:txBody>
          <a:bodyPr wrap="square" lIns="0" tIns="0" rIns="0" bIns="0" rtlCol="0" anchor="ctr"/>
          <a:lstStyle/>
          <a:p>
            <a:pPr algn="l" indent="0" marL="0">
              <a:buNone/>
            </a:pPr>
            <a:r>
              <a:rPr lang="en-US" sz="1800" b="1" dirty="0">
                <a:solidFill>
                  <a:srgbClr val="F5A742"/>
                </a:solidFill>
                <a:latin typeface="Tahoma" pitchFamily="34" charset="0"/>
                <a:ea typeface="Tahoma" pitchFamily="34" charset="-122"/>
                <a:cs typeface="Tahoma" pitchFamily="34" charset="-120"/>
              </a:rPr>
              <a:t>เน่าจากเชื้อรา</a:t>
            </a:r>
            <a:endParaRPr lang="en-US" sz="1800" dirty="0"/>
          </a:p>
        </p:txBody>
      </p:sp>
      <p:sp>
        <p:nvSpPr>
          <p:cNvPr id="7" name="Text 5"/>
          <p:cNvSpPr txBox="1"/>
          <p:nvPr/>
        </p:nvSpPr>
        <p:spPr>
          <a:xfrm>
            <a:off x="777240" y="2103120"/>
            <a:ext cx="2286000" cy="749808"/>
          </a:xfrm>
          <a:prstGeom prst="rect">
            <a:avLst/>
          </a:prstGeom>
          <a:noFill/>
          <a:ln/>
        </p:spPr>
        <p:txBody>
          <a:bodyPr wrap="square" lIns="0" tIns="0" rIns="0" bIns="0" rtlCol="0" anchor="t"/>
          <a:lstStyle/>
          <a:p>
            <a:pPr algn="l" indent="0" marL="0">
              <a:buNone/>
            </a:pPr>
            <a:r>
              <a:rPr lang="en-US" sz="1400" dirty="0">
                <a:solidFill>
                  <a:srgbClr val="1F2A23"/>
                </a:solidFill>
                <a:latin typeface="Tahoma" pitchFamily="34" charset="0"/>
                <a:ea typeface="Tahoma" pitchFamily="34" charset="-122"/>
                <a:cs typeface="Tahoma" pitchFamily="34" charset="-120"/>
              </a:rPr>
              <a:t>Styrene (แอปเปิลติด P. expansum)</a:t>
            </a:r>
            <a:endParaRPr lang="en-US" sz="1400" dirty="0"/>
          </a:p>
        </p:txBody>
      </p:sp>
      <p:sp>
        <p:nvSpPr>
          <p:cNvPr id="8" name="Shape 6"/>
          <p:cNvSpPr/>
          <p:nvPr/>
        </p:nvSpPr>
        <p:spPr>
          <a:xfrm>
            <a:off x="3090672" y="2121408"/>
            <a:ext cx="1005840" cy="274320"/>
          </a:xfrm>
          <a:prstGeom prst="roundRect">
            <a:avLst>
              <a:gd name="adj" fmla="val 50000"/>
            </a:avLst>
          </a:prstGeom>
          <a:solidFill>
            <a:srgbClr val="DDF0E3"/>
          </a:solidFill>
          <a:ln/>
        </p:spPr>
      </p:sp>
      <p:sp>
        <p:nvSpPr>
          <p:cNvPr id="9" name="Text 7"/>
          <p:cNvSpPr txBox="1"/>
          <p:nvPr/>
        </p:nvSpPr>
        <p:spPr>
          <a:xfrm>
            <a:off x="3090672" y="2121408"/>
            <a:ext cx="1005840" cy="274320"/>
          </a:xfrm>
          <a:prstGeom prst="rect">
            <a:avLst/>
          </a:prstGeom>
          <a:noFill/>
          <a:ln/>
        </p:spPr>
        <p:txBody>
          <a:bodyPr wrap="square" lIns="0" tIns="0" rIns="0" bIns="0" rtlCol="0" anchor="ctr"/>
          <a:lstStyle/>
          <a:p>
            <a:pPr algn="ctr" indent="0" marL="0">
              <a:buNone/>
            </a:pPr>
            <a:r>
              <a:rPr lang="en-US" sz="1200" b="1" dirty="0">
                <a:solidFill>
                  <a:srgbClr val="2E7D4F"/>
                </a:solidFill>
                <a:latin typeface="Tahoma" pitchFamily="34" charset="0"/>
                <a:ea typeface="Tahoma" pitchFamily="34" charset="-122"/>
                <a:cs typeface="Tahoma" pitchFamily="34" charset="-120"/>
              </a:rPr>
              <a:t>confirmed</a:t>
            </a:r>
            <a:endParaRPr lang="en-US" sz="1200" dirty="0"/>
          </a:p>
        </p:txBody>
      </p:sp>
      <p:sp>
        <p:nvSpPr>
          <p:cNvPr id="10" name="Text 8"/>
          <p:cNvSpPr txBox="1"/>
          <p:nvPr/>
        </p:nvSpPr>
        <p:spPr>
          <a:xfrm>
            <a:off x="777240" y="2907792"/>
            <a:ext cx="2286000" cy="749808"/>
          </a:xfrm>
          <a:prstGeom prst="rect">
            <a:avLst/>
          </a:prstGeom>
          <a:noFill/>
          <a:ln/>
        </p:spPr>
        <p:txBody>
          <a:bodyPr wrap="square" lIns="0" tIns="0" rIns="0" bIns="0" rtlCol="0" anchor="t"/>
          <a:lstStyle/>
          <a:p>
            <a:pPr algn="l" indent="0" marL="0">
              <a:buNone/>
            </a:pPr>
            <a:r>
              <a:rPr lang="en-US" sz="1400" dirty="0">
                <a:solidFill>
                  <a:srgbClr val="1F2A23"/>
                </a:solidFill>
                <a:latin typeface="Tahoma" pitchFamily="34" charset="0"/>
                <a:ea typeface="Tahoma" pitchFamily="34" charset="-122"/>
                <a:cs typeface="Tahoma" pitchFamily="34" charset="-120"/>
              </a:rPr>
              <a:t>เอสเทอร์เฉพาะ P. expansum</a:t>
            </a:r>
            <a:endParaRPr lang="en-US" sz="1400" dirty="0"/>
          </a:p>
        </p:txBody>
      </p:sp>
      <p:sp>
        <p:nvSpPr>
          <p:cNvPr id="11" name="Shape 9"/>
          <p:cNvSpPr/>
          <p:nvPr/>
        </p:nvSpPr>
        <p:spPr>
          <a:xfrm>
            <a:off x="3090672" y="2926080"/>
            <a:ext cx="868680" cy="274320"/>
          </a:xfrm>
          <a:prstGeom prst="roundRect">
            <a:avLst>
              <a:gd name="adj" fmla="val 50000"/>
            </a:avLst>
          </a:prstGeom>
          <a:solidFill>
            <a:srgbClr val="FFF3D4"/>
          </a:solidFill>
          <a:ln/>
        </p:spPr>
      </p:sp>
      <p:sp>
        <p:nvSpPr>
          <p:cNvPr id="12" name="Text 10"/>
          <p:cNvSpPr txBox="1"/>
          <p:nvPr/>
        </p:nvSpPr>
        <p:spPr>
          <a:xfrm>
            <a:off x="3090672" y="2926080"/>
            <a:ext cx="868680" cy="274320"/>
          </a:xfrm>
          <a:prstGeom prst="rect">
            <a:avLst/>
          </a:prstGeom>
          <a:noFill/>
          <a:ln/>
        </p:spPr>
        <p:txBody>
          <a:bodyPr wrap="square" lIns="0" tIns="0" rIns="0" bIns="0" rtlCol="0" anchor="ctr"/>
          <a:lstStyle/>
          <a:p>
            <a:pPr algn="ctr" indent="0" marL="0">
              <a:buNone/>
            </a:pPr>
            <a:r>
              <a:rPr lang="en-US" sz="1200" b="1" dirty="0">
                <a:solidFill>
                  <a:srgbClr val="7A4F00"/>
                </a:solidFill>
                <a:latin typeface="Tahoma" pitchFamily="34" charset="0"/>
                <a:ea typeface="Tahoma" pitchFamily="34" charset="-122"/>
                <a:cs typeface="Tahoma" pitchFamily="34" charset="-120"/>
              </a:rPr>
              <a:t>partial</a:t>
            </a:r>
            <a:endParaRPr lang="en-US" sz="1200" dirty="0"/>
          </a:p>
        </p:txBody>
      </p:sp>
      <p:sp>
        <p:nvSpPr>
          <p:cNvPr id="13" name="Text 11"/>
          <p:cNvSpPr txBox="1"/>
          <p:nvPr/>
        </p:nvSpPr>
        <p:spPr>
          <a:xfrm>
            <a:off x="777240" y="3712464"/>
            <a:ext cx="2286000" cy="749808"/>
          </a:xfrm>
          <a:prstGeom prst="rect">
            <a:avLst/>
          </a:prstGeom>
          <a:noFill/>
          <a:ln/>
        </p:spPr>
        <p:txBody>
          <a:bodyPr wrap="square" lIns="0" tIns="0" rIns="0" bIns="0" rtlCol="0" anchor="t"/>
          <a:lstStyle/>
          <a:p>
            <a:pPr algn="l" indent="0" marL="0">
              <a:buNone/>
            </a:pPr>
            <a:r>
              <a:rPr lang="en-US" sz="1400" dirty="0">
                <a:solidFill>
                  <a:srgbClr val="1F2A23"/>
                </a:solidFill>
                <a:latin typeface="Tahoma" pitchFamily="34" charset="0"/>
                <a:ea typeface="Tahoma" pitchFamily="34" charset="-122"/>
                <a:cs typeface="Tahoma" pitchFamily="34" charset="-120"/>
              </a:rPr>
              <a:t>1-Octen-3-ol จาก Botrytis — ไม่เหมาะตรวจระยะเริ่มต้น</a:t>
            </a:r>
            <a:endParaRPr lang="en-US" sz="1400" dirty="0"/>
          </a:p>
        </p:txBody>
      </p:sp>
      <p:sp>
        <p:nvSpPr>
          <p:cNvPr id="14" name="Shape 12"/>
          <p:cNvSpPr/>
          <p:nvPr/>
        </p:nvSpPr>
        <p:spPr>
          <a:xfrm>
            <a:off x="3090672" y="3730752"/>
            <a:ext cx="868680" cy="274320"/>
          </a:xfrm>
          <a:prstGeom prst="roundRect">
            <a:avLst>
              <a:gd name="adj" fmla="val 50000"/>
            </a:avLst>
          </a:prstGeom>
          <a:solidFill>
            <a:srgbClr val="FFF3D4"/>
          </a:solidFill>
          <a:ln/>
        </p:spPr>
      </p:sp>
      <p:sp>
        <p:nvSpPr>
          <p:cNvPr id="15" name="Text 13"/>
          <p:cNvSpPr txBox="1"/>
          <p:nvPr/>
        </p:nvSpPr>
        <p:spPr>
          <a:xfrm>
            <a:off x="3090672" y="3730752"/>
            <a:ext cx="868680" cy="274320"/>
          </a:xfrm>
          <a:prstGeom prst="rect">
            <a:avLst/>
          </a:prstGeom>
          <a:noFill/>
          <a:ln/>
        </p:spPr>
        <p:txBody>
          <a:bodyPr wrap="square" lIns="0" tIns="0" rIns="0" bIns="0" rtlCol="0" anchor="ctr"/>
          <a:lstStyle/>
          <a:p>
            <a:pPr algn="ctr" indent="0" marL="0">
              <a:buNone/>
            </a:pPr>
            <a:r>
              <a:rPr lang="en-US" sz="1200" b="1" dirty="0">
                <a:solidFill>
                  <a:srgbClr val="7A4F00"/>
                </a:solidFill>
                <a:latin typeface="Tahoma" pitchFamily="34" charset="0"/>
                <a:ea typeface="Tahoma" pitchFamily="34" charset="-122"/>
                <a:cs typeface="Tahoma" pitchFamily="34" charset="-120"/>
              </a:rPr>
              <a:t>partial</a:t>
            </a:r>
            <a:endParaRPr lang="en-US" sz="1200" dirty="0"/>
          </a:p>
        </p:txBody>
      </p:sp>
      <p:sp>
        <p:nvSpPr>
          <p:cNvPr id="16" name="Text 14"/>
          <p:cNvSpPr txBox="1"/>
          <p:nvPr/>
        </p:nvSpPr>
        <p:spPr>
          <a:xfrm>
            <a:off x="777240" y="4517136"/>
            <a:ext cx="2286000" cy="749808"/>
          </a:xfrm>
          <a:prstGeom prst="rect">
            <a:avLst/>
          </a:prstGeom>
          <a:noFill/>
          <a:ln/>
        </p:spPr>
        <p:txBody>
          <a:bodyPr wrap="square" lIns="0" tIns="0" rIns="0" bIns="0" rtlCol="0" anchor="t"/>
          <a:lstStyle/>
          <a:p>
            <a:pPr algn="l" indent="0" marL="0">
              <a:buNone/>
            </a:pPr>
            <a:r>
              <a:rPr lang="en-US" sz="1400" dirty="0">
                <a:solidFill>
                  <a:srgbClr val="1F2A23"/>
                </a:solidFill>
                <a:latin typeface="Tahoma" pitchFamily="34" charset="0"/>
                <a:ea typeface="Tahoma" pitchFamily="34" charset="-122"/>
                <a:cs typeface="Tahoma" pitchFamily="34" charset="-120"/>
              </a:rPr>
              <a:t>Geosmin / MIB (องุ่นเท่านั้น)</a:t>
            </a:r>
            <a:endParaRPr lang="en-US" sz="1400" dirty="0"/>
          </a:p>
        </p:txBody>
      </p:sp>
      <p:sp>
        <p:nvSpPr>
          <p:cNvPr id="17" name="Shape 15"/>
          <p:cNvSpPr/>
          <p:nvPr/>
        </p:nvSpPr>
        <p:spPr>
          <a:xfrm>
            <a:off x="3090672" y="4535424"/>
            <a:ext cx="868680" cy="274320"/>
          </a:xfrm>
          <a:prstGeom prst="roundRect">
            <a:avLst>
              <a:gd name="adj" fmla="val 50000"/>
            </a:avLst>
          </a:prstGeom>
          <a:solidFill>
            <a:srgbClr val="FFF3D4"/>
          </a:solidFill>
          <a:ln/>
        </p:spPr>
      </p:sp>
      <p:sp>
        <p:nvSpPr>
          <p:cNvPr id="18" name="Text 16"/>
          <p:cNvSpPr txBox="1"/>
          <p:nvPr/>
        </p:nvSpPr>
        <p:spPr>
          <a:xfrm>
            <a:off x="3090672" y="4535424"/>
            <a:ext cx="868680" cy="274320"/>
          </a:xfrm>
          <a:prstGeom prst="rect">
            <a:avLst/>
          </a:prstGeom>
          <a:noFill/>
          <a:ln/>
        </p:spPr>
        <p:txBody>
          <a:bodyPr wrap="square" lIns="0" tIns="0" rIns="0" bIns="0" rtlCol="0" anchor="ctr"/>
          <a:lstStyle/>
          <a:p>
            <a:pPr algn="ctr" indent="0" marL="0">
              <a:buNone/>
            </a:pPr>
            <a:r>
              <a:rPr lang="en-US" sz="1200" b="1" dirty="0">
                <a:solidFill>
                  <a:srgbClr val="7A4F00"/>
                </a:solidFill>
                <a:latin typeface="Tahoma" pitchFamily="34" charset="0"/>
                <a:ea typeface="Tahoma" pitchFamily="34" charset="-122"/>
                <a:cs typeface="Tahoma" pitchFamily="34" charset="-120"/>
              </a:rPr>
              <a:t>partial</a:t>
            </a:r>
            <a:endParaRPr lang="en-US" sz="1200" dirty="0"/>
          </a:p>
        </p:txBody>
      </p:sp>
      <p:sp>
        <p:nvSpPr>
          <p:cNvPr id="19" name="Shape 17"/>
          <p:cNvSpPr/>
          <p:nvPr/>
        </p:nvSpPr>
        <p:spPr>
          <a:xfrm>
            <a:off x="4297680" y="1371600"/>
            <a:ext cx="3593592" cy="3931920"/>
          </a:xfrm>
          <a:prstGeom prst="roundRect">
            <a:avLst>
              <a:gd name="adj" fmla="val 4580"/>
            </a:avLst>
          </a:prstGeom>
          <a:solidFill>
            <a:srgbClr val="EDF2E8"/>
          </a:solidFill>
          <a:ln/>
        </p:spPr>
      </p:sp>
      <p:sp>
        <p:nvSpPr>
          <p:cNvPr id="20" name="Shape 18"/>
          <p:cNvSpPr/>
          <p:nvPr/>
        </p:nvSpPr>
        <p:spPr>
          <a:xfrm>
            <a:off x="4297680" y="1371600"/>
            <a:ext cx="3593592" cy="594360"/>
          </a:xfrm>
          <a:prstGeom prst="roundRect">
            <a:avLst>
              <a:gd name="adj" fmla="val 27692"/>
            </a:avLst>
          </a:prstGeom>
          <a:solidFill>
            <a:srgbClr val="2E6B3E"/>
          </a:solidFill>
          <a:ln/>
        </p:spPr>
      </p:sp>
      <p:sp>
        <p:nvSpPr>
          <p:cNvPr id="21" name="Shape 19"/>
          <p:cNvSpPr/>
          <p:nvPr/>
        </p:nvSpPr>
        <p:spPr>
          <a:xfrm>
            <a:off x="4297680" y="1691640"/>
            <a:ext cx="3593592" cy="274320"/>
          </a:xfrm>
          <a:prstGeom prst="rect">
            <a:avLst/>
          </a:prstGeom>
          <a:solidFill>
            <a:srgbClr val="2E6B3E"/>
          </a:solidFill>
          <a:ln/>
        </p:spPr>
      </p:sp>
      <p:sp>
        <p:nvSpPr>
          <p:cNvPr id="22" name="Text 20"/>
          <p:cNvSpPr txBox="1"/>
          <p:nvPr/>
        </p:nvSpPr>
        <p:spPr>
          <a:xfrm>
            <a:off x="4526280" y="1371600"/>
            <a:ext cx="3108960" cy="594360"/>
          </a:xfrm>
          <a:prstGeom prst="rect">
            <a:avLst/>
          </a:prstGeom>
          <a:noFill/>
          <a:ln/>
        </p:spPr>
        <p:txBody>
          <a:bodyPr wrap="square" lIns="0" tIns="0" rIns="0" bIns="0" rtlCol="0" anchor="ctr"/>
          <a:lstStyle/>
          <a:p>
            <a:pPr algn="l" indent="0" marL="0">
              <a:buNone/>
            </a:pPr>
            <a:r>
              <a:rPr lang="en-US" sz="1800" b="1" dirty="0">
                <a:solidFill>
                  <a:srgbClr val="FFFFFF"/>
                </a:solidFill>
                <a:latin typeface="Tahoma" pitchFamily="34" charset="0"/>
                <a:ea typeface="Tahoma" pitchFamily="34" charset="-122"/>
                <a:cs typeface="Tahoma" pitchFamily="34" charset="-120"/>
              </a:rPr>
              <a:t>หมัก / ขาดออกซิเจน</a:t>
            </a:r>
            <a:endParaRPr lang="en-US" sz="1800" dirty="0"/>
          </a:p>
        </p:txBody>
      </p:sp>
      <p:sp>
        <p:nvSpPr>
          <p:cNvPr id="23" name="Text 21"/>
          <p:cNvSpPr txBox="1"/>
          <p:nvPr/>
        </p:nvSpPr>
        <p:spPr>
          <a:xfrm>
            <a:off x="4526280" y="2103120"/>
            <a:ext cx="2286000" cy="749808"/>
          </a:xfrm>
          <a:prstGeom prst="rect">
            <a:avLst/>
          </a:prstGeom>
          <a:noFill/>
          <a:ln/>
        </p:spPr>
        <p:txBody>
          <a:bodyPr wrap="square" lIns="0" tIns="0" rIns="0" bIns="0" rtlCol="0" anchor="t"/>
          <a:lstStyle/>
          <a:p>
            <a:pPr algn="l" indent="0" marL="0">
              <a:buNone/>
            </a:pPr>
            <a:r>
              <a:rPr lang="en-US" sz="1400" dirty="0">
                <a:solidFill>
                  <a:srgbClr val="1F2A23"/>
                </a:solidFill>
                <a:latin typeface="Tahoma" pitchFamily="34" charset="0"/>
                <a:ea typeface="Tahoma" pitchFamily="34" charset="-122"/>
                <a:cs typeface="Tahoma" pitchFamily="34" charset="-120"/>
              </a:rPr>
              <a:t>Ethyl acetate + ethanol + acetaldehyde (สตรอว์เบอร์รีใน MA)</a:t>
            </a:r>
            <a:endParaRPr lang="en-US" sz="1400" dirty="0"/>
          </a:p>
        </p:txBody>
      </p:sp>
      <p:sp>
        <p:nvSpPr>
          <p:cNvPr id="24" name="Shape 22"/>
          <p:cNvSpPr/>
          <p:nvPr/>
        </p:nvSpPr>
        <p:spPr>
          <a:xfrm>
            <a:off x="6839712" y="2121408"/>
            <a:ext cx="1005840" cy="274320"/>
          </a:xfrm>
          <a:prstGeom prst="roundRect">
            <a:avLst>
              <a:gd name="adj" fmla="val 50000"/>
            </a:avLst>
          </a:prstGeom>
          <a:solidFill>
            <a:srgbClr val="DDF0E3"/>
          </a:solidFill>
          <a:ln/>
        </p:spPr>
      </p:sp>
      <p:sp>
        <p:nvSpPr>
          <p:cNvPr id="25" name="Text 23"/>
          <p:cNvSpPr txBox="1"/>
          <p:nvPr/>
        </p:nvSpPr>
        <p:spPr>
          <a:xfrm>
            <a:off x="6839712" y="2121408"/>
            <a:ext cx="1005840" cy="274320"/>
          </a:xfrm>
          <a:prstGeom prst="rect">
            <a:avLst/>
          </a:prstGeom>
          <a:noFill/>
          <a:ln/>
        </p:spPr>
        <p:txBody>
          <a:bodyPr wrap="square" lIns="0" tIns="0" rIns="0" bIns="0" rtlCol="0" anchor="ctr"/>
          <a:lstStyle/>
          <a:p>
            <a:pPr algn="ctr" indent="0" marL="0">
              <a:buNone/>
            </a:pPr>
            <a:r>
              <a:rPr lang="en-US" sz="1200" b="1" dirty="0">
                <a:solidFill>
                  <a:srgbClr val="2E7D4F"/>
                </a:solidFill>
                <a:latin typeface="Tahoma" pitchFamily="34" charset="0"/>
                <a:ea typeface="Tahoma" pitchFamily="34" charset="-122"/>
                <a:cs typeface="Tahoma" pitchFamily="34" charset="-120"/>
              </a:rPr>
              <a:t>confirmed</a:t>
            </a:r>
            <a:endParaRPr lang="en-US" sz="1200" dirty="0"/>
          </a:p>
        </p:txBody>
      </p:sp>
      <p:sp>
        <p:nvSpPr>
          <p:cNvPr id="26" name="Text 24"/>
          <p:cNvSpPr txBox="1"/>
          <p:nvPr/>
        </p:nvSpPr>
        <p:spPr>
          <a:xfrm>
            <a:off x="4526280" y="2907792"/>
            <a:ext cx="2286000" cy="749808"/>
          </a:xfrm>
          <a:prstGeom prst="rect">
            <a:avLst/>
          </a:prstGeom>
          <a:noFill/>
          <a:ln/>
        </p:spPr>
        <p:txBody>
          <a:bodyPr wrap="square" lIns="0" tIns="0" rIns="0" bIns="0" rtlCol="0" anchor="t"/>
          <a:lstStyle/>
          <a:p>
            <a:pPr algn="l" indent="0" marL="0">
              <a:buNone/>
            </a:pPr>
            <a:r>
              <a:rPr lang="en-US" sz="1400" dirty="0">
                <a:solidFill>
                  <a:srgbClr val="1F2A23"/>
                </a:solidFill>
                <a:latin typeface="Tahoma" pitchFamily="34" charset="0"/>
                <a:ea typeface="Tahoma" pitchFamily="34" charset="-122"/>
                <a:cs typeface="Tahoma" pitchFamily="34" charset="-120"/>
              </a:rPr>
              <a:t>Ethanol พบในแอปเปิลเน่าด้วย แยกจากเน่ายาก</a:t>
            </a:r>
            <a:endParaRPr lang="en-US" sz="1400" dirty="0"/>
          </a:p>
        </p:txBody>
      </p:sp>
      <p:sp>
        <p:nvSpPr>
          <p:cNvPr id="27" name="Shape 25"/>
          <p:cNvSpPr/>
          <p:nvPr/>
        </p:nvSpPr>
        <p:spPr>
          <a:xfrm>
            <a:off x="6839712" y="2926080"/>
            <a:ext cx="1005840" cy="274320"/>
          </a:xfrm>
          <a:prstGeom prst="roundRect">
            <a:avLst>
              <a:gd name="adj" fmla="val 50000"/>
            </a:avLst>
          </a:prstGeom>
          <a:solidFill>
            <a:srgbClr val="DDF0E3"/>
          </a:solidFill>
          <a:ln/>
        </p:spPr>
      </p:sp>
      <p:sp>
        <p:nvSpPr>
          <p:cNvPr id="28" name="Text 26"/>
          <p:cNvSpPr txBox="1"/>
          <p:nvPr/>
        </p:nvSpPr>
        <p:spPr>
          <a:xfrm>
            <a:off x="6839712" y="2926080"/>
            <a:ext cx="1005840" cy="274320"/>
          </a:xfrm>
          <a:prstGeom prst="rect">
            <a:avLst/>
          </a:prstGeom>
          <a:noFill/>
          <a:ln/>
        </p:spPr>
        <p:txBody>
          <a:bodyPr wrap="square" lIns="0" tIns="0" rIns="0" bIns="0" rtlCol="0" anchor="ctr"/>
          <a:lstStyle/>
          <a:p>
            <a:pPr algn="ctr" indent="0" marL="0">
              <a:buNone/>
            </a:pPr>
            <a:r>
              <a:rPr lang="en-US" sz="1200" b="1" dirty="0">
                <a:solidFill>
                  <a:srgbClr val="2E7D4F"/>
                </a:solidFill>
                <a:latin typeface="Tahoma" pitchFamily="34" charset="0"/>
                <a:ea typeface="Tahoma" pitchFamily="34" charset="-122"/>
                <a:cs typeface="Tahoma" pitchFamily="34" charset="-120"/>
              </a:rPr>
              <a:t>confirmed</a:t>
            </a:r>
            <a:endParaRPr lang="en-US" sz="1200" dirty="0"/>
          </a:p>
        </p:txBody>
      </p:sp>
      <p:sp>
        <p:nvSpPr>
          <p:cNvPr id="29" name="Shape 27"/>
          <p:cNvSpPr/>
          <p:nvPr/>
        </p:nvSpPr>
        <p:spPr>
          <a:xfrm>
            <a:off x="8046720" y="1371600"/>
            <a:ext cx="3593592" cy="3931920"/>
          </a:xfrm>
          <a:prstGeom prst="roundRect">
            <a:avLst>
              <a:gd name="adj" fmla="val 4580"/>
            </a:avLst>
          </a:prstGeom>
          <a:solidFill>
            <a:srgbClr val="EDF2E8"/>
          </a:solidFill>
          <a:ln/>
        </p:spPr>
      </p:sp>
      <p:sp>
        <p:nvSpPr>
          <p:cNvPr id="30" name="Shape 28"/>
          <p:cNvSpPr/>
          <p:nvPr/>
        </p:nvSpPr>
        <p:spPr>
          <a:xfrm>
            <a:off x="8046720" y="1371600"/>
            <a:ext cx="3593592" cy="594360"/>
          </a:xfrm>
          <a:prstGeom prst="roundRect">
            <a:avLst>
              <a:gd name="adj" fmla="val 27692"/>
            </a:avLst>
          </a:prstGeom>
          <a:solidFill>
            <a:srgbClr val="4A5560"/>
          </a:solidFill>
          <a:ln/>
        </p:spPr>
      </p:sp>
      <p:sp>
        <p:nvSpPr>
          <p:cNvPr id="31" name="Shape 29"/>
          <p:cNvSpPr/>
          <p:nvPr/>
        </p:nvSpPr>
        <p:spPr>
          <a:xfrm>
            <a:off x="8046720" y="1691640"/>
            <a:ext cx="3593592" cy="274320"/>
          </a:xfrm>
          <a:prstGeom prst="rect">
            <a:avLst/>
          </a:prstGeom>
          <a:solidFill>
            <a:srgbClr val="4A5560"/>
          </a:solidFill>
          <a:ln/>
        </p:spPr>
      </p:sp>
      <p:sp>
        <p:nvSpPr>
          <p:cNvPr id="32" name="Text 30"/>
          <p:cNvSpPr txBox="1"/>
          <p:nvPr/>
        </p:nvSpPr>
        <p:spPr>
          <a:xfrm>
            <a:off x="8275320" y="1371600"/>
            <a:ext cx="3108960" cy="594360"/>
          </a:xfrm>
          <a:prstGeom prst="rect">
            <a:avLst/>
          </a:prstGeom>
          <a:noFill/>
          <a:ln/>
        </p:spPr>
        <p:txBody>
          <a:bodyPr wrap="square" lIns="0" tIns="0" rIns="0" bIns="0" rtlCol="0" anchor="ctr"/>
          <a:lstStyle/>
          <a:p>
            <a:pPr algn="l" indent="0" marL="0">
              <a:buNone/>
            </a:pPr>
            <a:r>
              <a:rPr lang="en-US" sz="1800" b="1" dirty="0">
                <a:solidFill>
                  <a:srgbClr val="FFFFFF"/>
                </a:solidFill>
                <a:latin typeface="Tahoma" pitchFamily="34" charset="0"/>
                <a:ea typeface="Tahoma" pitchFamily="34" charset="-122"/>
                <a:cs typeface="Tahoma" pitchFamily="34" charset="-120"/>
              </a:rPr>
              <a:t>ไม่จำเพาะ / บอกแค่สุก</a:t>
            </a:r>
            <a:endParaRPr lang="en-US" sz="1800" dirty="0"/>
          </a:p>
        </p:txBody>
      </p:sp>
      <p:sp>
        <p:nvSpPr>
          <p:cNvPr id="33" name="Text 31"/>
          <p:cNvSpPr txBox="1"/>
          <p:nvPr/>
        </p:nvSpPr>
        <p:spPr>
          <a:xfrm>
            <a:off x="8275320" y="2103120"/>
            <a:ext cx="2286000" cy="749808"/>
          </a:xfrm>
          <a:prstGeom prst="rect">
            <a:avLst/>
          </a:prstGeom>
          <a:noFill/>
          <a:ln/>
        </p:spPr>
        <p:txBody>
          <a:bodyPr wrap="square" lIns="0" tIns="0" rIns="0" bIns="0" rtlCol="0" anchor="t"/>
          <a:lstStyle/>
          <a:p>
            <a:pPr algn="l" indent="0" marL="0">
              <a:buNone/>
            </a:pPr>
            <a:r>
              <a:rPr lang="en-US" sz="1400" dirty="0">
                <a:solidFill>
                  <a:srgbClr val="1F2A23"/>
                </a:solidFill>
                <a:latin typeface="Tahoma" pitchFamily="34" charset="0"/>
                <a:ea typeface="Tahoma" pitchFamily="34" charset="-122"/>
                <a:cs typeface="Tahoma" pitchFamily="34" charset="-120"/>
              </a:rPr>
              <a:t>Ethylene: ทั้งฮอร์โมนสุกและเพิ่มเมื่อติดเชื้อ ใช้เดี่ยวๆ ไม่ได้</a:t>
            </a:r>
            <a:endParaRPr lang="en-US" sz="1400" dirty="0"/>
          </a:p>
        </p:txBody>
      </p:sp>
      <p:sp>
        <p:nvSpPr>
          <p:cNvPr id="34" name="Shape 32"/>
          <p:cNvSpPr/>
          <p:nvPr/>
        </p:nvSpPr>
        <p:spPr>
          <a:xfrm>
            <a:off x="10588752" y="2121408"/>
            <a:ext cx="1005840" cy="274320"/>
          </a:xfrm>
          <a:prstGeom prst="roundRect">
            <a:avLst>
              <a:gd name="adj" fmla="val 50000"/>
            </a:avLst>
          </a:prstGeom>
          <a:solidFill>
            <a:srgbClr val="DDF0E3"/>
          </a:solidFill>
          <a:ln/>
        </p:spPr>
      </p:sp>
      <p:sp>
        <p:nvSpPr>
          <p:cNvPr id="35" name="Text 33"/>
          <p:cNvSpPr txBox="1"/>
          <p:nvPr/>
        </p:nvSpPr>
        <p:spPr>
          <a:xfrm>
            <a:off x="10588752" y="2121408"/>
            <a:ext cx="1005840" cy="274320"/>
          </a:xfrm>
          <a:prstGeom prst="rect">
            <a:avLst/>
          </a:prstGeom>
          <a:noFill/>
          <a:ln/>
        </p:spPr>
        <p:txBody>
          <a:bodyPr wrap="square" lIns="0" tIns="0" rIns="0" bIns="0" rtlCol="0" anchor="ctr"/>
          <a:lstStyle/>
          <a:p>
            <a:pPr algn="ctr" indent="0" marL="0">
              <a:buNone/>
            </a:pPr>
            <a:r>
              <a:rPr lang="en-US" sz="1200" b="1" dirty="0">
                <a:solidFill>
                  <a:srgbClr val="2E7D4F"/>
                </a:solidFill>
                <a:latin typeface="Tahoma" pitchFamily="34" charset="0"/>
                <a:ea typeface="Tahoma" pitchFamily="34" charset="-122"/>
                <a:cs typeface="Tahoma" pitchFamily="34" charset="-120"/>
              </a:rPr>
              <a:t>confirmed</a:t>
            </a:r>
            <a:endParaRPr lang="en-US" sz="1200" dirty="0"/>
          </a:p>
        </p:txBody>
      </p:sp>
      <p:sp>
        <p:nvSpPr>
          <p:cNvPr id="36" name="Text 34"/>
          <p:cNvSpPr txBox="1"/>
          <p:nvPr/>
        </p:nvSpPr>
        <p:spPr>
          <a:xfrm>
            <a:off x="8275320" y="2907792"/>
            <a:ext cx="2286000" cy="749808"/>
          </a:xfrm>
          <a:prstGeom prst="rect">
            <a:avLst/>
          </a:prstGeom>
          <a:noFill/>
          <a:ln/>
        </p:spPr>
        <p:txBody>
          <a:bodyPr wrap="square" lIns="0" tIns="0" rIns="0" bIns="0" rtlCol="0" anchor="t"/>
          <a:lstStyle/>
          <a:p>
            <a:pPr algn="l" indent="0" marL="0">
              <a:buNone/>
            </a:pPr>
            <a:r>
              <a:rPr lang="en-US" sz="1400" dirty="0">
                <a:solidFill>
                  <a:srgbClr val="1F2A23"/>
                </a:solidFill>
                <a:latin typeface="Tahoma" pitchFamily="34" charset="0"/>
                <a:ea typeface="Tahoma" pitchFamily="34" charset="-122"/>
                <a:cs typeface="Tahoma" pitchFamily="34" charset="-120"/>
              </a:rPr>
              <a:t>เอสเทอร์ และสารกำมะถัน (ทุเรียนสุก)</a:t>
            </a:r>
            <a:endParaRPr lang="en-US" sz="1400" dirty="0"/>
          </a:p>
        </p:txBody>
      </p:sp>
      <p:sp>
        <p:nvSpPr>
          <p:cNvPr id="37" name="Shape 35"/>
          <p:cNvSpPr/>
          <p:nvPr/>
        </p:nvSpPr>
        <p:spPr>
          <a:xfrm>
            <a:off x="10588752" y="2926080"/>
            <a:ext cx="1005840" cy="274320"/>
          </a:xfrm>
          <a:prstGeom prst="roundRect">
            <a:avLst>
              <a:gd name="adj" fmla="val 50000"/>
            </a:avLst>
          </a:prstGeom>
          <a:solidFill>
            <a:srgbClr val="DDF0E3"/>
          </a:solidFill>
          <a:ln/>
        </p:spPr>
      </p:sp>
      <p:sp>
        <p:nvSpPr>
          <p:cNvPr id="38" name="Text 36"/>
          <p:cNvSpPr txBox="1"/>
          <p:nvPr/>
        </p:nvSpPr>
        <p:spPr>
          <a:xfrm>
            <a:off x="10588752" y="2926080"/>
            <a:ext cx="1005840" cy="274320"/>
          </a:xfrm>
          <a:prstGeom prst="rect">
            <a:avLst/>
          </a:prstGeom>
          <a:noFill/>
          <a:ln/>
        </p:spPr>
        <p:txBody>
          <a:bodyPr wrap="square" lIns="0" tIns="0" rIns="0" bIns="0" rtlCol="0" anchor="ctr"/>
          <a:lstStyle/>
          <a:p>
            <a:pPr algn="ctr" indent="0" marL="0">
              <a:buNone/>
            </a:pPr>
            <a:r>
              <a:rPr lang="en-US" sz="1200" b="1" dirty="0">
                <a:solidFill>
                  <a:srgbClr val="2E7D4F"/>
                </a:solidFill>
                <a:latin typeface="Tahoma" pitchFamily="34" charset="0"/>
                <a:ea typeface="Tahoma" pitchFamily="34" charset="-122"/>
                <a:cs typeface="Tahoma" pitchFamily="34" charset="-120"/>
              </a:rPr>
              <a:t>confirmed</a:t>
            </a:r>
            <a:endParaRPr lang="en-US" sz="1200" dirty="0"/>
          </a:p>
        </p:txBody>
      </p:sp>
      <p:sp>
        <p:nvSpPr>
          <p:cNvPr id="39" name="Text 37"/>
          <p:cNvSpPr txBox="1"/>
          <p:nvPr/>
        </p:nvSpPr>
        <p:spPr>
          <a:xfrm>
            <a:off x="8275320" y="3712464"/>
            <a:ext cx="2286000" cy="749808"/>
          </a:xfrm>
          <a:prstGeom prst="rect">
            <a:avLst/>
          </a:prstGeom>
          <a:noFill/>
          <a:ln/>
        </p:spPr>
        <p:txBody>
          <a:bodyPr wrap="square" lIns="0" tIns="0" rIns="0" bIns="0" rtlCol="0" anchor="t"/>
          <a:lstStyle/>
          <a:p>
            <a:pPr algn="l" indent="0" marL="0">
              <a:buNone/>
            </a:pPr>
            <a:r>
              <a:rPr lang="en-US" sz="1400" dirty="0">
                <a:solidFill>
                  <a:srgbClr val="1F2A23"/>
                </a:solidFill>
                <a:latin typeface="Tahoma" pitchFamily="34" charset="0"/>
                <a:ea typeface="Tahoma" pitchFamily="34" charset="-122"/>
                <a:cs typeface="Tahoma" pitchFamily="34" charset="-120"/>
              </a:rPr>
              <a:t>Hexanal, limonene</a:t>
            </a:r>
            <a:endParaRPr lang="en-US" sz="1400" dirty="0"/>
          </a:p>
        </p:txBody>
      </p:sp>
      <p:sp>
        <p:nvSpPr>
          <p:cNvPr id="40" name="Shape 38"/>
          <p:cNvSpPr/>
          <p:nvPr/>
        </p:nvSpPr>
        <p:spPr>
          <a:xfrm>
            <a:off x="10588752" y="3730752"/>
            <a:ext cx="868680" cy="274320"/>
          </a:xfrm>
          <a:prstGeom prst="roundRect">
            <a:avLst>
              <a:gd name="adj" fmla="val 50000"/>
            </a:avLst>
          </a:prstGeom>
          <a:solidFill>
            <a:srgbClr val="FFF3D4"/>
          </a:solidFill>
          <a:ln/>
        </p:spPr>
      </p:sp>
      <p:sp>
        <p:nvSpPr>
          <p:cNvPr id="41" name="Text 39"/>
          <p:cNvSpPr txBox="1"/>
          <p:nvPr/>
        </p:nvSpPr>
        <p:spPr>
          <a:xfrm>
            <a:off x="10588752" y="3730752"/>
            <a:ext cx="868680" cy="274320"/>
          </a:xfrm>
          <a:prstGeom prst="rect">
            <a:avLst/>
          </a:prstGeom>
          <a:noFill/>
          <a:ln/>
        </p:spPr>
        <p:txBody>
          <a:bodyPr wrap="square" lIns="0" tIns="0" rIns="0" bIns="0" rtlCol="0" anchor="ctr"/>
          <a:lstStyle/>
          <a:p>
            <a:pPr algn="ctr" indent="0" marL="0">
              <a:buNone/>
            </a:pPr>
            <a:r>
              <a:rPr lang="en-US" sz="1200" b="1" dirty="0">
                <a:solidFill>
                  <a:srgbClr val="7A4F00"/>
                </a:solidFill>
                <a:latin typeface="Tahoma" pitchFamily="34" charset="0"/>
                <a:ea typeface="Tahoma" pitchFamily="34" charset="-122"/>
                <a:cs typeface="Tahoma" pitchFamily="34" charset="-120"/>
              </a:rPr>
              <a:t>partial</a:t>
            </a:r>
            <a:endParaRPr lang="en-US" sz="1200" dirty="0"/>
          </a:p>
        </p:txBody>
      </p:sp>
      <p:sp>
        <p:nvSpPr>
          <p:cNvPr id="42" name="Shape 40"/>
          <p:cNvSpPr/>
          <p:nvPr/>
        </p:nvSpPr>
        <p:spPr>
          <a:xfrm>
            <a:off x="548640" y="5486400"/>
            <a:ext cx="11091672" cy="777240"/>
          </a:xfrm>
          <a:prstGeom prst="roundRect">
            <a:avLst>
              <a:gd name="adj" fmla="val 21176"/>
            </a:avLst>
          </a:prstGeom>
          <a:solidFill>
            <a:srgbClr val="17301F"/>
          </a:solidFill>
          <a:ln/>
        </p:spPr>
      </p:sp>
      <p:sp>
        <p:nvSpPr>
          <p:cNvPr id="43" name="Text 41"/>
          <p:cNvSpPr txBox="1"/>
          <p:nvPr/>
        </p:nvSpPr>
        <p:spPr>
          <a:xfrm>
            <a:off x="868680" y="5486400"/>
            <a:ext cx="10469880" cy="777240"/>
          </a:xfrm>
          <a:prstGeom prst="rect">
            <a:avLst/>
          </a:prstGeom>
          <a:noFill/>
          <a:ln/>
        </p:spPr>
        <p:txBody>
          <a:bodyPr wrap="square" lIns="0" tIns="0" rIns="0" bIns="0" rtlCol="0" anchor="ctr"/>
          <a:lstStyle/>
          <a:p>
            <a:pPr algn="l" indent="0" marL="0">
              <a:buNone/>
            </a:pPr>
            <a:r>
              <a:rPr lang="en-US" sz="1400" dirty="0">
                <a:solidFill>
                  <a:srgbClr val="FFFFFF"/>
                </a:solidFill>
                <a:latin typeface="Tahoma" pitchFamily="34" charset="0"/>
                <a:ea typeface="Tahoma" pitchFamily="34" charset="-122"/>
                <a:cs typeface="Tahoma" pitchFamily="34" charset="-120"/>
              </a:rPr>
              <a:t>ลายนิ้วมือ VOC ต่างกันตามเชื้อและผลไม้ ไม่มีสารตัวเดียวที่ยืนยันได้ว่าผลไม้ทุกชนิดเน่า (Sun et al. 2025, Food Chem X, doi:10.1016/j.fochx.2025.102866)</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ทุเรียนสุกก็กลิ่นเปลี่ยน — แล้วเราอ่านอะไร</a:t>
            </a:r>
            <a:endParaRPr lang="en-US" sz="3000" dirty="0"/>
          </a:p>
        </p:txBody>
      </p:sp>
      <p:sp>
        <p:nvSpPr>
          <p:cNvPr id="3" name="Shape 1"/>
          <p:cNvSpPr/>
          <p:nvPr/>
        </p:nvSpPr>
        <p:spPr>
          <a:xfrm>
            <a:off x="548640" y="1371600"/>
            <a:ext cx="4937760" cy="1783080"/>
          </a:xfrm>
          <a:prstGeom prst="roundRect">
            <a:avLst>
              <a:gd name="adj" fmla="val 9231"/>
            </a:avLst>
          </a:prstGeom>
          <a:solidFill>
            <a:srgbClr val="EDF2E8"/>
          </a:solidFill>
          <a:ln w="12700">
            <a:solidFill>
              <a:srgbClr val="D5DFCB"/>
            </a:solidFill>
            <a:prstDash val="solid"/>
          </a:ln>
        </p:spPr>
      </p:sp>
      <p:sp>
        <p:nvSpPr>
          <p:cNvPr id="4" name="Text 2"/>
          <p:cNvSpPr txBox="1"/>
          <p:nvPr/>
        </p:nvSpPr>
        <p:spPr>
          <a:xfrm>
            <a:off x="822960" y="1481328"/>
            <a:ext cx="4389120" cy="365760"/>
          </a:xfrm>
          <a:prstGeom prst="rect">
            <a:avLst/>
          </a:prstGeom>
          <a:noFill/>
          <a:ln/>
        </p:spPr>
        <p:txBody>
          <a:bodyPr wrap="square" lIns="0" tIns="0" rIns="0" bIns="0" rtlCol="0" anchor="t"/>
          <a:lstStyle/>
          <a:p>
            <a:pPr algn="l" indent="0" marL="0">
              <a:buNone/>
            </a:pPr>
            <a:r>
              <a:rPr lang="en-US" sz="1400" b="1" dirty="0">
                <a:solidFill>
                  <a:srgbClr val="2E6B3E"/>
                </a:solidFill>
                <a:latin typeface="Tahoma" pitchFamily="34" charset="0"/>
                <a:ea typeface="Tahoma" pitchFamily="34" charset="-122"/>
                <a:cs typeface="Tahoma" pitchFamily="34" charset="-120"/>
              </a:rPr>
              <a:t>เอสเทอร์ (µl/L) ระยะแก่ → ระยะสุก</a:t>
            </a:r>
            <a:endParaRPr lang="en-US" sz="1400" dirty="0"/>
          </a:p>
        </p:txBody>
      </p:sp>
      <p:sp>
        <p:nvSpPr>
          <p:cNvPr id="5" name="Text 3"/>
          <p:cNvSpPr txBox="1"/>
          <p:nvPr/>
        </p:nvSpPr>
        <p:spPr>
          <a:xfrm>
            <a:off x="822960" y="1920240"/>
            <a:ext cx="4389120" cy="1097280"/>
          </a:xfrm>
          <a:prstGeom prst="rect">
            <a:avLst/>
          </a:prstGeom>
          <a:noFill/>
          <a:ln/>
        </p:spPr>
        <p:txBody>
          <a:bodyPr wrap="square" lIns="0" tIns="0" rIns="0" bIns="0" rtlCol="0" anchor="ctr"/>
          <a:lstStyle/>
          <a:p>
            <a:pPr algn="l" indent="0" marL="0">
              <a:buNone/>
            </a:pPr>
            <a:r>
              <a:rPr lang="en-US" sz="4400" b="1" dirty="0">
                <a:solidFill>
                  <a:srgbClr val="17301F"/>
                </a:solidFill>
                <a:latin typeface="Tahoma" pitchFamily="34" charset="0"/>
                <a:ea typeface="Tahoma" pitchFamily="34" charset="-122"/>
                <a:cs typeface="Tahoma" pitchFamily="34" charset="-120"/>
              </a:rPr>
              <a:t>7.8 → 33.4</a:t>
            </a:r>
            <a:endParaRPr lang="en-US" sz="4400" dirty="0"/>
          </a:p>
        </p:txBody>
      </p:sp>
      <p:sp>
        <p:nvSpPr>
          <p:cNvPr id="6" name="Shape 4"/>
          <p:cNvSpPr/>
          <p:nvPr/>
        </p:nvSpPr>
        <p:spPr>
          <a:xfrm>
            <a:off x="548640" y="3337560"/>
            <a:ext cx="4937760" cy="1783080"/>
          </a:xfrm>
          <a:prstGeom prst="roundRect">
            <a:avLst>
              <a:gd name="adj" fmla="val 9231"/>
            </a:avLst>
          </a:prstGeom>
          <a:solidFill>
            <a:srgbClr val="EDF2E8"/>
          </a:solidFill>
          <a:ln w="12700">
            <a:solidFill>
              <a:srgbClr val="D5DFCB"/>
            </a:solidFill>
            <a:prstDash val="solid"/>
          </a:ln>
        </p:spPr>
      </p:sp>
      <p:sp>
        <p:nvSpPr>
          <p:cNvPr id="7" name="Text 5"/>
          <p:cNvSpPr txBox="1"/>
          <p:nvPr/>
        </p:nvSpPr>
        <p:spPr>
          <a:xfrm>
            <a:off x="822960" y="3447288"/>
            <a:ext cx="4389120" cy="365760"/>
          </a:xfrm>
          <a:prstGeom prst="rect">
            <a:avLst/>
          </a:prstGeom>
          <a:noFill/>
          <a:ln/>
        </p:spPr>
        <p:txBody>
          <a:bodyPr wrap="square" lIns="0" tIns="0" rIns="0" bIns="0" rtlCol="0" anchor="t"/>
          <a:lstStyle/>
          <a:p>
            <a:pPr algn="l" indent="0" marL="0">
              <a:buNone/>
            </a:pPr>
            <a:r>
              <a:rPr lang="en-US" sz="1400" b="1" dirty="0">
                <a:solidFill>
                  <a:srgbClr val="2E6B3E"/>
                </a:solidFill>
                <a:latin typeface="Tahoma" pitchFamily="34" charset="0"/>
                <a:ea typeface="Tahoma" pitchFamily="34" charset="-122"/>
                <a:cs typeface="Tahoma" pitchFamily="34" charset="-120"/>
              </a:rPr>
              <a:t>สารกำมะถัน (µl/L) ระยะแก่ → ระยะสุก</a:t>
            </a:r>
            <a:endParaRPr lang="en-US" sz="1400" dirty="0"/>
          </a:p>
        </p:txBody>
      </p:sp>
      <p:sp>
        <p:nvSpPr>
          <p:cNvPr id="8" name="Text 6"/>
          <p:cNvSpPr txBox="1"/>
          <p:nvPr/>
        </p:nvSpPr>
        <p:spPr>
          <a:xfrm>
            <a:off x="822960" y="3886200"/>
            <a:ext cx="4389120" cy="1097280"/>
          </a:xfrm>
          <a:prstGeom prst="rect">
            <a:avLst/>
          </a:prstGeom>
          <a:noFill/>
          <a:ln/>
        </p:spPr>
        <p:txBody>
          <a:bodyPr wrap="square" lIns="0" tIns="0" rIns="0" bIns="0" rtlCol="0" anchor="ctr"/>
          <a:lstStyle/>
          <a:p>
            <a:pPr algn="l" indent="0" marL="0">
              <a:buNone/>
            </a:pPr>
            <a:r>
              <a:rPr lang="en-US" sz="4400" b="1" dirty="0">
                <a:solidFill>
                  <a:srgbClr val="17301F"/>
                </a:solidFill>
                <a:latin typeface="Tahoma" pitchFamily="34" charset="0"/>
                <a:ea typeface="Tahoma" pitchFamily="34" charset="-122"/>
                <a:cs typeface="Tahoma" pitchFamily="34" charset="-120"/>
              </a:rPr>
              <a:t>0.45 → 3.0</a:t>
            </a:r>
            <a:endParaRPr lang="en-US" sz="4400" dirty="0"/>
          </a:p>
        </p:txBody>
      </p:sp>
      <p:sp>
        <p:nvSpPr>
          <p:cNvPr id="9" name="Text 7"/>
          <p:cNvSpPr txBox="1"/>
          <p:nvPr/>
        </p:nvSpPr>
        <p:spPr>
          <a:xfrm>
            <a:off x="548640" y="5349240"/>
            <a:ext cx="4937760" cy="82296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ทุเรียน Mon Thong, SPME + GC-MS · Chawengkijwanich 2008 · confirmed · เพิ่มตอนสุก ไม่ใช่ตอนเน่า (มี 2 ระยะ ไม่มีระยะเน่า)</a:t>
            </a:r>
            <a:endParaRPr lang="en-US" sz="1200" dirty="0"/>
          </a:p>
        </p:txBody>
      </p:sp>
      <p:sp>
        <p:nvSpPr>
          <p:cNvPr id="10" name="Text 8"/>
          <p:cNvSpPr txBox="1"/>
          <p:nvPr/>
        </p:nvSpPr>
        <p:spPr>
          <a:xfrm>
            <a:off x="5852160" y="1371600"/>
            <a:ext cx="5760720" cy="457200"/>
          </a:xfrm>
          <a:prstGeom prst="rect">
            <a:avLst/>
          </a:prstGeom>
          <a:noFill/>
          <a:ln/>
        </p:spPr>
        <p:txBody>
          <a:bodyPr wrap="square" lIns="0" tIns="0" rIns="0" bIns="0" rtlCol="0" anchor="t"/>
          <a:lstStyle/>
          <a:p>
            <a:pPr algn="l" indent="0" marL="0">
              <a:buNone/>
            </a:pPr>
            <a:r>
              <a:rPr lang="en-US" sz="2000" b="1" dirty="0">
                <a:solidFill>
                  <a:srgbClr val="17301F"/>
                </a:solidFill>
                <a:latin typeface="Tahoma" pitchFamily="34" charset="0"/>
                <a:ea typeface="Tahoma" pitchFamily="34" charset="-122"/>
                <a:cs typeface="Tahoma" pitchFamily="34" charset="-120"/>
              </a:rPr>
              <a:t>สิ่งที่เซนเซอร์อ่านได้จริง</a:t>
            </a:r>
            <a:endParaRPr lang="en-US" sz="2000" dirty="0"/>
          </a:p>
        </p:txBody>
      </p:sp>
      <p:sp>
        <p:nvSpPr>
          <p:cNvPr id="11" name="Text 9"/>
          <p:cNvSpPr txBox="1"/>
          <p:nvPr/>
        </p:nvSpPr>
        <p:spPr>
          <a:xfrm>
            <a:off x="5852160" y="1920240"/>
            <a:ext cx="5788152" cy="3383280"/>
          </a:xfrm>
          <a:prstGeom prst="rect">
            <a:avLst/>
          </a:prstGeom>
          <a:noFill/>
          <a:ln/>
        </p:spPr>
        <p:txBody>
          <a:bodyPr wrap="square" lIns="0" tIns="0" rIns="0" bIns="0" rtlCol="0" anchor="t"/>
          <a:lstStyle/>
          <a:p>
            <a:pPr algn="l" marL="203200" indent="-203200">
              <a:spcAft>
                <a:spcPts val="700"/>
              </a:spcAft>
              <a:buSzPct val="100000"/>
              <a:buChar char="•"/>
            </a:pPr>
            <a:r>
              <a:rPr lang="en-US" sz="1500" b="1" dirty="0">
                <a:solidFill>
                  <a:srgbClr val="1F2A23"/>
                </a:solidFill>
                <a:latin typeface="Tahoma" pitchFamily="34" charset="0"/>
                <a:ea typeface="Tahoma" pitchFamily="34" charset="-122"/>
                <a:cs typeface="Tahoma" pitchFamily="34" charset="-120"/>
              </a:rPr>
              <a:t>เราไม่อ่านสารรายตัว</a:t>
            </a:r>
            <a:pPr algn="l" marL="203200" indent="-203200">
              <a:spcAft>
                <a:spcPts val="700"/>
              </a:spcAft>
              <a:buSzPct val="100000"/>
              <a:buChar char="•"/>
            </a:pPr>
            <a:r>
              <a:rPr lang="en-US" sz="1500" dirty="0">
                <a:solidFill>
                  <a:srgbClr val="1F2A23"/>
                </a:solidFill>
                <a:latin typeface="Tahoma" pitchFamily="34" charset="0"/>
                <a:ea typeface="Tahoma" pitchFamily="34" charset="-122"/>
                <a:cs typeface="Tahoma" pitchFamily="34" charset="-120"/>
              </a:rPr>
              <a:t> — อ่านรูปแบบ Rs/R0 ของเซนเซอร์หลายตัวและการเปลี่ยนตามเวลา</a:t>
            </a:r>
            <a:endParaRPr lang="en-US" sz="1500" dirty="0"/>
          </a:p>
          <a:p>
            <a:pPr algn="l" marL="203200" indent="-203200">
              <a:spcAft>
                <a:spcPts val="700"/>
              </a:spcAft>
              <a:buSzPct val="100000"/>
              <a:buChar char="•"/>
            </a:pPr>
            <a:r>
              <a:rPr lang="en-US" sz="1500" dirty="0">
                <a:solidFill>
                  <a:srgbClr val="1F2A23"/>
                </a:solidFill>
                <a:latin typeface="Tahoma" pitchFamily="34" charset="0"/>
                <a:ea typeface="Tahoma" pitchFamily="34" charset="-122"/>
                <a:cs typeface="Tahoma" pitchFamily="34" charset="-120"/>
              </a:rPr>
              <a:t>รายชื่อสาร (ethanol, acetaldehyde, ethyl acetate, 1-octen-3-ol) ใช้เลือกเซนเซอร์และตีความ ไม่ได้อ่านเป็น ppm</a:t>
            </a:r>
            <a:endParaRPr lang="en-US" sz="1500" dirty="0"/>
          </a:p>
          <a:p>
            <a:pPr algn="l" marL="203200" indent="-203200">
              <a:spcAft>
                <a:spcPts val="700"/>
              </a:spcAft>
              <a:buSzPct val="100000"/>
              <a:buChar char="•"/>
            </a:pPr>
            <a:r>
              <a:rPr lang="en-US" sz="1500" dirty="0">
                <a:solidFill>
                  <a:srgbClr val="1F2A23"/>
                </a:solidFill>
                <a:latin typeface="Tahoma" pitchFamily="34" charset="0"/>
                <a:ea typeface="Tahoma" pitchFamily="34" charset="-122"/>
                <a:cs typeface="Tahoma" pitchFamily="34" charset="-120"/>
              </a:rPr>
              <a:t>เซนเซอร์ MOS ราคาถูก: ไม่มีรุ่นไหนที่ datasheet ระบุ acetaldehyde / ethyl acetate / ethylene — ใช้ดูแนวโน้ม VOC รวม</a:t>
            </a:r>
            <a:endParaRPr lang="en-US" sz="1500" dirty="0"/>
          </a:p>
          <a:p>
            <a:pPr algn="l" marL="203200" indent="-203200">
              <a:spcAft>
                <a:spcPts val="700"/>
              </a:spcAft>
              <a:buSzPct val="100000"/>
              <a:buChar char="•"/>
            </a:pPr>
            <a:r>
              <a:rPr lang="en-US" sz="1500" dirty="0">
                <a:solidFill>
                  <a:srgbClr val="1F2A23"/>
                </a:solidFill>
                <a:latin typeface="Tahoma" pitchFamily="34" charset="0"/>
                <a:ea typeface="Tahoma" pitchFamily="34" charset="-122"/>
                <a:cs typeface="Tahoma" pitchFamily="34" charset="-120"/>
              </a:rPr>
              <a:t>ethanol: มีในกราฟ datasheet ของ TGS2602, TGS2603, BME680/688 และ MQ-3</a:t>
            </a:r>
            <a:endParaRPr lang="en-US" sz="1500" dirty="0"/>
          </a:p>
          <a:p>
            <a:pPr algn="l" marL="203200" indent="-203200">
              <a:spcAft>
                <a:spcPts val="700"/>
              </a:spcAft>
              <a:buSzPct val="100000"/>
              <a:buChar char="•"/>
            </a:pPr>
            <a:r>
              <a:rPr lang="en-US" sz="1500" dirty="0">
                <a:solidFill>
                  <a:srgbClr val="1F2A23"/>
                </a:solidFill>
                <a:latin typeface="Tahoma" pitchFamily="34" charset="0"/>
                <a:ea typeface="Tahoma" pitchFamily="34" charset="-122"/>
                <a:cs typeface="Tahoma" pitchFamily="34" charset="-120"/>
              </a:rPr>
              <a:t>ในทุเรียน ethyl acetate และ ethanol เด่นตั้งแต่ระยะแก่ — ดูการเปลี่ยนตามเวลา ไม่ใช้ค่าสัมบูรณ์ตัดสินว่าเน่า (ข้อสังเกตของทีม ยังไม่ได้ทดลอง)</a:t>
            </a:r>
            <a:endParaRPr lang="en-US" sz="1500" dirty="0"/>
          </a:p>
        </p:txBody>
      </p:sp>
      <p:sp>
        <p:nvSpPr>
          <p:cNvPr id="12" name="Shape 10"/>
          <p:cNvSpPr/>
          <p:nvPr/>
        </p:nvSpPr>
        <p:spPr>
          <a:xfrm>
            <a:off x="5852160" y="5440680"/>
            <a:ext cx="5788152" cy="731520"/>
          </a:xfrm>
          <a:prstGeom prst="roundRect">
            <a:avLst>
              <a:gd name="adj" fmla="val 22500"/>
            </a:avLst>
          </a:prstGeom>
          <a:solidFill>
            <a:srgbClr val="17301F"/>
          </a:solidFill>
          <a:ln/>
        </p:spPr>
      </p:sp>
      <p:sp>
        <p:nvSpPr>
          <p:cNvPr id="13" name="Text 11"/>
          <p:cNvSpPr txBox="1"/>
          <p:nvPr/>
        </p:nvSpPr>
        <p:spPr>
          <a:xfrm>
            <a:off x="6126480" y="5440680"/>
            <a:ext cx="5303520" cy="731520"/>
          </a:xfrm>
          <a:prstGeom prst="rect">
            <a:avLst/>
          </a:prstGeom>
          <a:noFill/>
          <a:ln/>
        </p:spPr>
        <p:txBody>
          <a:bodyPr wrap="square" lIns="0" tIns="0" rIns="0" bIns="0" rtlCol="0" anchor="ctr"/>
          <a:lstStyle/>
          <a:p>
            <a:pPr algn="l" indent="0" marL="0">
              <a:buNone/>
            </a:pPr>
            <a:r>
              <a:rPr lang="en-US" sz="1400" dirty="0">
                <a:solidFill>
                  <a:srgbClr val="FFFFFF"/>
                </a:solidFill>
                <a:latin typeface="Tahoma" pitchFamily="34" charset="0"/>
                <a:ea typeface="Tahoma" pitchFamily="34" charset="-122"/>
                <a:cs typeface="Tahoma" pitchFamily="34" charset="-120"/>
              </a:rPr>
              <a:t>ตัวเลขความเข้มข้นของสารเสียแทบไม่มีในงานที่อ่านได้</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งานวิจัยที่เกี่ยวข้อง และเราต่างอย่างไร</a:t>
            </a:r>
            <a:endParaRPr lang="en-US" sz="3000" dirty="0"/>
          </a:p>
        </p:txBody>
      </p:sp>
      <p:sp>
        <p:nvSpPr>
          <p:cNvPr id="3" name="Shape 1"/>
          <p:cNvSpPr/>
          <p:nvPr/>
        </p:nvSpPr>
        <p:spPr>
          <a:xfrm>
            <a:off x="548640" y="1280160"/>
            <a:ext cx="11091672" cy="457200"/>
          </a:xfrm>
          <a:prstGeom prst="roundRect">
            <a:avLst>
              <a:gd name="adj" fmla="val 20000"/>
            </a:avLst>
          </a:prstGeom>
          <a:solidFill>
            <a:srgbClr val="17301F"/>
          </a:solidFill>
          <a:ln/>
        </p:spPr>
      </p:sp>
      <p:sp>
        <p:nvSpPr>
          <p:cNvPr id="4" name="Text 2"/>
          <p:cNvSpPr txBox="1"/>
          <p:nvPr/>
        </p:nvSpPr>
        <p:spPr>
          <a:xfrm>
            <a:off x="685800" y="1280160"/>
            <a:ext cx="160020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งาน</a:t>
            </a:r>
            <a:endParaRPr lang="en-US" sz="1400" dirty="0"/>
          </a:p>
        </p:txBody>
      </p:sp>
      <p:sp>
        <p:nvSpPr>
          <p:cNvPr id="5" name="Text 3"/>
          <p:cNvSpPr txBox="1"/>
          <p:nvPr/>
        </p:nvSpPr>
        <p:spPr>
          <a:xfrm>
            <a:off x="2468880" y="1280160"/>
            <a:ext cx="210312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ทดสอบจริงแล้ว?</a:t>
            </a:r>
            <a:endParaRPr lang="en-US" sz="1400" dirty="0"/>
          </a:p>
        </p:txBody>
      </p:sp>
      <p:sp>
        <p:nvSpPr>
          <p:cNvPr id="6" name="Text 4"/>
          <p:cNvSpPr txBox="1"/>
          <p:nvPr/>
        </p:nvSpPr>
        <p:spPr>
          <a:xfrm>
            <a:off x="4754880" y="1280160"/>
            <a:ext cx="251460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ผล</a:t>
            </a:r>
            <a:endParaRPr lang="en-US" sz="1400" dirty="0"/>
          </a:p>
        </p:txBody>
      </p:sp>
      <p:sp>
        <p:nvSpPr>
          <p:cNvPr id="7" name="Text 5"/>
          <p:cNvSpPr txBox="1"/>
          <p:nvPr/>
        </p:nvSpPr>
        <p:spPr>
          <a:xfrm>
            <a:off x="7452360" y="1280160"/>
            <a:ext cx="201168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ข้อจำกัด</a:t>
            </a:r>
            <a:endParaRPr lang="en-US" sz="1400" dirty="0"/>
          </a:p>
        </p:txBody>
      </p:sp>
      <p:sp>
        <p:nvSpPr>
          <p:cNvPr id="8" name="Text 6"/>
          <p:cNvSpPr txBox="1"/>
          <p:nvPr/>
        </p:nvSpPr>
        <p:spPr>
          <a:xfrm>
            <a:off x="9646920" y="1280160"/>
            <a:ext cx="1947672"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เราต่างอย่างไร</a:t>
            </a:r>
            <a:endParaRPr lang="en-US" sz="1400" dirty="0"/>
          </a:p>
        </p:txBody>
      </p:sp>
      <p:sp>
        <p:nvSpPr>
          <p:cNvPr id="9" name="Shape 7"/>
          <p:cNvSpPr/>
          <p:nvPr/>
        </p:nvSpPr>
        <p:spPr>
          <a:xfrm>
            <a:off x="548640" y="1792224"/>
            <a:ext cx="11091672" cy="530352"/>
          </a:xfrm>
          <a:prstGeom prst="roundRect">
            <a:avLst>
              <a:gd name="adj" fmla="val 10345"/>
            </a:avLst>
          </a:prstGeom>
          <a:solidFill>
            <a:srgbClr val="EDF2E8"/>
          </a:solidFill>
          <a:ln w="12700">
            <a:solidFill>
              <a:srgbClr val="D5DFCB"/>
            </a:solidFill>
            <a:prstDash val="solid"/>
          </a:ln>
        </p:spPr>
      </p:sp>
      <p:sp>
        <p:nvSpPr>
          <p:cNvPr id="10" name="Text 8"/>
          <p:cNvSpPr txBox="1"/>
          <p:nvPr/>
        </p:nvSpPr>
        <p:spPr>
          <a:xfrm>
            <a:off x="685800" y="1792224"/>
            <a:ext cx="155448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e-nose ทุเรียน (2010)</a:t>
            </a:r>
            <a:endParaRPr lang="en-US" sz="1400" dirty="0"/>
          </a:p>
        </p:txBody>
      </p:sp>
      <p:sp>
        <p:nvSpPr>
          <p:cNvPr id="11" name="Text 9"/>
          <p:cNvSpPr txBox="1"/>
          <p:nvPr/>
        </p:nvSpPr>
        <p:spPr>
          <a:xfrm>
            <a:off x="2468880" y="1792224"/>
            <a:ext cx="205740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ใช่ ทุเรียนจริง + GC-MS + ชิม</a:t>
            </a:r>
            <a:endParaRPr lang="en-US" sz="1400" dirty="0"/>
          </a:p>
        </p:txBody>
      </p:sp>
      <p:sp>
        <p:nvSpPr>
          <p:cNvPr id="12" name="Text 10"/>
          <p:cNvSpPr txBox="1"/>
          <p:nvPr/>
        </p:nvSpPr>
        <p:spPr>
          <a:xfrm>
            <a:off x="4754880" y="1792224"/>
            <a:ext cx="246888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แยกยังไม่สุก/สุก/สุกเกินได้ชัด</a:t>
            </a:r>
            <a:endParaRPr lang="en-US" sz="1400" dirty="0"/>
          </a:p>
        </p:txBody>
      </p:sp>
      <p:sp>
        <p:nvSpPr>
          <p:cNvPr id="13" name="Text 11"/>
          <p:cNvSpPr txBox="1"/>
          <p:nvPr/>
        </p:nvSpPr>
        <p:spPr>
          <a:xfrm>
            <a:off x="7452360" y="1792224"/>
            <a:ext cx="196596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วิเคราะห์บนคอมพิวเตอร์</a:t>
            </a:r>
            <a:endParaRPr lang="en-US" sz="1400" dirty="0"/>
          </a:p>
        </p:txBody>
      </p:sp>
      <p:sp>
        <p:nvSpPr>
          <p:cNvPr id="14" name="Text 12"/>
          <p:cNvSpPr txBox="1"/>
          <p:nvPr/>
        </p:nvSpPr>
        <p:spPr>
          <a:xfrm>
            <a:off x="9646920" y="1792224"/>
            <a:ext cx="190195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ฝังในเครื่อง + IoT</a:t>
            </a:r>
            <a:endParaRPr lang="en-US" sz="1400" dirty="0"/>
          </a:p>
        </p:txBody>
      </p:sp>
      <p:sp>
        <p:nvSpPr>
          <p:cNvPr id="15" name="Shape 13"/>
          <p:cNvSpPr/>
          <p:nvPr/>
        </p:nvSpPr>
        <p:spPr>
          <a:xfrm>
            <a:off x="548640" y="2359152"/>
            <a:ext cx="11091672" cy="731520"/>
          </a:xfrm>
          <a:prstGeom prst="roundRect">
            <a:avLst>
              <a:gd name="adj" fmla="val 7500"/>
            </a:avLst>
          </a:prstGeom>
          <a:solidFill>
            <a:srgbClr val="FFFFFF"/>
          </a:solidFill>
          <a:ln w="12700">
            <a:solidFill>
              <a:srgbClr val="D5DFCB"/>
            </a:solidFill>
            <a:prstDash val="solid"/>
          </a:ln>
        </p:spPr>
      </p:sp>
      <p:sp>
        <p:nvSpPr>
          <p:cNvPr id="16" name="Text 14"/>
          <p:cNvSpPr txBox="1"/>
          <p:nvPr/>
        </p:nvSpPr>
        <p:spPr>
          <a:xfrm>
            <a:off x="685800" y="2359152"/>
            <a:ext cx="1554480" cy="73152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e-nose ราคาถูก (2025)</a:t>
            </a:r>
            <a:endParaRPr lang="en-US" sz="1400" dirty="0"/>
          </a:p>
        </p:txBody>
      </p:sp>
      <p:sp>
        <p:nvSpPr>
          <p:cNvPr id="17" name="Text 15"/>
          <p:cNvSpPr txBox="1"/>
          <p:nvPr/>
        </p:nvSpPr>
        <p:spPr>
          <a:xfrm>
            <a:off x="2468880" y="2359152"/>
            <a:ext cx="2057400" cy="73152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ใช่ หมอนทอง กระดุมทอง ทั้งในและนอกอาคาร</a:t>
            </a:r>
            <a:endParaRPr lang="en-US" sz="1400" dirty="0"/>
          </a:p>
        </p:txBody>
      </p:sp>
      <p:sp>
        <p:nvSpPr>
          <p:cNvPr id="18" name="Text 16"/>
          <p:cNvSpPr txBox="1"/>
          <p:nvPr/>
        </p:nvSpPr>
        <p:spPr>
          <a:xfrm>
            <a:off x="4754880" y="2359152"/>
            <a:ext cx="2468880" cy="73152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ติดตามการสุก ตรวจเพลี้ยแป้งได้ (กลางแจ้ง ~61%*)</a:t>
            </a:r>
            <a:endParaRPr lang="en-US" sz="1400" dirty="0"/>
          </a:p>
        </p:txBody>
      </p:sp>
      <p:sp>
        <p:nvSpPr>
          <p:cNvPr id="19" name="Text 17"/>
          <p:cNvSpPr txBox="1"/>
          <p:nvPr/>
        </p:nvSpPr>
        <p:spPr>
          <a:xfrm>
            <a:off x="7452360" y="2359152"/>
            <a:ext cx="1965960" cy="73152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เพิ่มพันธุ์ใหม่ต้องเทรนใหม่</a:t>
            </a:r>
            <a:endParaRPr lang="en-US" sz="1400" dirty="0"/>
          </a:p>
        </p:txBody>
      </p:sp>
      <p:sp>
        <p:nvSpPr>
          <p:cNvPr id="20" name="Text 18"/>
          <p:cNvSpPr txBox="1"/>
          <p:nvPr/>
        </p:nvSpPr>
        <p:spPr>
          <a:xfrm>
            <a:off x="9646920" y="2359152"/>
            <a:ext cx="1901952" cy="73152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เรียนเพิ่มได้ทีละตัวอย่าง</a:t>
            </a:r>
            <a:endParaRPr lang="en-US" sz="1400" dirty="0"/>
          </a:p>
        </p:txBody>
      </p:sp>
      <p:sp>
        <p:nvSpPr>
          <p:cNvPr id="21" name="Shape 19"/>
          <p:cNvSpPr/>
          <p:nvPr/>
        </p:nvSpPr>
        <p:spPr>
          <a:xfrm>
            <a:off x="548640" y="3127248"/>
            <a:ext cx="11091672" cy="530352"/>
          </a:xfrm>
          <a:prstGeom prst="roundRect">
            <a:avLst>
              <a:gd name="adj" fmla="val 10345"/>
            </a:avLst>
          </a:prstGeom>
          <a:solidFill>
            <a:srgbClr val="EDF2E8"/>
          </a:solidFill>
          <a:ln w="12700">
            <a:solidFill>
              <a:srgbClr val="D5DFCB"/>
            </a:solidFill>
            <a:prstDash val="solid"/>
          </a:ln>
        </p:spPr>
      </p:sp>
      <p:sp>
        <p:nvSpPr>
          <p:cNvPr id="22" name="Text 20"/>
          <p:cNvSpPr txBox="1"/>
          <p:nvPr/>
        </p:nvSpPr>
        <p:spPr>
          <a:xfrm>
            <a:off x="685800" y="3127248"/>
            <a:ext cx="155448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flash-GC e-nose (มฟล.)</a:t>
            </a:r>
            <a:endParaRPr lang="en-US" sz="1400" dirty="0"/>
          </a:p>
        </p:txBody>
      </p:sp>
      <p:sp>
        <p:nvSpPr>
          <p:cNvPr id="23" name="Text 21"/>
          <p:cNvSpPr txBox="1"/>
          <p:nvPr/>
        </p:nvSpPr>
        <p:spPr>
          <a:xfrm>
            <a:off x="2468880" y="3127248"/>
            <a:ext cx="205740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ใช่ เนื้อหมอนทองที่บ่มแล้ว</a:t>
            </a:r>
            <a:endParaRPr lang="en-US" sz="1400" dirty="0"/>
          </a:p>
        </p:txBody>
      </p:sp>
      <p:sp>
        <p:nvSpPr>
          <p:cNvPr id="24" name="Text 22"/>
          <p:cNvSpPr txBox="1"/>
          <p:nvPr/>
        </p:nvSpPr>
        <p:spPr>
          <a:xfrm>
            <a:off x="4754880" y="3127248"/>
            <a:ext cx="246888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แยกได้ชัดเฉพาะบางกลุ่ม</a:t>
            </a:r>
            <a:endParaRPr lang="en-US" sz="1400" dirty="0"/>
          </a:p>
        </p:txBody>
      </p:sp>
      <p:sp>
        <p:nvSpPr>
          <p:cNvPr id="25" name="Text 23"/>
          <p:cNvSpPr txBox="1"/>
          <p:nvPr/>
        </p:nvSpPr>
        <p:spPr>
          <a:xfrm>
            <a:off x="7452360" y="3127248"/>
            <a:ext cx="196596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เครื่องแพง ใช้ในแล็บ</a:t>
            </a:r>
            <a:endParaRPr lang="en-US" sz="1400" dirty="0"/>
          </a:p>
        </p:txBody>
      </p:sp>
      <p:sp>
        <p:nvSpPr>
          <p:cNvPr id="26" name="Text 24"/>
          <p:cNvSpPr txBox="1"/>
          <p:nvPr/>
        </p:nvSpPr>
        <p:spPr>
          <a:xfrm>
            <a:off x="9646920" y="3127248"/>
            <a:ext cx="190195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เน้นการสุก/เสียที่กลิ่นทำได้</a:t>
            </a:r>
            <a:endParaRPr lang="en-US" sz="1400" dirty="0"/>
          </a:p>
        </p:txBody>
      </p:sp>
      <p:sp>
        <p:nvSpPr>
          <p:cNvPr id="27" name="Shape 25"/>
          <p:cNvSpPr/>
          <p:nvPr/>
        </p:nvSpPr>
        <p:spPr>
          <a:xfrm>
            <a:off x="548640" y="3694176"/>
            <a:ext cx="11091672" cy="530352"/>
          </a:xfrm>
          <a:prstGeom prst="roundRect">
            <a:avLst>
              <a:gd name="adj" fmla="val 10345"/>
            </a:avLst>
          </a:prstGeom>
          <a:solidFill>
            <a:srgbClr val="FFFFFF"/>
          </a:solidFill>
          <a:ln w="12700">
            <a:solidFill>
              <a:srgbClr val="D5DFCB"/>
            </a:solidFill>
            <a:prstDash val="solid"/>
          </a:ln>
        </p:spPr>
      </p:sp>
      <p:sp>
        <p:nvSpPr>
          <p:cNvPr id="28" name="Text 26"/>
          <p:cNvSpPr txBox="1"/>
          <p:nvPr/>
        </p:nvSpPr>
        <p:spPr>
          <a:xfrm>
            <a:off x="685800" y="3694176"/>
            <a:ext cx="155448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e-nose มะม่วง (2022)</a:t>
            </a:r>
            <a:endParaRPr lang="en-US" sz="1400" dirty="0"/>
          </a:p>
        </p:txBody>
      </p:sp>
      <p:sp>
        <p:nvSpPr>
          <p:cNvPr id="29" name="Text 27"/>
          <p:cNvSpPr txBox="1"/>
          <p:nvPr/>
        </p:nvSpPr>
        <p:spPr>
          <a:xfrm>
            <a:off x="2468880" y="3694176"/>
            <a:ext cx="205740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ใช่ มะม่วงที่ถูกแมลงวันผลไม้วางไข่</a:t>
            </a:r>
            <a:endParaRPr lang="en-US" sz="1400" dirty="0"/>
          </a:p>
        </p:txBody>
      </p:sp>
      <p:sp>
        <p:nvSpPr>
          <p:cNvPr id="30" name="Text 28"/>
          <p:cNvSpPr txBox="1"/>
          <p:nvPr/>
        </p:nvSpPr>
        <p:spPr>
          <a:xfrm>
            <a:off x="4754880" y="3694176"/>
            <a:ext cx="246888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พบสารบ่งชี้ภายใน 24–48 ชม.</a:t>
            </a:r>
            <a:endParaRPr lang="en-US" sz="1400" dirty="0"/>
          </a:p>
        </p:txBody>
      </p:sp>
      <p:sp>
        <p:nvSpPr>
          <p:cNvPr id="31" name="Text 29"/>
          <p:cNvSpPr txBox="1"/>
          <p:nvPr/>
        </p:nvSpPr>
        <p:spPr>
          <a:xfrm>
            <a:off x="7452360" y="3694176"/>
            <a:ext cx="196596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ระดับแล็บ</a:t>
            </a:r>
            <a:endParaRPr lang="en-US" sz="1400" dirty="0"/>
          </a:p>
        </p:txBody>
      </p:sp>
      <p:sp>
        <p:nvSpPr>
          <p:cNvPr id="32" name="Text 30"/>
          <p:cNvSpPr txBox="1"/>
          <p:nvPr/>
        </p:nvSpPr>
        <p:spPr>
          <a:xfrm>
            <a:off x="9646920" y="3694176"/>
            <a:ext cx="190195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ต่อยอดไปกลุ่มมะม่วงได้</a:t>
            </a:r>
            <a:endParaRPr lang="en-US" sz="1400" dirty="0"/>
          </a:p>
        </p:txBody>
      </p:sp>
      <p:sp>
        <p:nvSpPr>
          <p:cNvPr id="33" name="Shape 31"/>
          <p:cNvSpPr/>
          <p:nvPr/>
        </p:nvSpPr>
        <p:spPr>
          <a:xfrm>
            <a:off x="548640" y="4261104"/>
            <a:ext cx="11091672" cy="530352"/>
          </a:xfrm>
          <a:prstGeom prst="roundRect">
            <a:avLst>
              <a:gd name="adj" fmla="val 10345"/>
            </a:avLst>
          </a:prstGeom>
          <a:solidFill>
            <a:srgbClr val="EDF2E8"/>
          </a:solidFill>
          <a:ln w="12700">
            <a:solidFill>
              <a:srgbClr val="D5DFCB"/>
            </a:solidFill>
            <a:prstDash val="solid"/>
          </a:ln>
        </p:spPr>
      </p:sp>
      <p:sp>
        <p:nvSpPr>
          <p:cNvPr id="34" name="Text 32"/>
          <p:cNvSpPr txBox="1"/>
          <p:nvPr/>
        </p:nvSpPr>
        <p:spPr>
          <a:xfrm>
            <a:off x="685800" y="4261104"/>
            <a:ext cx="155448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NIR ทุเรียน</a:t>
            </a:r>
            <a:endParaRPr lang="en-US" sz="1400" dirty="0"/>
          </a:p>
        </p:txBody>
      </p:sp>
      <p:sp>
        <p:nvSpPr>
          <p:cNvPr id="35" name="Text 33"/>
          <p:cNvSpPr txBox="1"/>
          <p:nvPr/>
        </p:nvSpPr>
        <p:spPr>
          <a:xfrm>
            <a:off x="2468880" y="4261104"/>
            <a:ext cx="205740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ใช่ ผลจริงพันธุ์หลง-หลินลับแล</a:t>
            </a:r>
            <a:endParaRPr lang="en-US" sz="1400" dirty="0"/>
          </a:p>
        </p:txBody>
      </p:sp>
      <p:sp>
        <p:nvSpPr>
          <p:cNvPr id="36" name="Text 34"/>
          <p:cNvSpPr txBox="1"/>
          <p:nvPr/>
        </p:nvSpPr>
        <p:spPr>
          <a:xfrm>
            <a:off x="4754880" y="4261104"/>
            <a:ext cx="246888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น้ำหนักแห้ง SEP 1.67%</a:t>
            </a:r>
            <a:endParaRPr lang="en-US" sz="1400" dirty="0"/>
          </a:p>
        </p:txBody>
      </p:sp>
      <p:sp>
        <p:nvSpPr>
          <p:cNvPr id="37" name="Text 35"/>
          <p:cNvSpPr txBox="1"/>
          <p:nvPr/>
        </p:nvSpPr>
        <p:spPr>
          <a:xfrm>
            <a:off x="7452360" y="4261104"/>
            <a:ext cx="196596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แพง แปรตามการแก่</a:t>
            </a:r>
            <a:endParaRPr lang="en-US" sz="1400" dirty="0"/>
          </a:p>
        </p:txBody>
      </p:sp>
      <p:sp>
        <p:nvSpPr>
          <p:cNvPr id="38" name="Text 36"/>
          <p:cNvSpPr txBox="1"/>
          <p:nvPr/>
        </p:nvSpPr>
        <p:spPr>
          <a:xfrm>
            <a:off x="9646920" y="4261104"/>
            <a:ext cx="190195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โมดูลเสริมระดับ C</a:t>
            </a:r>
            <a:endParaRPr lang="en-US" sz="1400" dirty="0"/>
          </a:p>
        </p:txBody>
      </p:sp>
      <p:sp>
        <p:nvSpPr>
          <p:cNvPr id="39" name="Shape 37"/>
          <p:cNvSpPr/>
          <p:nvPr/>
        </p:nvSpPr>
        <p:spPr>
          <a:xfrm>
            <a:off x="548640" y="4828032"/>
            <a:ext cx="11091672" cy="530352"/>
          </a:xfrm>
          <a:prstGeom prst="roundRect">
            <a:avLst>
              <a:gd name="adj" fmla="val 10345"/>
            </a:avLst>
          </a:prstGeom>
          <a:solidFill>
            <a:srgbClr val="FFFFFF"/>
          </a:solidFill>
          <a:ln w="12700">
            <a:solidFill>
              <a:srgbClr val="D5DFCB"/>
            </a:solidFill>
            <a:prstDash val="solid"/>
          </a:ln>
        </p:spPr>
      </p:sp>
      <p:sp>
        <p:nvSpPr>
          <p:cNvPr id="40" name="Text 38"/>
          <p:cNvSpPr txBox="1"/>
          <p:nvPr/>
        </p:nvSpPr>
        <p:spPr>
          <a:xfrm>
            <a:off x="685800" y="4828032"/>
            <a:ext cx="155448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FlyHash / FlyNN</a:t>
            </a:r>
            <a:endParaRPr lang="en-US" sz="1400" dirty="0"/>
          </a:p>
        </p:txBody>
      </p:sp>
      <p:sp>
        <p:nvSpPr>
          <p:cNvPr id="41" name="Text 39"/>
          <p:cNvSpPr txBox="1"/>
          <p:nvPr/>
        </p:nvSpPr>
        <p:spPr>
          <a:xfrm>
            <a:off x="2468880" y="4828032"/>
            <a:ext cx="205740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กับชุดข้อมูล ยังไม่ใช่เซนเซอร์กลิ่น</a:t>
            </a:r>
            <a:endParaRPr lang="en-US" sz="1400" dirty="0"/>
          </a:p>
        </p:txBody>
      </p:sp>
      <p:sp>
        <p:nvSpPr>
          <p:cNvPr id="42" name="Text 40"/>
          <p:cNvSpPr txBox="1"/>
          <p:nvPr/>
        </p:nvSpPr>
        <p:spPr>
          <a:xfrm>
            <a:off x="4754880" y="4828032"/>
            <a:ext cx="246888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ค้นหาความคล้ายได้ดี ใช้ทรัพยากรน้อย</a:t>
            </a:r>
            <a:endParaRPr lang="en-US" sz="1400" dirty="0"/>
          </a:p>
        </p:txBody>
      </p:sp>
      <p:sp>
        <p:nvSpPr>
          <p:cNvPr id="43" name="Text 41"/>
          <p:cNvSpPr txBox="1"/>
          <p:nvPr/>
        </p:nvSpPr>
        <p:spPr>
          <a:xfrm>
            <a:off x="7452360" y="4828032"/>
            <a:ext cx="196596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ยังไม่มีใครใช้กับผลไม้</a:t>
            </a:r>
            <a:endParaRPr lang="en-US" sz="1400" dirty="0"/>
          </a:p>
        </p:txBody>
      </p:sp>
      <p:sp>
        <p:nvSpPr>
          <p:cNvPr id="44" name="Text 42"/>
          <p:cNvSpPr txBox="1"/>
          <p:nvPr/>
        </p:nvSpPr>
        <p:spPr>
          <a:xfrm>
            <a:off x="9646920" y="4828032"/>
            <a:ext cx="190195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นำมาใช้กับกลิ่นจริงเป็นครั้งแรก</a:t>
            </a:r>
            <a:endParaRPr lang="en-US" sz="1400" dirty="0"/>
          </a:p>
        </p:txBody>
      </p:sp>
      <p:sp>
        <p:nvSpPr>
          <p:cNvPr id="45" name="Text 43"/>
          <p:cNvSpPr txBox="1"/>
          <p:nvPr/>
        </p:nvSpPr>
        <p:spPr>
          <a:xfrm>
            <a:off x="548640" y="5486400"/>
            <a:ext cx="11091672" cy="457200"/>
          </a:xfrm>
          <a:prstGeom prst="rect">
            <a:avLst/>
          </a:prstGeom>
          <a:noFill/>
          <a:ln/>
        </p:spPr>
        <p:txBody>
          <a:bodyPr wrap="square" lIns="0" tIns="0" rIns="0" bIns="0" rtlCol="0" anchor="t"/>
          <a:lstStyle/>
          <a:p>
            <a:pPr algn="l" indent="0" marL="0">
              <a:buNone/>
            </a:pPr>
            <a:r>
              <a:rPr lang="en-US" sz="1400" b="1" dirty="0">
                <a:solidFill>
                  <a:srgbClr val="17301F"/>
                </a:solidFill>
                <a:latin typeface="Tahoma" pitchFamily="34" charset="0"/>
                <a:ea typeface="Tahoma" pitchFamily="34" charset="-122"/>
                <a:cs typeface="Tahoma" pitchFamily="34" charset="-120"/>
              </a:rPr>
              <a:t>แก้ได้จริงไหม: การสุก การเน่า และแมลง มีงานยืนยันกับผลไม้จริงแล้ว ส่วนการจับทุเรียนอ่อนด้วยกลิ่นยังไม่มีหลักฐาน · ค้นแล้วไม่พบงาน e-nose แยกทุเรียนเน่า vs ปกติพร้อม accuracy</a:t>
            </a:r>
            <a:endParaRPr lang="en-US" sz="1400" dirty="0"/>
          </a:p>
        </p:txBody>
      </p:sp>
      <p:sp>
        <p:nvSpPr>
          <p:cNvPr id="46" name="Text 44"/>
          <p:cNvSpPr txBox="1"/>
          <p:nvPr/>
        </p:nvSpPr>
        <p:spPr>
          <a:xfrm>
            <a:off x="548640" y="5989320"/>
            <a:ext cx="11091672" cy="45720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 61% = จำแนกถูก 92/150 และ 91/150 (คำนวณเอง เปเปอร์ไม่ได้รายงานค่ารวม; LDA ตัวอย่างน้อย ไม่ใช่การเน่า) · Chiu 2025 ใช้ Grove GM series กับ ESP32 คัดจาก 13 รุ่นที่รวม MQ แล้วเลือก GM · ที่มา: ISHS (2010), PMC/PeerJ (2025), MFU, ScienceDirect (2022), ISHS (NIR), Science (2017), FlyNN</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อุปกรณ์ต้นแบบ (ชุด A) และหนึ่งรอบดม</a:t>
            </a:r>
            <a:endParaRPr lang="en-US" sz="3000" dirty="0"/>
          </a:p>
        </p:txBody>
      </p:sp>
      <p:sp>
        <p:nvSpPr>
          <p:cNvPr id="3" name="Shape 1"/>
          <p:cNvSpPr/>
          <p:nvPr/>
        </p:nvSpPr>
        <p:spPr>
          <a:xfrm>
            <a:off x="548640" y="1325880"/>
            <a:ext cx="1920240" cy="868680"/>
          </a:xfrm>
          <a:prstGeom prst="roundRect">
            <a:avLst>
              <a:gd name="adj" fmla="val 14737"/>
            </a:avLst>
          </a:prstGeom>
          <a:solidFill>
            <a:srgbClr val="EDF2E8"/>
          </a:solidFill>
          <a:ln/>
        </p:spPr>
      </p:sp>
      <p:sp>
        <p:nvSpPr>
          <p:cNvPr id="4" name="Text 2"/>
          <p:cNvSpPr txBox="1"/>
          <p:nvPr/>
        </p:nvSpPr>
        <p:spPr>
          <a:xfrm>
            <a:off x="621792" y="1325880"/>
            <a:ext cx="1773936" cy="868680"/>
          </a:xfrm>
          <a:prstGeom prst="rect">
            <a:avLst/>
          </a:prstGeom>
          <a:noFill/>
          <a:ln/>
        </p:spPr>
        <p:txBody>
          <a:bodyPr wrap="square" lIns="0" tIns="0" rIns="0" bIns="0" rtlCol="0" anchor="ctr"/>
          <a:lstStyle/>
          <a:p>
            <a:pPr algn="ctr" indent="0" marL="0">
              <a:buNone/>
            </a:pPr>
            <a:r>
              <a:rPr lang="en-US" sz="1500" b="1" dirty="0">
                <a:solidFill>
                  <a:srgbClr val="17301F"/>
                </a:solidFill>
                <a:latin typeface="Tahoma" pitchFamily="34" charset="0"/>
                <a:ea typeface="Tahoma" pitchFamily="34" charset="-122"/>
                <a:cs typeface="Tahoma" pitchFamily="34" charset="-120"/>
              </a:rPr>
              <a:t>อากาศเข้า</a:t>
            </a:r>
            <a:endParaRPr lang="en-US" sz="1500" dirty="0"/>
          </a:p>
          <a:p>
            <a:pPr algn="ctr" indent="0" marL="0">
              <a:buNone/>
            </a:pPr>
            <a:r>
              <a:rPr lang="en-US" sz="1200" dirty="0">
                <a:solidFill>
                  <a:srgbClr val="56665B"/>
                </a:solidFill>
                <a:latin typeface="Tahoma" pitchFamily="34" charset="0"/>
                <a:ea typeface="Tahoma" pitchFamily="34" charset="-122"/>
                <a:cs typeface="Tahoma" pitchFamily="34" charset="-120"/>
              </a:rPr>
              <a:t>ไส้กรองคาร์บอน</a:t>
            </a:r>
            <a:endParaRPr lang="en-US" sz="1500" dirty="0"/>
          </a:p>
        </p:txBody>
      </p:sp>
      <p:sp>
        <p:nvSpPr>
          <p:cNvPr id="5" name="Text 3"/>
          <p:cNvSpPr txBox="1"/>
          <p:nvPr/>
        </p:nvSpPr>
        <p:spPr>
          <a:xfrm>
            <a:off x="2487168" y="1572768"/>
            <a:ext cx="274320" cy="365760"/>
          </a:xfrm>
          <a:prstGeom prst="rect">
            <a:avLst/>
          </a:prstGeom>
          <a:noFill/>
          <a:ln/>
        </p:spPr>
        <p:txBody>
          <a:bodyPr wrap="square" lIns="0" tIns="0" rIns="0" bIns="0" rtlCol="0" anchor="t"/>
          <a:lstStyle/>
          <a:p>
            <a:pPr algn="ctr" indent="0" marL="0">
              <a:buNone/>
            </a:pPr>
            <a:r>
              <a:rPr lang="en-US" sz="2000" b="1" dirty="0">
                <a:solidFill>
                  <a:srgbClr val="2E6B3E"/>
                </a:solidFill>
                <a:latin typeface="Tahoma" pitchFamily="34" charset="0"/>
                <a:ea typeface="Tahoma" pitchFamily="34" charset="-122"/>
                <a:cs typeface="Tahoma" pitchFamily="34" charset="-120"/>
              </a:rPr>
              <a:t>→</a:t>
            </a:r>
            <a:endParaRPr lang="en-US" sz="2000" dirty="0"/>
          </a:p>
        </p:txBody>
      </p:sp>
      <p:sp>
        <p:nvSpPr>
          <p:cNvPr id="6" name="Shape 4"/>
          <p:cNvSpPr/>
          <p:nvPr/>
        </p:nvSpPr>
        <p:spPr>
          <a:xfrm>
            <a:off x="2761488" y="1325880"/>
            <a:ext cx="1920240" cy="868680"/>
          </a:xfrm>
          <a:prstGeom prst="roundRect">
            <a:avLst>
              <a:gd name="adj" fmla="val 14737"/>
            </a:avLst>
          </a:prstGeom>
          <a:solidFill>
            <a:srgbClr val="EDF2E8"/>
          </a:solidFill>
          <a:ln/>
        </p:spPr>
      </p:sp>
      <p:sp>
        <p:nvSpPr>
          <p:cNvPr id="7" name="Text 5"/>
          <p:cNvSpPr txBox="1"/>
          <p:nvPr/>
        </p:nvSpPr>
        <p:spPr>
          <a:xfrm>
            <a:off x="2834640" y="1325880"/>
            <a:ext cx="1773936" cy="868680"/>
          </a:xfrm>
          <a:prstGeom prst="rect">
            <a:avLst/>
          </a:prstGeom>
          <a:noFill/>
          <a:ln/>
        </p:spPr>
        <p:txBody>
          <a:bodyPr wrap="square" lIns="0" tIns="0" rIns="0" bIns="0" rtlCol="0" anchor="ctr"/>
          <a:lstStyle/>
          <a:p>
            <a:pPr algn="ctr" indent="0" marL="0">
              <a:buNone/>
            </a:pPr>
            <a:r>
              <a:rPr lang="en-US" sz="1500" b="1" dirty="0">
                <a:solidFill>
                  <a:srgbClr val="17301F"/>
                </a:solidFill>
                <a:latin typeface="Tahoma" pitchFamily="34" charset="0"/>
                <a:ea typeface="Tahoma" pitchFamily="34" charset="-122"/>
                <a:cs typeface="Tahoma" pitchFamily="34" charset="-120"/>
              </a:rPr>
              <a:t>วาล์ว 3 ทาง</a:t>
            </a:r>
            <a:endParaRPr lang="en-US" sz="1500" dirty="0"/>
          </a:p>
          <a:p>
            <a:pPr algn="ctr" indent="0" marL="0">
              <a:buNone/>
            </a:pPr>
            <a:r>
              <a:rPr lang="en-US" sz="1200" dirty="0">
                <a:solidFill>
                  <a:srgbClr val="56665B"/>
                </a:solidFill>
                <a:latin typeface="Tahoma" pitchFamily="34" charset="0"/>
                <a:ea typeface="Tahoma" pitchFamily="34" charset="-122"/>
                <a:cs typeface="Tahoma" pitchFamily="34" charset="-120"/>
              </a:rPr>
              <a:t>สลับดม/ล้าง</a:t>
            </a:r>
            <a:endParaRPr lang="en-US" sz="1500" dirty="0"/>
          </a:p>
        </p:txBody>
      </p:sp>
      <p:sp>
        <p:nvSpPr>
          <p:cNvPr id="8" name="Text 6"/>
          <p:cNvSpPr txBox="1"/>
          <p:nvPr/>
        </p:nvSpPr>
        <p:spPr>
          <a:xfrm>
            <a:off x="4700016" y="1572768"/>
            <a:ext cx="274320" cy="365760"/>
          </a:xfrm>
          <a:prstGeom prst="rect">
            <a:avLst/>
          </a:prstGeom>
          <a:noFill/>
          <a:ln/>
        </p:spPr>
        <p:txBody>
          <a:bodyPr wrap="square" lIns="0" tIns="0" rIns="0" bIns="0" rtlCol="0" anchor="t"/>
          <a:lstStyle/>
          <a:p>
            <a:pPr algn="ctr" indent="0" marL="0">
              <a:buNone/>
            </a:pPr>
            <a:r>
              <a:rPr lang="en-US" sz="2000" b="1" dirty="0">
                <a:solidFill>
                  <a:srgbClr val="2E6B3E"/>
                </a:solidFill>
                <a:latin typeface="Tahoma" pitchFamily="34" charset="0"/>
                <a:ea typeface="Tahoma" pitchFamily="34" charset="-122"/>
                <a:cs typeface="Tahoma" pitchFamily="34" charset="-120"/>
              </a:rPr>
              <a:t>→</a:t>
            </a:r>
            <a:endParaRPr lang="en-US" sz="2000" dirty="0"/>
          </a:p>
        </p:txBody>
      </p:sp>
      <p:sp>
        <p:nvSpPr>
          <p:cNvPr id="9" name="Shape 7"/>
          <p:cNvSpPr/>
          <p:nvPr/>
        </p:nvSpPr>
        <p:spPr>
          <a:xfrm>
            <a:off x="4974336" y="1325880"/>
            <a:ext cx="2194560" cy="868680"/>
          </a:xfrm>
          <a:prstGeom prst="roundRect">
            <a:avLst>
              <a:gd name="adj" fmla="val 14737"/>
            </a:avLst>
          </a:prstGeom>
          <a:solidFill>
            <a:srgbClr val="EFE9FB"/>
          </a:solidFill>
          <a:ln/>
        </p:spPr>
      </p:sp>
      <p:sp>
        <p:nvSpPr>
          <p:cNvPr id="10" name="Text 8"/>
          <p:cNvSpPr txBox="1"/>
          <p:nvPr/>
        </p:nvSpPr>
        <p:spPr>
          <a:xfrm>
            <a:off x="5047488" y="1325880"/>
            <a:ext cx="2048256" cy="868680"/>
          </a:xfrm>
          <a:prstGeom prst="rect">
            <a:avLst/>
          </a:prstGeom>
          <a:noFill/>
          <a:ln/>
        </p:spPr>
        <p:txBody>
          <a:bodyPr wrap="square" lIns="0" tIns="0" rIns="0" bIns="0" rtlCol="0" anchor="ctr"/>
          <a:lstStyle/>
          <a:p>
            <a:pPr algn="ctr" indent="0" marL="0">
              <a:buNone/>
            </a:pPr>
            <a:r>
              <a:rPr lang="en-US" sz="1500" b="1" dirty="0">
                <a:solidFill>
                  <a:srgbClr val="6E4FB8"/>
                </a:solidFill>
                <a:latin typeface="Tahoma" pitchFamily="34" charset="0"/>
                <a:ea typeface="Tahoma" pitchFamily="34" charset="-122"/>
                <a:cs typeface="Tahoma" pitchFamily="34" charset="-120"/>
              </a:rPr>
              <a:t>ห้องเซนเซอร์</a:t>
            </a:r>
            <a:endParaRPr lang="en-US" sz="1500" dirty="0"/>
          </a:p>
          <a:p>
            <a:pPr algn="ctr" indent="0" marL="0">
              <a:buNone/>
            </a:pPr>
            <a:r>
              <a:rPr lang="en-US" sz="1200" dirty="0">
                <a:solidFill>
                  <a:srgbClr val="56665B"/>
                </a:solidFill>
                <a:latin typeface="Tahoma" pitchFamily="34" charset="0"/>
                <a:ea typeface="Tahoma" pitchFamily="34" charset="-122"/>
                <a:cs typeface="Tahoma" pitchFamily="34" charset="-120"/>
              </a:rPr>
              <a:t>BME688 + Figaro</a:t>
            </a:r>
            <a:endParaRPr lang="en-US" sz="1500" dirty="0"/>
          </a:p>
        </p:txBody>
      </p:sp>
      <p:sp>
        <p:nvSpPr>
          <p:cNvPr id="11" name="Text 9"/>
          <p:cNvSpPr txBox="1"/>
          <p:nvPr/>
        </p:nvSpPr>
        <p:spPr>
          <a:xfrm>
            <a:off x="7187184" y="1572768"/>
            <a:ext cx="274320" cy="365760"/>
          </a:xfrm>
          <a:prstGeom prst="rect">
            <a:avLst/>
          </a:prstGeom>
          <a:noFill/>
          <a:ln/>
        </p:spPr>
        <p:txBody>
          <a:bodyPr wrap="square" lIns="0" tIns="0" rIns="0" bIns="0" rtlCol="0" anchor="t"/>
          <a:lstStyle/>
          <a:p>
            <a:pPr algn="ctr" indent="0" marL="0">
              <a:buNone/>
            </a:pPr>
            <a:r>
              <a:rPr lang="en-US" sz="2000" b="1" dirty="0">
                <a:solidFill>
                  <a:srgbClr val="2E6B3E"/>
                </a:solidFill>
                <a:latin typeface="Tahoma" pitchFamily="34" charset="0"/>
                <a:ea typeface="Tahoma" pitchFamily="34" charset="-122"/>
                <a:cs typeface="Tahoma" pitchFamily="34" charset="-120"/>
              </a:rPr>
              <a:t>→</a:t>
            </a:r>
            <a:endParaRPr lang="en-US" sz="2000" dirty="0"/>
          </a:p>
        </p:txBody>
      </p:sp>
      <p:sp>
        <p:nvSpPr>
          <p:cNvPr id="12" name="Shape 10"/>
          <p:cNvSpPr/>
          <p:nvPr/>
        </p:nvSpPr>
        <p:spPr>
          <a:xfrm>
            <a:off x="7461504" y="1325880"/>
            <a:ext cx="1920240" cy="868680"/>
          </a:xfrm>
          <a:prstGeom prst="roundRect">
            <a:avLst>
              <a:gd name="adj" fmla="val 14737"/>
            </a:avLst>
          </a:prstGeom>
          <a:solidFill>
            <a:srgbClr val="EDF2E8"/>
          </a:solidFill>
          <a:ln/>
        </p:spPr>
      </p:sp>
      <p:sp>
        <p:nvSpPr>
          <p:cNvPr id="13" name="Text 11"/>
          <p:cNvSpPr txBox="1"/>
          <p:nvPr/>
        </p:nvSpPr>
        <p:spPr>
          <a:xfrm>
            <a:off x="7534656" y="1325880"/>
            <a:ext cx="1773936" cy="868680"/>
          </a:xfrm>
          <a:prstGeom prst="rect">
            <a:avLst/>
          </a:prstGeom>
          <a:noFill/>
          <a:ln/>
        </p:spPr>
        <p:txBody>
          <a:bodyPr wrap="square" lIns="0" tIns="0" rIns="0" bIns="0" rtlCol="0" anchor="ctr"/>
          <a:lstStyle/>
          <a:p>
            <a:pPr algn="ctr" indent="0" marL="0">
              <a:buNone/>
            </a:pPr>
            <a:r>
              <a:rPr lang="en-US" sz="1500" b="1" dirty="0">
                <a:solidFill>
                  <a:srgbClr val="17301F"/>
                </a:solidFill>
                <a:latin typeface="Tahoma" pitchFamily="34" charset="0"/>
                <a:ea typeface="Tahoma" pitchFamily="34" charset="-122"/>
                <a:cs typeface="Tahoma" pitchFamily="34" charset="-120"/>
              </a:rPr>
              <a:t>ปั๊มลม 5V</a:t>
            </a:r>
            <a:endParaRPr lang="en-US" sz="1500" dirty="0"/>
          </a:p>
          <a:p>
            <a:pPr algn="ctr" indent="0" marL="0">
              <a:buNone/>
            </a:pPr>
            <a:r>
              <a:rPr lang="en-US" sz="1200" dirty="0">
                <a:solidFill>
                  <a:srgbClr val="56665B"/>
                </a:solidFill>
                <a:latin typeface="Tahoma" pitchFamily="34" charset="0"/>
                <a:ea typeface="Tahoma" pitchFamily="34" charset="-122"/>
                <a:cs typeface="Tahoma" pitchFamily="34" charset="-120"/>
              </a:rPr>
              <a:t>ดูดอากาศ</a:t>
            </a:r>
            <a:endParaRPr lang="en-US" sz="1500" dirty="0"/>
          </a:p>
        </p:txBody>
      </p:sp>
      <p:sp>
        <p:nvSpPr>
          <p:cNvPr id="14" name="Text 12"/>
          <p:cNvSpPr txBox="1"/>
          <p:nvPr/>
        </p:nvSpPr>
        <p:spPr>
          <a:xfrm>
            <a:off x="9400032" y="1572768"/>
            <a:ext cx="274320" cy="365760"/>
          </a:xfrm>
          <a:prstGeom prst="rect">
            <a:avLst/>
          </a:prstGeom>
          <a:noFill/>
          <a:ln/>
        </p:spPr>
        <p:txBody>
          <a:bodyPr wrap="square" lIns="0" tIns="0" rIns="0" bIns="0" rtlCol="0" anchor="t"/>
          <a:lstStyle/>
          <a:p>
            <a:pPr algn="ctr" indent="0" marL="0">
              <a:buNone/>
            </a:pPr>
            <a:r>
              <a:rPr lang="en-US" sz="2000" b="1" dirty="0">
                <a:solidFill>
                  <a:srgbClr val="2E6B3E"/>
                </a:solidFill>
                <a:latin typeface="Tahoma" pitchFamily="34" charset="0"/>
                <a:ea typeface="Tahoma" pitchFamily="34" charset="-122"/>
                <a:cs typeface="Tahoma" pitchFamily="34" charset="-120"/>
              </a:rPr>
              <a:t>→</a:t>
            </a:r>
            <a:endParaRPr lang="en-US" sz="2000" dirty="0"/>
          </a:p>
        </p:txBody>
      </p:sp>
      <p:sp>
        <p:nvSpPr>
          <p:cNvPr id="15" name="Shape 13"/>
          <p:cNvSpPr/>
          <p:nvPr/>
        </p:nvSpPr>
        <p:spPr>
          <a:xfrm>
            <a:off x="9674352" y="1325880"/>
            <a:ext cx="1965960" cy="868680"/>
          </a:xfrm>
          <a:prstGeom prst="roundRect">
            <a:avLst>
              <a:gd name="adj" fmla="val 14737"/>
            </a:avLst>
          </a:prstGeom>
          <a:solidFill>
            <a:srgbClr val="EDF2E8"/>
          </a:solidFill>
          <a:ln/>
        </p:spPr>
      </p:sp>
      <p:sp>
        <p:nvSpPr>
          <p:cNvPr id="16" name="Text 14"/>
          <p:cNvSpPr txBox="1"/>
          <p:nvPr/>
        </p:nvSpPr>
        <p:spPr>
          <a:xfrm>
            <a:off x="9747504" y="1325880"/>
            <a:ext cx="1819656" cy="868680"/>
          </a:xfrm>
          <a:prstGeom prst="rect">
            <a:avLst/>
          </a:prstGeom>
          <a:noFill/>
          <a:ln/>
        </p:spPr>
        <p:txBody>
          <a:bodyPr wrap="square" lIns="0" tIns="0" rIns="0" bIns="0" rtlCol="0" anchor="ctr"/>
          <a:lstStyle/>
          <a:p>
            <a:pPr algn="ctr" indent="0" marL="0">
              <a:buNone/>
            </a:pPr>
            <a:r>
              <a:rPr lang="en-US" sz="1500" b="1" dirty="0">
                <a:solidFill>
                  <a:srgbClr val="17301F"/>
                </a:solidFill>
                <a:latin typeface="Tahoma" pitchFamily="34" charset="0"/>
                <a:ea typeface="Tahoma" pitchFamily="34" charset="-122"/>
                <a:cs typeface="Tahoma" pitchFamily="34" charset="-120"/>
              </a:rPr>
              <a:t>ทางออก</a:t>
            </a:r>
            <a:endParaRPr lang="en-US" sz="1500" dirty="0"/>
          </a:p>
        </p:txBody>
      </p:sp>
      <p:sp>
        <p:nvSpPr>
          <p:cNvPr id="17" name="Shape 15"/>
          <p:cNvSpPr/>
          <p:nvPr/>
        </p:nvSpPr>
        <p:spPr>
          <a:xfrm>
            <a:off x="2761488" y="2514600"/>
            <a:ext cx="1920240" cy="868680"/>
          </a:xfrm>
          <a:prstGeom prst="roundRect">
            <a:avLst>
              <a:gd name="adj" fmla="val 14737"/>
            </a:avLst>
          </a:prstGeom>
          <a:solidFill>
            <a:srgbClr val="FFF3D4"/>
          </a:solidFill>
          <a:ln/>
        </p:spPr>
      </p:sp>
      <p:sp>
        <p:nvSpPr>
          <p:cNvPr id="18" name="Text 16"/>
          <p:cNvSpPr txBox="1"/>
          <p:nvPr/>
        </p:nvSpPr>
        <p:spPr>
          <a:xfrm>
            <a:off x="2834640" y="2514600"/>
            <a:ext cx="1773936" cy="868680"/>
          </a:xfrm>
          <a:prstGeom prst="rect">
            <a:avLst/>
          </a:prstGeom>
          <a:noFill/>
          <a:ln/>
        </p:spPr>
        <p:txBody>
          <a:bodyPr wrap="square" lIns="0" tIns="0" rIns="0" bIns="0" rtlCol="0" anchor="ctr"/>
          <a:lstStyle/>
          <a:p>
            <a:pPr algn="ctr" indent="0" marL="0">
              <a:buNone/>
            </a:pPr>
            <a:r>
              <a:rPr lang="en-US" sz="1500" b="1" dirty="0">
                <a:solidFill>
                  <a:srgbClr val="7A4F00"/>
                </a:solidFill>
                <a:latin typeface="Tahoma" pitchFamily="34" charset="0"/>
                <a:ea typeface="Tahoma" pitchFamily="34" charset="-122"/>
                <a:cs typeface="Tahoma" pitchFamily="34" charset="-120"/>
              </a:rPr>
              <a:t>ห้องดม</a:t>
            </a:r>
            <a:endParaRPr lang="en-US" sz="1500" dirty="0"/>
          </a:p>
          <a:p>
            <a:pPr algn="ctr" indent="0" marL="0">
              <a:buNone/>
            </a:pPr>
            <a:r>
              <a:rPr lang="en-US" sz="1200" dirty="0">
                <a:solidFill>
                  <a:srgbClr val="56665B"/>
                </a:solidFill>
                <a:latin typeface="Tahoma" pitchFamily="34" charset="0"/>
                <a:ea typeface="Tahoma" pitchFamily="34" charset="-122"/>
                <a:cs typeface="Tahoma" pitchFamily="34" charset="-120"/>
              </a:rPr>
              <a:t>โหลแก้ว/หม้อสแตนเลส</a:t>
            </a:r>
            <a:endParaRPr lang="en-US" sz="1500" dirty="0"/>
          </a:p>
        </p:txBody>
      </p:sp>
      <p:sp>
        <p:nvSpPr>
          <p:cNvPr id="19" name="Text 17"/>
          <p:cNvSpPr txBox="1"/>
          <p:nvPr/>
        </p:nvSpPr>
        <p:spPr>
          <a:xfrm>
            <a:off x="3611880" y="2176272"/>
            <a:ext cx="274320" cy="365760"/>
          </a:xfrm>
          <a:prstGeom prst="rect">
            <a:avLst/>
          </a:prstGeom>
          <a:noFill/>
          <a:ln/>
        </p:spPr>
        <p:txBody>
          <a:bodyPr wrap="square" lIns="0" tIns="0" rIns="0" bIns="0" rtlCol="0" anchor="t"/>
          <a:lstStyle/>
          <a:p>
            <a:pPr algn="ctr" indent="0" marL="0">
              <a:buNone/>
            </a:pPr>
            <a:r>
              <a:rPr lang="en-US" sz="1800" b="1" dirty="0">
                <a:solidFill>
                  <a:srgbClr val="2E6B3E"/>
                </a:solidFill>
                <a:latin typeface="Tahoma" pitchFamily="34" charset="0"/>
                <a:ea typeface="Tahoma" pitchFamily="34" charset="-122"/>
                <a:cs typeface="Tahoma" pitchFamily="34" charset="-120"/>
              </a:rPr>
              <a:t>↑</a:t>
            </a:r>
            <a:endParaRPr lang="en-US" sz="1800" dirty="0"/>
          </a:p>
        </p:txBody>
      </p:sp>
      <p:sp>
        <p:nvSpPr>
          <p:cNvPr id="20" name="Shape 18"/>
          <p:cNvSpPr/>
          <p:nvPr/>
        </p:nvSpPr>
        <p:spPr>
          <a:xfrm>
            <a:off x="4974336" y="2514600"/>
            <a:ext cx="2194560" cy="868680"/>
          </a:xfrm>
          <a:prstGeom prst="roundRect">
            <a:avLst>
              <a:gd name="adj" fmla="val 14737"/>
            </a:avLst>
          </a:prstGeom>
          <a:solidFill>
            <a:srgbClr val="DDF0E3"/>
          </a:solidFill>
          <a:ln/>
        </p:spPr>
      </p:sp>
      <p:sp>
        <p:nvSpPr>
          <p:cNvPr id="21" name="Text 19"/>
          <p:cNvSpPr txBox="1"/>
          <p:nvPr/>
        </p:nvSpPr>
        <p:spPr>
          <a:xfrm>
            <a:off x="5047488" y="2514600"/>
            <a:ext cx="2048256" cy="868680"/>
          </a:xfrm>
          <a:prstGeom prst="rect">
            <a:avLst/>
          </a:prstGeom>
          <a:noFill/>
          <a:ln/>
        </p:spPr>
        <p:txBody>
          <a:bodyPr wrap="square" lIns="0" tIns="0" rIns="0" bIns="0" rtlCol="0" anchor="ctr"/>
          <a:lstStyle/>
          <a:p>
            <a:pPr algn="ctr" indent="0" marL="0">
              <a:buNone/>
            </a:pPr>
            <a:r>
              <a:rPr lang="en-US" sz="1500" b="1" dirty="0">
                <a:solidFill>
                  <a:srgbClr val="2E7D4F"/>
                </a:solidFill>
                <a:latin typeface="Tahoma" pitchFamily="34" charset="0"/>
                <a:ea typeface="Tahoma" pitchFamily="34" charset="-122"/>
                <a:cs typeface="Tahoma" pitchFamily="34" charset="-120"/>
              </a:rPr>
              <a:t>ESP32-S3 + ADS1115</a:t>
            </a:r>
            <a:endParaRPr lang="en-US" sz="1500" dirty="0"/>
          </a:p>
          <a:p>
            <a:pPr algn="ctr" indent="0" marL="0">
              <a:buNone/>
            </a:pPr>
            <a:r>
              <a:rPr lang="en-US" sz="1200" dirty="0">
                <a:solidFill>
                  <a:srgbClr val="56665B"/>
                </a:solidFill>
                <a:latin typeface="Tahoma" pitchFamily="34" charset="0"/>
                <a:ea typeface="Tahoma" pitchFamily="34" charset="-122"/>
                <a:cs typeface="Tahoma" pitchFamily="34" charset="-120"/>
              </a:rPr>
              <a:t>อ่านค่า + FlyHash</a:t>
            </a:r>
            <a:endParaRPr lang="en-US" sz="1500" dirty="0"/>
          </a:p>
        </p:txBody>
      </p:sp>
      <p:sp>
        <p:nvSpPr>
          <p:cNvPr id="22" name="Text 20"/>
          <p:cNvSpPr txBox="1"/>
          <p:nvPr/>
        </p:nvSpPr>
        <p:spPr>
          <a:xfrm>
            <a:off x="5943600" y="2176272"/>
            <a:ext cx="274320" cy="365760"/>
          </a:xfrm>
          <a:prstGeom prst="rect">
            <a:avLst/>
          </a:prstGeom>
          <a:noFill/>
          <a:ln/>
        </p:spPr>
        <p:txBody>
          <a:bodyPr wrap="square" lIns="0" tIns="0" rIns="0" bIns="0" rtlCol="0" anchor="t"/>
          <a:lstStyle/>
          <a:p>
            <a:pPr algn="ctr" indent="0" marL="0">
              <a:buNone/>
            </a:pPr>
            <a:r>
              <a:rPr lang="en-US" sz="1800" b="1" dirty="0">
                <a:solidFill>
                  <a:srgbClr val="2E6B3E"/>
                </a:solidFill>
                <a:latin typeface="Tahoma" pitchFamily="34" charset="0"/>
                <a:ea typeface="Tahoma" pitchFamily="34" charset="-122"/>
                <a:cs typeface="Tahoma" pitchFamily="34" charset="-120"/>
              </a:rPr>
              <a:t>↓</a:t>
            </a:r>
            <a:endParaRPr lang="en-US" sz="1800" dirty="0"/>
          </a:p>
        </p:txBody>
      </p:sp>
      <p:sp>
        <p:nvSpPr>
          <p:cNvPr id="23" name="Text 21"/>
          <p:cNvSpPr txBox="1"/>
          <p:nvPr/>
        </p:nvSpPr>
        <p:spPr>
          <a:xfrm>
            <a:off x="7187184" y="2761488"/>
            <a:ext cx="274320" cy="365760"/>
          </a:xfrm>
          <a:prstGeom prst="rect">
            <a:avLst/>
          </a:prstGeom>
          <a:noFill/>
          <a:ln/>
        </p:spPr>
        <p:txBody>
          <a:bodyPr wrap="square" lIns="0" tIns="0" rIns="0" bIns="0" rtlCol="0" anchor="t"/>
          <a:lstStyle/>
          <a:p>
            <a:pPr algn="ctr" indent="0" marL="0">
              <a:buNone/>
            </a:pPr>
            <a:r>
              <a:rPr lang="en-US" sz="2000" b="1" dirty="0">
                <a:solidFill>
                  <a:srgbClr val="2E6B3E"/>
                </a:solidFill>
                <a:latin typeface="Tahoma" pitchFamily="34" charset="0"/>
                <a:ea typeface="Tahoma" pitchFamily="34" charset="-122"/>
                <a:cs typeface="Tahoma" pitchFamily="34" charset="-120"/>
              </a:rPr>
              <a:t>→</a:t>
            </a:r>
            <a:endParaRPr lang="en-US" sz="2000" dirty="0"/>
          </a:p>
        </p:txBody>
      </p:sp>
      <p:sp>
        <p:nvSpPr>
          <p:cNvPr id="24" name="Shape 22"/>
          <p:cNvSpPr/>
          <p:nvPr/>
        </p:nvSpPr>
        <p:spPr>
          <a:xfrm>
            <a:off x="7461504" y="2514600"/>
            <a:ext cx="4178808" cy="868680"/>
          </a:xfrm>
          <a:prstGeom prst="roundRect">
            <a:avLst>
              <a:gd name="adj" fmla="val 14737"/>
            </a:avLst>
          </a:prstGeom>
          <a:solidFill>
            <a:srgbClr val="DDF0E3"/>
          </a:solidFill>
          <a:ln/>
        </p:spPr>
      </p:sp>
      <p:sp>
        <p:nvSpPr>
          <p:cNvPr id="25" name="Text 23"/>
          <p:cNvSpPr txBox="1"/>
          <p:nvPr/>
        </p:nvSpPr>
        <p:spPr>
          <a:xfrm>
            <a:off x="7534656" y="2514600"/>
            <a:ext cx="4032504" cy="868680"/>
          </a:xfrm>
          <a:prstGeom prst="rect">
            <a:avLst/>
          </a:prstGeom>
          <a:noFill/>
          <a:ln/>
        </p:spPr>
        <p:txBody>
          <a:bodyPr wrap="square" lIns="0" tIns="0" rIns="0" bIns="0" rtlCol="0" anchor="ctr"/>
          <a:lstStyle/>
          <a:p>
            <a:pPr algn="ctr" indent="0" marL="0">
              <a:buNone/>
            </a:pPr>
            <a:r>
              <a:rPr lang="en-US" sz="1500" b="1" dirty="0">
                <a:solidFill>
                  <a:srgbClr val="2E7D4F"/>
                </a:solidFill>
                <a:latin typeface="Tahoma" pitchFamily="34" charset="0"/>
                <a:ea typeface="Tahoma" pitchFamily="34" charset="-122"/>
                <a:cs typeface="Tahoma" pitchFamily="34" charset="-120"/>
              </a:rPr>
              <a:t>Wi-Fi / MQTT</a:t>
            </a:r>
            <a:endParaRPr lang="en-US" sz="1500" dirty="0"/>
          </a:p>
          <a:p>
            <a:pPr algn="ctr" indent="0" marL="0">
              <a:buNone/>
            </a:pPr>
            <a:r>
              <a:rPr lang="en-US" sz="1200" dirty="0">
                <a:solidFill>
                  <a:srgbClr val="56665B"/>
                </a:solidFill>
                <a:latin typeface="Tahoma" pitchFamily="34" charset="0"/>
                <a:ea typeface="Tahoma" pitchFamily="34" charset="-122"/>
                <a:cs typeface="Tahoma" pitchFamily="34" charset="-120"/>
              </a:rPr>
              <a:t>แดชบอร์ด + LINE Messaging API</a:t>
            </a:r>
            <a:endParaRPr lang="en-US" sz="1500" dirty="0"/>
          </a:p>
        </p:txBody>
      </p:sp>
      <p:sp>
        <p:nvSpPr>
          <p:cNvPr id="26" name="Text 24"/>
          <p:cNvSpPr txBox="1"/>
          <p:nvPr/>
        </p:nvSpPr>
        <p:spPr>
          <a:xfrm>
            <a:off x="548640" y="2514600"/>
            <a:ext cx="2011680" cy="868680"/>
          </a:xfrm>
          <a:prstGeom prst="rect">
            <a:avLst/>
          </a:prstGeom>
          <a:noFill/>
          <a:ln/>
        </p:spPr>
        <p:txBody>
          <a:bodyPr wrap="square" lIns="0" tIns="0" rIns="0" bIns="0" rtlCol="0" anchor="ctr"/>
          <a:lstStyle/>
          <a:p>
            <a:pPr algn="l" indent="0" marL="0">
              <a:buNone/>
            </a:pPr>
            <a:r>
              <a:rPr lang="en-US" sz="1200" dirty="0">
                <a:solidFill>
                  <a:srgbClr val="56665B"/>
                </a:solidFill>
                <a:latin typeface="Tahoma" pitchFamily="34" charset="0"/>
                <a:ea typeface="Tahoma" pitchFamily="34" charset="-122"/>
                <a:cs typeface="Tahoma" pitchFamily="34" charset="-120"/>
              </a:rPr>
              <a:t>ผังเดิมใช้ ESP32-S3 · ใช้ ESP8266 ที่มีอยู่แทนได้ (ดูสไลด์สำรอง)</a:t>
            </a:r>
            <a:endParaRPr lang="en-US" sz="1200" dirty="0"/>
          </a:p>
        </p:txBody>
      </p:sp>
      <p:sp>
        <p:nvSpPr>
          <p:cNvPr id="27" name="Text 25"/>
          <p:cNvSpPr txBox="1"/>
          <p:nvPr/>
        </p:nvSpPr>
        <p:spPr>
          <a:xfrm>
            <a:off x="548640" y="3611880"/>
            <a:ext cx="5486400" cy="365760"/>
          </a:xfrm>
          <a:prstGeom prst="rect">
            <a:avLst/>
          </a:prstGeom>
          <a:noFill/>
          <a:ln/>
        </p:spPr>
        <p:txBody>
          <a:bodyPr wrap="square" lIns="0" tIns="0" rIns="0" bIns="0" rtlCol="0" anchor="t"/>
          <a:lstStyle/>
          <a:p>
            <a:pPr algn="l" indent="0" marL="0">
              <a:buNone/>
            </a:pPr>
            <a:r>
              <a:rPr lang="en-US" sz="1800" b="1" dirty="0">
                <a:solidFill>
                  <a:srgbClr val="2E6B3E"/>
                </a:solidFill>
                <a:latin typeface="Tahoma" pitchFamily="34" charset="0"/>
                <a:ea typeface="Tahoma" pitchFamily="34" charset="-122"/>
                <a:cs typeface="Tahoma" pitchFamily="34" charset="-120"/>
              </a:rPr>
              <a:t>รอบดมหนึ่งรอบ</a:t>
            </a:r>
            <a:endParaRPr lang="en-US" sz="1800" dirty="0"/>
          </a:p>
        </p:txBody>
      </p:sp>
      <p:sp>
        <p:nvSpPr>
          <p:cNvPr id="28" name="Shape 26"/>
          <p:cNvSpPr/>
          <p:nvPr/>
        </p:nvSpPr>
        <p:spPr>
          <a:xfrm>
            <a:off x="548640" y="4069080"/>
            <a:ext cx="2651760" cy="1097280"/>
          </a:xfrm>
          <a:prstGeom prst="roundRect">
            <a:avLst>
              <a:gd name="adj" fmla="val 15000"/>
            </a:avLst>
          </a:prstGeom>
          <a:solidFill>
            <a:srgbClr val="EDF2E8"/>
          </a:solidFill>
          <a:ln w="12700">
            <a:solidFill>
              <a:srgbClr val="D5DFCB"/>
            </a:solidFill>
            <a:prstDash val="solid"/>
          </a:ln>
        </p:spPr>
      </p:sp>
      <p:sp>
        <p:nvSpPr>
          <p:cNvPr id="29" name="Shape 27"/>
          <p:cNvSpPr/>
          <p:nvPr/>
        </p:nvSpPr>
        <p:spPr>
          <a:xfrm>
            <a:off x="685800" y="4206240"/>
            <a:ext cx="457200" cy="457200"/>
          </a:xfrm>
          <a:prstGeom prst="ellipse">
            <a:avLst/>
          </a:prstGeom>
          <a:solidFill>
            <a:srgbClr val="EFE9FB"/>
          </a:solidFill>
          <a:ln/>
        </p:spPr>
      </p:sp>
      <p:sp>
        <p:nvSpPr>
          <p:cNvPr id="30" name="Text 28"/>
          <p:cNvSpPr txBox="1"/>
          <p:nvPr/>
        </p:nvSpPr>
        <p:spPr>
          <a:xfrm>
            <a:off x="685800" y="4206240"/>
            <a:ext cx="457200" cy="457200"/>
          </a:xfrm>
          <a:prstGeom prst="rect">
            <a:avLst/>
          </a:prstGeom>
          <a:noFill/>
          <a:ln/>
        </p:spPr>
        <p:txBody>
          <a:bodyPr wrap="square" lIns="0" tIns="0" rIns="0" bIns="0" rtlCol="0" anchor="ctr"/>
          <a:lstStyle/>
          <a:p>
            <a:pPr algn="ctr" indent="0" marL="0">
              <a:buNone/>
            </a:pPr>
            <a:r>
              <a:rPr lang="en-US" sz="1600" b="1" dirty="0">
                <a:solidFill>
                  <a:srgbClr val="6E4FB8"/>
                </a:solidFill>
                <a:latin typeface="Tahoma" pitchFamily="34" charset="0"/>
                <a:ea typeface="Tahoma" pitchFamily="34" charset="-122"/>
                <a:cs typeface="Tahoma" pitchFamily="34" charset="-120"/>
              </a:rPr>
              <a:t>1</a:t>
            </a:r>
            <a:endParaRPr lang="en-US" sz="1600" dirty="0"/>
          </a:p>
        </p:txBody>
      </p:sp>
      <p:sp>
        <p:nvSpPr>
          <p:cNvPr id="31" name="Text 29"/>
          <p:cNvSpPr txBox="1"/>
          <p:nvPr/>
        </p:nvSpPr>
        <p:spPr>
          <a:xfrm>
            <a:off x="1280160" y="4114800"/>
            <a:ext cx="1874520" cy="457200"/>
          </a:xfrm>
          <a:prstGeom prst="rect">
            <a:avLst/>
          </a:prstGeom>
          <a:noFill/>
          <a:ln/>
        </p:spPr>
        <p:txBody>
          <a:bodyPr wrap="square" lIns="0" tIns="0" rIns="0" bIns="0" rtlCol="0" anchor="ctr"/>
          <a:lstStyle/>
          <a:p>
            <a:pPr algn="l" indent="0" marL="0">
              <a:buNone/>
            </a:pPr>
            <a:r>
              <a:rPr lang="en-US" sz="1500" b="1" dirty="0">
                <a:solidFill>
                  <a:srgbClr val="17301F"/>
                </a:solidFill>
                <a:latin typeface="Tahoma" pitchFamily="34" charset="0"/>
                <a:ea typeface="Tahoma" pitchFamily="34" charset="-122"/>
                <a:cs typeface="Tahoma" pitchFamily="34" charset="-120"/>
              </a:rPr>
              <a:t>วัดเส้นฐาน</a:t>
            </a:r>
            <a:endParaRPr lang="en-US" sz="1500" dirty="0"/>
          </a:p>
        </p:txBody>
      </p:sp>
      <p:sp>
        <p:nvSpPr>
          <p:cNvPr id="32" name="Text 30"/>
          <p:cNvSpPr txBox="1"/>
          <p:nvPr/>
        </p:nvSpPr>
        <p:spPr>
          <a:xfrm>
            <a:off x="731520" y="4617720"/>
            <a:ext cx="2377440" cy="50292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เป่าอากาศสะอาดจนค่านิ่ง</a:t>
            </a:r>
            <a:endParaRPr lang="en-US" sz="1400" dirty="0"/>
          </a:p>
        </p:txBody>
      </p:sp>
      <p:sp>
        <p:nvSpPr>
          <p:cNvPr id="33" name="Shape 31"/>
          <p:cNvSpPr/>
          <p:nvPr/>
        </p:nvSpPr>
        <p:spPr>
          <a:xfrm>
            <a:off x="3355848" y="4069080"/>
            <a:ext cx="2651760" cy="1097280"/>
          </a:xfrm>
          <a:prstGeom prst="roundRect">
            <a:avLst>
              <a:gd name="adj" fmla="val 15000"/>
            </a:avLst>
          </a:prstGeom>
          <a:solidFill>
            <a:srgbClr val="EDF2E8"/>
          </a:solidFill>
          <a:ln w="12700">
            <a:solidFill>
              <a:srgbClr val="D5DFCB"/>
            </a:solidFill>
            <a:prstDash val="solid"/>
          </a:ln>
        </p:spPr>
      </p:sp>
      <p:sp>
        <p:nvSpPr>
          <p:cNvPr id="34" name="Shape 32"/>
          <p:cNvSpPr/>
          <p:nvPr/>
        </p:nvSpPr>
        <p:spPr>
          <a:xfrm>
            <a:off x="3493008" y="4206240"/>
            <a:ext cx="457200" cy="457200"/>
          </a:xfrm>
          <a:prstGeom prst="ellipse">
            <a:avLst/>
          </a:prstGeom>
          <a:solidFill>
            <a:srgbClr val="EFE9FB"/>
          </a:solidFill>
          <a:ln/>
        </p:spPr>
      </p:sp>
      <p:sp>
        <p:nvSpPr>
          <p:cNvPr id="35" name="Text 33"/>
          <p:cNvSpPr txBox="1"/>
          <p:nvPr/>
        </p:nvSpPr>
        <p:spPr>
          <a:xfrm>
            <a:off x="3493008" y="4206240"/>
            <a:ext cx="457200" cy="457200"/>
          </a:xfrm>
          <a:prstGeom prst="rect">
            <a:avLst/>
          </a:prstGeom>
          <a:noFill/>
          <a:ln/>
        </p:spPr>
        <p:txBody>
          <a:bodyPr wrap="square" lIns="0" tIns="0" rIns="0" bIns="0" rtlCol="0" anchor="ctr"/>
          <a:lstStyle/>
          <a:p>
            <a:pPr algn="ctr" indent="0" marL="0">
              <a:buNone/>
            </a:pPr>
            <a:r>
              <a:rPr lang="en-US" sz="1600" b="1" dirty="0">
                <a:solidFill>
                  <a:srgbClr val="6E4FB8"/>
                </a:solidFill>
                <a:latin typeface="Tahoma" pitchFamily="34" charset="0"/>
                <a:ea typeface="Tahoma" pitchFamily="34" charset="-122"/>
                <a:cs typeface="Tahoma" pitchFamily="34" charset="-120"/>
              </a:rPr>
              <a:t>2</a:t>
            </a:r>
            <a:endParaRPr lang="en-US" sz="1600" dirty="0"/>
          </a:p>
        </p:txBody>
      </p:sp>
      <p:sp>
        <p:nvSpPr>
          <p:cNvPr id="36" name="Text 34"/>
          <p:cNvSpPr txBox="1"/>
          <p:nvPr/>
        </p:nvSpPr>
        <p:spPr>
          <a:xfrm>
            <a:off x="4087368" y="4114800"/>
            <a:ext cx="1874520" cy="457200"/>
          </a:xfrm>
          <a:prstGeom prst="rect">
            <a:avLst/>
          </a:prstGeom>
          <a:noFill/>
          <a:ln/>
        </p:spPr>
        <p:txBody>
          <a:bodyPr wrap="square" lIns="0" tIns="0" rIns="0" bIns="0" rtlCol="0" anchor="ctr"/>
          <a:lstStyle/>
          <a:p>
            <a:pPr algn="l" indent="0" marL="0">
              <a:buNone/>
            </a:pPr>
            <a:r>
              <a:rPr lang="en-US" sz="1500" b="1" dirty="0">
                <a:solidFill>
                  <a:srgbClr val="17301F"/>
                </a:solidFill>
                <a:latin typeface="Tahoma" pitchFamily="34" charset="0"/>
                <a:ea typeface="Tahoma" pitchFamily="34" charset="-122"/>
                <a:cs typeface="Tahoma" pitchFamily="34" charset="-120"/>
              </a:rPr>
              <a:t>ปิดห้องดม 5–10 นาที</a:t>
            </a:r>
            <a:endParaRPr lang="en-US" sz="1500" dirty="0"/>
          </a:p>
        </p:txBody>
      </p:sp>
      <p:sp>
        <p:nvSpPr>
          <p:cNvPr id="37" name="Text 35"/>
          <p:cNvSpPr txBox="1"/>
          <p:nvPr/>
        </p:nvSpPr>
        <p:spPr>
          <a:xfrm>
            <a:off x="3538728" y="4617720"/>
            <a:ext cx="2377440" cy="50292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ให้กลิ่นสะสม</a:t>
            </a:r>
            <a:endParaRPr lang="en-US" sz="1400" dirty="0"/>
          </a:p>
        </p:txBody>
      </p:sp>
      <p:sp>
        <p:nvSpPr>
          <p:cNvPr id="38" name="Shape 36"/>
          <p:cNvSpPr/>
          <p:nvPr/>
        </p:nvSpPr>
        <p:spPr>
          <a:xfrm>
            <a:off x="6163056" y="4069080"/>
            <a:ext cx="2651760" cy="1097280"/>
          </a:xfrm>
          <a:prstGeom prst="roundRect">
            <a:avLst>
              <a:gd name="adj" fmla="val 15000"/>
            </a:avLst>
          </a:prstGeom>
          <a:solidFill>
            <a:srgbClr val="EDF2E8"/>
          </a:solidFill>
          <a:ln w="12700">
            <a:solidFill>
              <a:srgbClr val="D5DFCB"/>
            </a:solidFill>
            <a:prstDash val="solid"/>
          </a:ln>
        </p:spPr>
      </p:sp>
      <p:sp>
        <p:nvSpPr>
          <p:cNvPr id="39" name="Shape 37"/>
          <p:cNvSpPr/>
          <p:nvPr/>
        </p:nvSpPr>
        <p:spPr>
          <a:xfrm>
            <a:off x="6300216" y="4206240"/>
            <a:ext cx="457200" cy="457200"/>
          </a:xfrm>
          <a:prstGeom prst="ellipse">
            <a:avLst/>
          </a:prstGeom>
          <a:solidFill>
            <a:srgbClr val="EFE9FB"/>
          </a:solidFill>
          <a:ln/>
        </p:spPr>
      </p:sp>
      <p:sp>
        <p:nvSpPr>
          <p:cNvPr id="40" name="Text 38"/>
          <p:cNvSpPr txBox="1"/>
          <p:nvPr/>
        </p:nvSpPr>
        <p:spPr>
          <a:xfrm>
            <a:off x="6300216" y="4206240"/>
            <a:ext cx="457200" cy="457200"/>
          </a:xfrm>
          <a:prstGeom prst="rect">
            <a:avLst/>
          </a:prstGeom>
          <a:noFill/>
          <a:ln/>
        </p:spPr>
        <p:txBody>
          <a:bodyPr wrap="square" lIns="0" tIns="0" rIns="0" bIns="0" rtlCol="0" anchor="ctr"/>
          <a:lstStyle/>
          <a:p>
            <a:pPr algn="ctr" indent="0" marL="0">
              <a:buNone/>
            </a:pPr>
            <a:r>
              <a:rPr lang="en-US" sz="1600" b="1" dirty="0">
                <a:solidFill>
                  <a:srgbClr val="6E4FB8"/>
                </a:solidFill>
                <a:latin typeface="Tahoma" pitchFamily="34" charset="0"/>
                <a:ea typeface="Tahoma" pitchFamily="34" charset="-122"/>
                <a:cs typeface="Tahoma" pitchFamily="34" charset="-120"/>
              </a:rPr>
              <a:t>3</a:t>
            </a:r>
            <a:endParaRPr lang="en-US" sz="1600" dirty="0"/>
          </a:p>
        </p:txBody>
      </p:sp>
      <p:sp>
        <p:nvSpPr>
          <p:cNvPr id="41" name="Text 39"/>
          <p:cNvSpPr txBox="1"/>
          <p:nvPr/>
        </p:nvSpPr>
        <p:spPr>
          <a:xfrm>
            <a:off x="6894576" y="4114800"/>
            <a:ext cx="1874520" cy="457200"/>
          </a:xfrm>
          <a:prstGeom prst="rect">
            <a:avLst/>
          </a:prstGeom>
          <a:noFill/>
          <a:ln/>
        </p:spPr>
        <p:txBody>
          <a:bodyPr wrap="square" lIns="0" tIns="0" rIns="0" bIns="0" rtlCol="0" anchor="ctr"/>
          <a:lstStyle/>
          <a:p>
            <a:pPr algn="l" indent="0" marL="0">
              <a:buNone/>
            </a:pPr>
            <a:r>
              <a:rPr lang="en-US" sz="1500" b="1" dirty="0">
                <a:solidFill>
                  <a:srgbClr val="17301F"/>
                </a:solidFill>
                <a:latin typeface="Tahoma" pitchFamily="34" charset="0"/>
                <a:ea typeface="Tahoma" pitchFamily="34" charset="-122"/>
                <a:cs typeface="Tahoma" pitchFamily="34" charset="-120"/>
              </a:rPr>
              <a:t>ดม 60–90 วินาที</a:t>
            </a:r>
            <a:endParaRPr lang="en-US" sz="1500" dirty="0"/>
          </a:p>
        </p:txBody>
      </p:sp>
      <p:sp>
        <p:nvSpPr>
          <p:cNvPr id="42" name="Text 40"/>
          <p:cNvSpPr txBox="1"/>
          <p:nvPr/>
        </p:nvSpPr>
        <p:spPr>
          <a:xfrm>
            <a:off x="6345936" y="4617720"/>
            <a:ext cx="2377440" cy="50292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ปรับอุณหภูมิฮีตเตอร์เป็นขั้น</a:t>
            </a:r>
            <a:endParaRPr lang="en-US" sz="1400" dirty="0"/>
          </a:p>
        </p:txBody>
      </p:sp>
      <p:sp>
        <p:nvSpPr>
          <p:cNvPr id="43" name="Shape 41"/>
          <p:cNvSpPr/>
          <p:nvPr/>
        </p:nvSpPr>
        <p:spPr>
          <a:xfrm>
            <a:off x="8970264" y="4069080"/>
            <a:ext cx="2651760" cy="1097280"/>
          </a:xfrm>
          <a:prstGeom prst="roundRect">
            <a:avLst>
              <a:gd name="adj" fmla="val 15000"/>
            </a:avLst>
          </a:prstGeom>
          <a:solidFill>
            <a:srgbClr val="EDF2E8"/>
          </a:solidFill>
          <a:ln w="12700">
            <a:solidFill>
              <a:srgbClr val="D5DFCB"/>
            </a:solidFill>
            <a:prstDash val="solid"/>
          </a:ln>
        </p:spPr>
      </p:sp>
      <p:sp>
        <p:nvSpPr>
          <p:cNvPr id="44" name="Shape 42"/>
          <p:cNvSpPr/>
          <p:nvPr/>
        </p:nvSpPr>
        <p:spPr>
          <a:xfrm>
            <a:off x="9107424" y="4206240"/>
            <a:ext cx="457200" cy="457200"/>
          </a:xfrm>
          <a:prstGeom prst="ellipse">
            <a:avLst/>
          </a:prstGeom>
          <a:solidFill>
            <a:srgbClr val="EFE9FB"/>
          </a:solidFill>
          <a:ln/>
        </p:spPr>
      </p:sp>
      <p:sp>
        <p:nvSpPr>
          <p:cNvPr id="45" name="Text 43"/>
          <p:cNvSpPr txBox="1"/>
          <p:nvPr/>
        </p:nvSpPr>
        <p:spPr>
          <a:xfrm>
            <a:off x="9107424" y="4206240"/>
            <a:ext cx="457200" cy="457200"/>
          </a:xfrm>
          <a:prstGeom prst="rect">
            <a:avLst/>
          </a:prstGeom>
          <a:noFill/>
          <a:ln/>
        </p:spPr>
        <p:txBody>
          <a:bodyPr wrap="square" lIns="0" tIns="0" rIns="0" bIns="0" rtlCol="0" anchor="ctr"/>
          <a:lstStyle/>
          <a:p>
            <a:pPr algn="ctr" indent="0" marL="0">
              <a:buNone/>
            </a:pPr>
            <a:r>
              <a:rPr lang="en-US" sz="1600" b="1" dirty="0">
                <a:solidFill>
                  <a:srgbClr val="6E4FB8"/>
                </a:solidFill>
                <a:latin typeface="Tahoma" pitchFamily="34" charset="0"/>
                <a:ea typeface="Tahoma" pitchFamily="34" charset="-122"/>
                <a:cs typeface="Tahoma" pitchFamily="34" charset="-120"/>
              </a:rPr>
              <a:t>4</a:t>
            </a:r>
            <a:endParaRPr lang="en-US" sz="1600" dirty="0"/>
          </a:p>
        </p:txBody>
      </p:sp>
      <p:sp>
        <p:nvSpPr>
          <p:cNvPr id="46" name="Text 44"/>
          <p:cNvSpPr txBox="1"/>
          <p:nvPr/>
        </p:nvSpPr>
        <p:spPr>
          <a:xfrm>
            <a:off x="9701784" y="4114800"/>
            <a:ext cx="1874520" cy="457200"/>
          </a:xfrm>
          <a:prstGeom prst="rect">
            <a:avLst/>
          </a:prstGeom>
          <a:noFill/>
          <a:ln/>
        </p:spPr>
        <p:txBody>
          <a:bodyPr wrap="square" lIns="0" tIns="0" rIns="0" bIns="0" rtlCol="0" anchor="ctr"/>
          <a:lstStyle/>
          <a:p>
            <a:pPr algn="l" indent="0" marL="0">
              <a:buNone/>
            </a:pPr>
            <a:r>
              <a:rPr lang="en-US" sz="1500" b="1" dirty="0">
                <a:solidFill>
                  <a:srgbClr val="17301F"/>
                </a:solidFill>
                <a:latin typeface="Tahoma" pitchFamily="34" charset="0"/>
                <a:ea typeface="Tahoma" pitchFamily="34" charset="-122"/>
                <a:cs typeface="Tahoma" pitchFamily="34" charset="-120"/>
              </a:rPr>
              <a:t>ล้าง</a:t>
            </a:r>
            <a:endParaRPr lang="en-US" sz="1500" dirty="0"/>
          </a:p>
        </p:txBody>
      </p:sp>
      <p:sp>
        <p:nvSpPr>
          <p:cNvPr id="47" name="Text 45"/>
          <p:cNvSpPr txBox="1"/>
          <p:nvPr/>
        </p:nvSpPr>
        <p:spPr>
          <a:xfrm>
            <a:off x="9153144" y="4617720"/>
            <a:ext cx="2377440" cy="50292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ค่าต้องกลับเส้นฐานก่อนลูกถัดไป</a:t>
            </a:r>
            <a:endParaRPr lang="en-US" sz="1400" dirty="0"/>
          </a:p>
        </p:txBody>
      </p:sp>
      <p:sp>
        <p:nvSpPr>
          <p:cNvPr id="48" name="Shape 46"/>
          <p:cNvSpPr/>
          <p:nvPr/>
        </p:nvSpPr>
        <p:spPr>
          <a:xfrm>
            <a:off x="548640" y="5349240"/>
            <a:ext cx="11091672" cy="640080"/>
          </a:xfrm>
          <a:prstGeom prst="roundRect">
            <a:avLst>
              <a:gd name="adj" fmla="val 25714"/>
            </a:avLst>
          </a:prstGeom>
          <a:solidFill>
            <a:srgbClr val="17301F"/>
          </a:solidFill>
          <a:ln/>
        </p:spPr>
      </p:sp>
      <p:sp>
        <p:nvSpPr>
          <p:cNvPr id="49" name="Text 47"/>
          <p:cNvSpPr txBox="1"/>
          <p:nvPr/>
        </p:nvSpPr>
        <p:spPr>
          <a:xfrm>
            <a:off x="822960" y="5349240"/>
            <a:ext cx="10561320" cy="640080"/>
          </a:xfrm>
          <a:prstGeom prst="rect">
            <a:avLst/>
          </a:prstGeom>
          <a:noFill/>
          <a:ln/>
        </p:spPr>
        <p:txBody>
          <a:bodyPr wrap="square" lIns="0" tIns="0" rIns="0" bIns="0" rtlCol="0" anchor="ctr"/>
          <a:lstStyle/>
          <a:p>
            <a:pPr algn="l" indent="0" marL="0">
              <a:buNone/>
            </a:pPr>
            <a:r>
              <a:rPr lang="en-US" sz="1400" dirty="0">
                <a:solidFill>
                  <a:srgbClr val="FFFFFF"/>
                </a:solidFill>
                <a:latin typeface="Tahoma" pitchFamily="34" charset="0"/>
                <a:ea typeface="Tahoma" pitchFamily="34" charset="-122"/>
                <a:cs typeface="Tahoma" pitchFamily="34" charset="-120"/>
              </a:rPr>
              <a:t>ค่าเซนเซอร์ → แปลงเป็น 20–40 ค่า → ปรับมาตรฐาน + FlyHash → เทียบความจำ: ยังไม่สุก / สุกพอดี / เริ่มเสีย / ไม่แน่ใจ → MQTT → แดชบอร์ด + LINE</a:t>
            </a:r>
            <a:endParaRPr lang="en-US" sz="1400" dirty="0"/>
          </a:p>
        </p:txBody>
      </p:sp>
      <p:sp>
        <p:nvSpPr>
          <p:cNvPr id="50" name="Text 48"/>
          <p:cNvSpPr txBox="1"/>
          <p:nvPr/>
        </p:nvSpPr>
        <p:spPr>
          <a:xfrm>
            <a:off x="548640" y="6126480"/>
            <a:ext cx="10424160" cy="27432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แจ้งเตือนผ่าน LINE Messaging API เพราะ LINE Notify ปิดบริการแล้ว · ผลตรวจแต่ละลูกป้อนกลับเป็นความจำใหม่ · ขั้นตอนและเวลาเป็นแผนของทีม</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วิธีใช้งาน: ง่ายที่สุดสำหรับคนหน้างาน</a:t>
            </a:r>
            <a:endParaRPr lang="en-US" sz="3000" dirty="0"/>
          </a:p>
        </p:txBody>
      </p:sp>
      <p:sp>
        <p:nvSpPr>
          <p:cNvPr id="3" name="Text 1"/>
          <p:cNvSpPr txBox="1"/>
          <p:nvPr/>
        </p:nvSpPr>
        <p:spPr>
          <a:xfrm>
            <a:off x="548640" y="1325880"/>
            <a:ext cx="5394960" cy="457200"/>
          </a:xfrm>
          <a:prstGeom prst="rect">
            <a:avLst/>
          </a:prstGeom>
          <a:noFill/>
          <a:ln/>
        </p:spPr>
        <p:txBody>
          <a:bodyPr wrap="square" lIns="0" tIns="0" rIns="0" bIns="0" rtlCol="0" anchor="t"/>
          <a:lstStyle/>
          <a:p>
            <a:pPr algn="l" indent="0" marL="0">
              <a:buNone/>
            </a:pPr>
            <a:r>
              <a:rPr lang="en-US" sz="2000" b="1" dirty="0">
                <a:solidFill>
                  <a:srgbClr val="2E6B3E"/>
                </a:solidFill>
                <a:latin typeface="Tahoma" pitchFamily="34" charset="0"/>
                <a:ea typeface="Tahoma" pitchFamily="34" charset="-122"/>
                <a:cs typeface="Tahoma" pitchFamily="34" charset="-120"/>
              </a:rPr>
              <a:t>ที่ลานคัด (ด่านดม)</a:t>
            </a:r>
            <a:endParaRPr lang="en-US" sz="2000" dirty="0"/>
          </a:p>
        </p:txBody>
      </p:sp>
      <p:sp>
        <p:nvSpPr>
          <p:cNvPr id="4" name="Shape 2"/>
          <p:cNvSpPr/>
          <p:nvPr/>
        </p:nvSpPr>
        <p:spPr>
          <a:xfrm>
            <a:off x="548640" y="1965960"/>
            <a:ext cx="5440680" cy="1005840"/>
          </a:xfrm>
          <a:prstGeom prst="roundRect">
            <a:avLst>
              <a:gd name="adj" fmla="val 16364"/>
            </a:avLst>
          </a:prstGeom>
          <a:solidFill>
            <a:srgbClr val="EDF2E8"/>
          </a:solidFill>
          <a:ln w="12700">
            <a:solidFill>
              <a:srgbClr val="D5DFCB"/>
            </a:solidFill>
            <a:prstDash val="solid"/>
          </a:ln>
        </p:spPr>
      </p:sp>
      <p:sp>
        <p:nvSpPr>
          <p:cNvPr id="5" name="Shape 3"/>
          <p:cNvSpPr/>
          <p:nvPr/>
        </p:nvSpPr>
        <p:spPr>
          <a:xfrm>
            <a:off x="777240" y="2194560"/>
            <a:ext cx="548640" cy="548640"/>
          </a:xfrm>
          <a:prstGeom prst="ellipse">
            <a:avLst/>
          </a:prstGeom>
          <a:solidFill>
            <a:srgbClr val="FFFFFF"/>
          </a:solidFill>
          <a:ln/>
        </p:spPr>
      </p:sp>
      <p:sp>
        <p:nvSpPr>
          <p:cNvPr id="6" name="Text 4"/>
          <p:cNvSpPr txBox="1"/>
          <p:nvPr/>
        </p:nvSpPr>
        <p:spPr>
          <a:xfrm>
            <a:off x="777240" y="2194560"/>
            <a:ext cx="548640" cy="548640"/>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1</a:t>
            </a:r>
            <a:endParaRPr lang="en-US" sz="1800" dirty="0"/>
          </a:p>
        </p:txBody>
      </p:sp>
      <p:sp>
        <p:nvSpPr>
          <p:cNvPr id="7" name="Text 5"/>
          <p:cNvSpPr txBox="1"/>
          <p:nvPr/>
        </p:nvSpPr>
        <p:spPr>
          <a:xfrm>
            <a:off x="1554480" y="2057400"/>
            <a:ext cx="4297680" cy="457200"/>
          </a:xfrm>
          <a:prstGeom prst="rect">
            <a:avLst/>
          </a:prstGeom>
          <a:noFill/>
          <a:ln/>
        </p:spPr>
        <p:txBody>
          <a:bodyPr wrap="square" lIns="0" tIns="0" rIns="0" bIns="0" rtlCol="0" anchor="ctr"/>
          <a:lstStyle/>
          <a:p>
            <a:pPr algn="l" indent="0" marL="0">
              <a:buNone/>
            </a:pPr>
            <a:r>
              <a:rPr lang="en-US" sz="1800" b="1" dirty="0">
                <a:solidFill>
                  <a:srgbClr val="17301F"/>
                </a:solidFill>
                <a:latin typeface="Tahoma" pitchFamily="34" charset="0"/>
                <a:ea typeface="Tahoma" pitchFamily="34" charset="-122"/>
                <a:cs typeface="Tahoma" pitchFamily="34" charset="-120"/>
              </a:rPr>
              <a:t>วางผลในห้องดม</a:t>
            </a:r>
            <a:endParaRPr lang="en-US" sz="1800" dirty="0"/>
          </a:p>
        </p:txBody>
      </p:sp>
      <p:sp>
        <p:nvSpPr>
          <p:cNvPr id="8" name="Text 6"/>
          <p:cNvSpPr txBox="1"/>
          <p:nvPr/>
        </p:nvSpPr>
        <p:spPr>
          <a:xfrm>
            <a:off x="1554480" y="2496312"/>
            <a:ext cx="4297680" cy="41148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ปิดฝา</a:t>
            </a:r>
            <a:endParaRPr lang="en-US" sz="1400" dirty="0"/>
          </a:p>
        </p:txBody>
      </p:sp>
      <p:sp>
        <p:nvSpPr>
          <p:cNvPr id="9" name="Shape 7"/>
          <p:cNvSpPr/>
          <p:nvPr/>
        </p:nvSpPr>
        <p:spPr>
          <a:xfrm>
            <a:off x="548640" y="3154680"/>
            <a:ext cx="5440680" cy="1005840"/>
          </a:xfrm>
          <a:prstGeom prst="roundRect">
            <a:avLst>
              <a:gd name="adj" fmla="val 16364"/>
            </a:avLst>
          </a:prstGeom>
          <a:solidFill>
            <a:srgbClr val="EDF2E8"/>
          </a:solidFill>
          <a:ln w="12700">
            <a:solidFill>
              <a:srgbClr val="D5DFCB"/>
            </a:solidFill>
            <a:prstDash val="solid"/>
          </a:ln>
        </p:spPr>
      </p:sp>
      <p:sp>
        <p:nvSpPr>
          <p:cNvPr id="10" name="Shape 8"/>
          <p:cNvSpPr/>
          <p:nvPr/>
        </p:nvSpPr>
        <p:spPr>
          <a:xfrm>
            <a:off x="777240" y="3383280"/>
            <a:ext cx="548640" cy="548640"/>
          </a:xfrm>
          <a:prstGeom prst="ellipse">
            <a:avLst/>
          </a:prstGeom>
          <a:solidFill>
            <a:srgbClr val="FFFFFF"/>
          </a:solidFill>
          <a:ln/>
        </p:spPr>
      </p:sp>
      <p:sp>
        <p:nvSpPr>
          <p:cNvPr id="11" name="Text 9"/>
          <p:cNvSpPr txBox="1"/>
          <p:nvPr/>
        </p:nvSpPr>
        <p:spPr>
          <a:xfrm>
            <a:off x="777240" y="3383280"/>
            <a:ext cx="548640" cy="548640"/>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2</a:t>
            </a:r>
            <a:endParaRPr lang="en-US" sz="1800" dirty="0"/>
          </a:p>
        </p:txBody>
      </p:sp>
      <p:sp>
        <p:nvSpPr>
          <p:cNvPr id="12" name="Text 10"/>
          <p:cNvSpPr txBox="1"/>
          <p:nvPr/>
        </p:nvSpPr>
        <p:spPr>
          <a:xfrm>
            <a:off x="1554480" y="3246120"/>
            <a:ext cx="4297680" cy="457200"/>
          </a:xfrm>
          <a:prstGeom prst="rect">
            <a:avLst/>
          </a:prstGeom>
          <a:noFill/>
          <a:ln/>
        </p:spPr>
        <p:txBody>
          <a:bodyPr wrap="square" lIns="0" tIns="0" rIns="0" bIns="0" rtlCol="0" anchor="ctr"/>
          <a:lstStyle/>
          <a:p>
            <a:pPr algn="l" indent="0" marL="0">
              <a:buNone/>
            </a:pPr>
            <a:r>
              <a:rPr lang="en-US" sz="1800" b="1" dirty="0">
                <a:solidFill>
                  <a:srgbClr val="17301F"/>
                </a:solidFill>
                <a:latin typeface="Tahoma" pitchFamily="34" charset="0"/>
                <a:ea typeface="Tahoma" pitchFamily="34" charset="-122"/>
                <a:cs typeface="Tahoma" pitchFamily="34" charset="-120"/>
              </a:rPr>
              <a:t>กดปุ่มเดียว</a:t>
            </a:r>
            <a:endParaRPr lang="en-US" sz="1800" dirty="0"/>
          </a:p>
        </p:txBody>
      </p:sp>
      <p:sp>
        <p:nvSpPr>
          <p:cNvPr id="13" name="Text 11"/>
          <p:cNvSpPr txBox="1"/>
          <p:nvPr/>
        </p:nvSpPr>
        <p:spPr>
          <a:xfrm>
            <a:off x="1554480" y="3685032"/>
            <a:ext cx="4297680" cy="41148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เครื่องดมเองจนจบรอบ</a:t>
            </a:r>
            <a:endParaRPr lang="en-US" sz="1400" dirty="0"/>
          </a:p>
        </p:txBody>
      </p:sp>
      <p:sp>
        <p:nvSpPr>
          <p:cNvPr id="14" name="Shape 12"/>
          <p:cNvSpPr/>
          <p:nvPr/>
        </p:nvSpPr>
        <p:spPr>
          <a:xfrm>
            <a:off x="548640" y="4343400"/>
            <a:ext cx="5440680" cy="1005840"/>
          </a:xfrm>
          <a:prstGeom prst="roundRect">
            <a:avLst>
              <a:gd name="adj" fmla="val 16364"/>
            </a:avLst>
          </a:prstGeom>
          <a:solidFill>
            <a:srgbClr val="EDF2E8"/>
          </a:solidFill>
          <a:ln w="12700">
            <a:solidFill>
              <a:srgbClr val="D5DFCB"/>
            </a:solidFill>
            <a:prstDash val="solid"/>
          </a:ln>
        </p:spPr>
      </p:sp>
      <p:sp>
        <p:nvSpPr>
          <p:cNvPr id="15" name="Shape 13"/>
          <p:cNvSpPr/>
          <p:nvPr/>
        </p:nvSpPr>
        <p:spPr>
          <a:xfrm>
            <a:off x="777240" y="4572000"/>
            <a:ext cx="548640" cy="548640"/>
          </a:xfrm>
          <a:prstGeom prst="ellipse">
            <a:avLst/>
          </a:prstGeom>
          <a:solidFill>
            <a:srgbClr val="FFFFFF"/>
          </a:solidFill>
          <a:ln/>
        </p:spPr>
      </p:sp>
      <p:sp>
        <p:nvSpPr>
          <p:cNvPr id="16" name="Text 14"/>
          <p:cNvSpPr txBox="1"/>
          <p:nvPr/>
        </p:nvSpPr>
        <p:spPr>
          <a:xfrm>
            <a:off x="777240" y="4572000"/>
            <a:ext cx="548640" cy="548640"/>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3</a:t>
            </a:r>
            <a:endParaRPr lang="en-US" sz="1800" dirty="0"/>
          </a:p>
        </p:txBody>
      </p:sp>
      <p:sp>
        <p:nvSpPr>
          <p:cNvPr id="17" name="Text 15"/>
          <p:cNvSpPr txBox="1"/>
          <p:nvPr/>
        </p:nvSpPr>
        <p:spPr>
          <a:xfrm>
            <a:off x="1554480" y="4434840"/>
            <a:ext cx="4297680" cy="457200"/>
          </a:xfrm>
          <a:prstGeom prst="rect">
            <a:avLst/>
          </a:prstGeom>
          <a:noFill/>
          <a:ln/>
        </p:spPr>
        <p:txBody>
          <a:bodyPr wrap="square" lIns="0" tIns="0" rIns="0" bIns="0" rtlCol="0" anchor="ctr"/>
          <a:lstStyle/>
          <a:p>
            <a:pPr algn="l" indent="0" marL="0">
              <a:buNone/>
            </a:pPr>
            <a:r>
              <a:rPr lang="en-US" sz="1800" b="1" dirty="0">
                <a:solidFill>
                  <a:srgbClr val="17301F"/>
                </a:solidFill>
                <a:latin typeface="Tahoma" pitchFamily="34" charset="0"/>
                <a:ea typeface="Tahoma" pitchFamily="34" charset="-122"/>
                <a:cs typeface="Tahoma" pitchFamily="34" charset="-120"/>
              </a:rPr>
              <a:t>ดูไฟ 4 สี</a:t>
            </a:r>
            <a:endParaRPr lang="en-US" sz="1800" dirty="0"/>
          </a:p>
        </p:txBody>
      </p:sp>
      <p:sp>
        <p:nvSpPr>
          <p:cNvPr id="18" name="Text 16"/>
          <p:cNvSpPr txBox="1"/>
          <p:nvPr/>
        </p:nvSpPr>
        <p:spPr>
          <a:xfrm>
            <a:off x="1554480" y="4873752"/>
            <a:ext cx="4297680" cy="41148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เขียว เหลือง แดง เทา (ไม่แน่ใจ)</a:t>
            </a:r>
            <a:endParaRPr lang="en-US" sz="1400" dirty="0"/>
          </a:p>
        </p:txBody>
      </p:sp>
      <p:sp>
        <p:nvSpPr>
          <p:cNvPr id="19" name="Text 17"/>
          <p:cNvSpPr txBox="1"/>
          <p:nvPr/>
        </p:nvSpPr>
        <p:spPr>
          <a:xfrm>
            <a:off x="6199632" y="1325880"/>
            <a:ext cx="5394960" cy="457200"/>
          </a:xfrm>
          <a:prstGeom prst="rect">
            <a:avLst/>
          </a:prstGeom>
          <a:noFill/>
          <a:ln/>
        </p:spPr>
        <p:txBody>
          <a:bodyPr wrap="square" lIns="0" tIns="0" rIns="0" bIns="0" rtlCol="0" anchor="t"/>
          <a:lstStyle/>
          <a:p>
            <a:pPr algn="l" indent="0" marL="0">
              <a:buNone/>
            </a:pPr>
            <a:r>
              <a:rPr lang="en-US" sz="2000" b="1" dirty="0">
                <a:solidFill>
                  <a:srgbClr val="6E4FB8"/>
                </a:solidFill>
                <a:latin typeface="Tahoma" pitchFamily="34" charset="0"/>
                <a:ea typeface="Tahoma" pitchFamily="34" charset="-122"/>
                <a:cs typeface="Tahoma" pitchFamily="34" charset="-120"/>
              </a:rPr>
              <a:t>ในตู้คอนเทนเนอร์ (จมูกในตู้)</a:t>
            </a:r>
            <a:endParaRPr lang="en-US" sz="2000" dirty="0"/>
          </a:p>
        </p:txBody>
      </p:sp>
      <p:sp>
        <p:nvSpPr>
          <p:cNvPr id="20" name="Shape 18"/>
          <p:cNvSpPr/>
          <p:nvPr/>
        </p:nvSpPr>
        <p:spPr>
          <a:xfrm>
            <a:off x="6199632" y="1965960"/>
            <a:ext cx="5440680" cy="1005840"/>
          </a:xfrm>
          <a:prstGeom prst="roundRect">
            <a:avLst>
              <a:gd name="adj" fmla="val 16364"/>
            </a:avLst>
          </a:prstGeom>
          <a:solidFill>
            <a:srgbClr val="EFE9FB"/>
          </a:solidFill>
          <a:ln w="12700">
            <a:solidFill>
              <a:srgbClr val="D5DFCB"/>
            </a:solidFill>
            <a:prstDash val="solid"/>
          </a:ln>
        </p:spPr>
      </p:sp>
      <p:sp>
        <p:nvSpPr>
          <p:cNvPr id="21" name="Shape 19"/>
          <p:cNvSpPr/>
          <p:nvPr/>
        </p:nvSpPr>
        <p:spPr>
          <a:xfrm>
            <a:off x="6428232" y="2194560"/>
            <a:ext cx="548640" cy="548640"/>
          </a:xfrm>
          <a:prstGeom prst="ellipse">
            <a:avLst/>
          </a:prstGeom>
          <a:solidFill>
            <a:srgbClr val="FFFFFF"/>
          </a:solidFill>
          <a:ln/>
        </p:spPr>
      </p:sp>
      <p:sp>
        <p:nvSpPr>
          <p:cNvPr id="22" name="Text 20"/>
          <p:cNvSpPr txBox="1"/>
          <p:nvPr/>
        </p:nvSpPr>
        <p:spPr>
          <a:xfrm>
            <a:off x="6428232" y="2194560"/>
            <a:ext cx="548640" cy="548640"/>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1</a:t>
            </a:r>
            <a:endParaRPr lang="en-US" sz="1800" dirty="0"/>
          </a:p>
        </p:txBody>
      </p:sp>
      <p:sp>
        <p:nvSpPr>
          <p:cNvPr id="23" name="Text 21"/>
          <p:cNvSpPr txBox="1"/>
          <p:nvPr/>
        </p:nvSpPr>
        <p:spPr>
          <a:xfrm>
            <a:off x="7205472" y="2057400"/>
            <a:ext cx="4297680" cy="457200"/>
          </a:xfrm>
          <a:prstGeom prst="rect">
            <a:avLst/>
          </a:prstGeom>
          <a:noFill/>
          <a:ln/>
        </p:spPr>
        <p:txBody>
          <a:bodyPr wrap="square" lIns="0" tIns="0" rIns="0" bIns="0" rtlCol="0" anchor="ctr"/>
          <a:lstStyle/>
          <a:p>
            <a:pPr algn="l" indent="0" marL="0">
              <a:buNone/>
            </a:pPr>
            <a:r>
              <a:rPr lang="en-US" sz="1800" b="1" dirty="0">
                <a:solidFill>
                  <a:srgbClr val="17301F"/>
                </a:solidFill>
                <a:latin typeface="Tahoma" pitchFamily="34" charset="0"/>
                <a:ea typeface="Tahoma" pitchFamily="34" charset="-122"/>
                <a:cs typeface="Tahoma" pitchFamily="34" charset="-120"/>
              </a:rPr>
              <a:t>เสียบไฟ วางกล่อง</a:t>
            </a:r>
            <a:endParaRPr lang="en-US" sz="1800" dirty="0"/>
          </a:p>
        </p:txBody>
      </p:sp>
      <p:sp>
        <p:nvSpPr>
          <p:cNvPr id="24" name="Text 22"/>
          <p:cNvSpPr txBox="1"/>
          <p:nvPr/>
        </p:nvSpPr>
        <p:spPr>
          <a:xfrm>
            <a:off x="7205472" y="2496312"/>
            <a:ext cx="4297680" cy="41148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ติดผนังตู้ ไม่ต้องตั้งค่า</a:t>
            </a:r>
            <a:endParaRPr lang="en-US" sz="1400" dirty="0"/>
          </a:p>
        </p:txBody>
      </p:sp>
      <p:sp>
        <p:nvSpPr>
          <p:cNvPr id="25" name="Shape 23"/>
          <p:cNvSpPr/>
          <p:nvPr/>
        </p:nvSpPr>
        <p:spPr>
          <a:xfrm>
            <a:off x="6199632" y="3154680"/>
            <a:ext cx="5440680" cy="1005840"/>
          </a:xfrm>
          <a:prstGeom prst="roundRect">
            <a:avLst>
              <a:gd name="adj" fmla="val 16364"/>
            </a:avLst>
          </a:prstGeom>
          <a:solidFill>
            <a:srgbClr val="EFE9FB"/>
          </a:solidFill>
          <a:ln w="12700">
            <a:solidFill>
              <a:srgbClr val="D5DFCB"/>
            </a:solidFill>
            <a:prstDash val="solid"/>
          </a:ln>
        </p:spPr>
      </p:sp>
      <p:sp>
        <p:nvSpPr>
          <p:cNvPr id="26" name="Shape 24"/>
          <p:cNvSpPr/>
          <p:nvPr/>
        </p:nvSpPr>
        <p:spPr>
          <a:xfrm>
            <a:off x="6428232" y="3383280"/>
            <a:ext cx="548640" cy="548640"/>
          </a:xfrm>
          <a:prstGeom prst="ellipse">
            <a:avLst/>
          </a:prstGeom>
          <a:solidFill>
            <a:srgbClr val="FFFFFF"/>
          </a:solidFill>
          <a:ln/>
        </p:spPr>
      </p:sp>
      <p:sp>
        <p:nvSpPr>
          <p:cNvPr id="27" name="Text 25"/>
          <p:cNvSpPr txBox="1"/>
          <p:nvPr/>
        </p:nvSpPr>
        <p:spPr>
          <a:xfrm>
            <a:off x="6428232" y="3383280"/>
            <a:ext cx="548640" cy="548640"/>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2</a:t>
            </a:r>
            <a:endParaRPr lang="en-US" sz="1800" dirty="0"/>
          </a:p>
        </p:txBody>
      </p:sp>
      <p:sp>
        <p:nvSpPr>
          <p:cNvPr id="28" name="Text 26"/>
          <p:cNvSpPr txBox="1"/>
          <p:nvPr/>
        </p:nvSpPr>
        <p:spPr>
          <a:xfrm>
            <a:off x="7205472" y="3246120"/>
            <a:ext cx="4297680" cy="457200"/>
          </a:xfrm>
          <a:prstGeom prst="rect">
            <a:avLst/>
          </a:prstGeom>
          <a:noFill/>
          <a:ln/>
        </p:spPr>
        <p:txBody>
          <a:bodyPr wrap="square" lIns="0" tIns="0" rIns="0" bIns="0" rtlCol="0" anchor="ctr"/>
          <a:lstStyle/>
          <a:p>
            <a:pPr algn="l" indent="0" marL="0">
              <a:buNone/>
            </a:pPr>
            <a:r>
              <a:rPr lang="en-US" sz="1800" b="1" dirty="0">
                <a:solidFill>
                  <a:srgbClr val="17301F"/>
                </a:solidFill>
                <a:latin typeface="Tahoma" pitchFamily="34" charset="0"/>
                <a:ea typeface="Tahoma" pitchFamily="34" charset="-122"/>
                <a:cs typeface="Tahoma" pitchFamily="34" charset="-120"/>
              </a:rPr>
              <a:t>ปล่อยทิ้งไว้</a:t>
            </a:r>
            <a:endParaRPr lang="en-US" sz="1800" dirty="0"/>
          </a:p>
        </p:txBody>
      </p:sp>
      <p:sp>
        <p:nvSpPr>
          <p:cNvPr id="29" name="Text 27"/>
          <p:cNvSpPr txBox="1"/>
          <p:nvPr/>
        </p:nvSpPr>
        <p:spPr>
          <a:xfrm>
            <a:off x="7205472" y="3685032"/>
            <a:ext cx="4297680" cy="41148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ดมเองทุก 15–30 นาที</a:t>
            </a:r>
            <a:endParaRPr lang="en-US" sz="1400" dirty="0"/>
          </a:p>
        </p:txBody>
      </p:sp>
      <p:sp>
        <p:nvSpPr>
          <p:cNvPr id="30" name="Shape 28"/>
          <p:cNvSpPr/>
          <p:nvPr/>
        </p:nvSpPr>
        <p:spPr>
          <a:xfrm>
            <a:off x="6199632" y="4343400"/>
            <a:ext cx="5440680" cy="1005840"/>
          </a:xfrm>
          <a:prstGeom prst="roundRect">
            <a:avLst>
              <a:gd name="adj" fmla="val 16364"/>
            </a:avLst>
          </a:prstGeom>
          <a:solidFill>
            <a:srgbClr val="EFE9FB"/>
          </a:solidFill>
          <a:ln w="12700">
            <a:solidFill>
              <a:srgbClr val="D5DFCB"/>
            </a:solidFill>
            <a:prstDash val="solid"/>
          </a:ln>
        </p:spPr>
      </p:sp>
      <p:sp>
        <p:nvSpPr>
          <p:cNvPr id="31" name="Shape 29"/>
          <p:cNvSpPr/>
          <p:nvPr/>
        </p:nvSpPr>
        <p:spPr>
          <a:xfrm>
            <a:off x="6428232" y="4572000"/>
            <a:ext cx="548640" cy="548640"/>
          </a:xfrm>
          <a:prstGeom prst="ellipse">
            <a:avLst/>
          </a:prstGeom>
          <a:solidFill>
            <a:srgbClr val="FFFFFF"/>
          </a:solidFill>
          <a:ln/>
        </p:spPr>
      </p:sp>
      <p:sp>
        <p:nvSpPr>
          <p:cNvPr id="32" name="Text 30"/>
          <p:cNvSpPr txBox="1"/>
          <p:nvPr/>
        </p:nvSpPr>
        <p:spPr>
          <a:xfrm>
            <a:off x="6428232" y="4572000"/>
            <a:ext cx="548640" cy="548640"/>
          </a:xfrm>
          <a:prstGeom prst="rect">
            <a:avLst/>
          </a:prstGeom>
          <a:noFill/>
          <a:ln/>
        </p:spPr>
        <p:txBody>
          <a:bodyPr wrap="square" lIns="0" tIns="0" rIns="0" bIns="0" rtlCol="0" anchor="ctr"/>
          <a:lstStyle/>
          <a:p>
            <a:pPr algn="ctr" indent="0" marL="0">
              <a:buNone/>
            </a:pPr>
            <a:r>
              <a:rPr lang="en-US" sz="1800" b="1" dirty="0">
                <a:solidFill>
                  <a:srgbClr val="6E4FB8"/>
                </a:solidFill>
                <a:latin typeface="Tahoma" pitchFamily="34" charset="0"/>
                <a:ea typeface="Tahoma" pitchFamily="34" charset="-122"/>
                <a:cs typeface="Tahoma" pitchFamily="34" charset="-120"/>
              </a:rPr>
              <a:t>3</a:t>
            </a:r>
            <a:endParaRPr lang="en-US" sz="1800" dirty="0"/>
          </a:p>
        </p:txBody>
      </p:sp>
      <p:sp>
        <p:nvSpPr>
          <p:cNvPr id="33" name="Text 31"/>
          <p:cNvSpPr txBox="1"/>
          <p:nvPr/>
        </p:nvSpPr>
        <p:spPr>
          <a:xfrm>
            <a:off x="7205472" y="4434840"/>
            <a:ext cx="4297680" cy="457200"/>
          </a:xfrm>
          <a:prstGeom prst="rect">
            <a:avLst/>
          </a:prstGeom>
          <a:noFill/>
          <a:ln/>
        </p:spPr>
        <p:txBody>
          <a:bodyPr wrap="square" lIns="0" tIns="0" rIns="0" bIns="0" rtlCol="0" anchor="ctr"/>
          <a:lstStyle/>
          <a:p>
            <a:pPr algn="l" indent="0" marL="0">
              <a:buNone/>
            </a:pPr>
            <a:r>
              <a:rPr lang="en-US" sz="1800" b="1" dirty="0">
                <a:solidFill>
                  <a:srgbClr val="17301F"/>
                </a:solidFill>
                <a:latin typeface="Tahoma" pitchFamily="34" charset="0"/>
                <a:ea typeface="Tahoma" pitchFamily="34" charset="-122"/>
                <a:cs typeface="Tahoma" pitchFamily="34" charset="-120"/>
              </a:rPr>
              <a:t>รับแจ้งเตือนใน LINE</a:t>
            </a:r>
            <a:endParaRPr lang="en-US" sz="1800" dirty="0"/>
          </a:p>
        </p:txBody>
      </p:sp>
      <p:sp>
        <p:nvSpPr>
          <p:cNvPr id="34" name="Text 32"/>
          <p:cNvSpPr txBox="1"/>
          <p:nvPr/>
        </p:nvSpPr>
        <p:spPr>
          <a:xfrm>
            <a:off x="7205472" y="4873752"/>
            <a:ext cx="4297680" cy="41148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เมื่อกลิ่นสุกเร็วผิดปกติ</a:t>
            </a:r>
            <a:endParaRPr lang="en-US" sz="1400" dirty="0"/>
          </a:p>
        </p:txBody>
      </p:sp>
      <p:sp>
        <p:nvSpPr>
          <p:cNvPr id="35" name="Shape 33"/>
          <p:cNvSpPr/>
          <p:nvPr/>
        </p:nvSpPr>
        <p:spPr>
          <a:xfrm>
            <a:off x="548640" y="5577840"/>
            <a:ext cx="11091672" cy="685800"/>
          </a:xfrm>
          <a:prstGeom prst="roundRect">
            <a:avLst>
              <a:gd name="adj" fmla="val 24000"/>
            </a:avLst>
          </a:prstGeom>
          <a:solidFill>
            <a:srgbClr val="17301F"/>
          </a:solidFill>
          <a:ln/>
        </p:spPr>
      </p:sp>
      <p:sp>
        <p:nvSpPr>
          <p:cNvPr id="36" name="Text 34"/>
          <p:cNvSpPr txBox="1"/>
          <p:nvPr/>
        </p:nvSpPr>
        <p:spPr>
          <a:xfrm>
            <a:off x="822960" y="5577840"/>
            <a:ext cx="10561320" cy="685800"/>
          </a:xfrm>
          <a:prstGeom prst="rect">
            <a:avLst/>
          </a:prstGeom>
          <a:noFill/>
          <a:ln/>
        </p:spPr>
        <p:txBody>
          <a:bodyPr wrap="square" lIns="0" tIns="0" rIns="0" bIns="0" rtlCol="0" anchor="ctr"/>
          <a:lstStyle/>
          <a:p>
            <a:pPr algn="l" indent="0" marL="0">
              <a:buNone/>
            </a:pPr>
            <a:r>
              <a:rPr lang="en-US" sz="1400" dirty="0">
                <a:solidFill>
                  <a:srgbClr val="FFFFFF"/>
                </a:solidFill>
                <a:latin typeface="Tahoma" pitchFamily="34" charset="0"/>
                <a:ea typeface="Tahoma" pitchFamily="34" charset="-122"/>
                <a:cs typeface="Tahoma" pitchFamily="34" charset="-120"/>
              </a:rPr>
              <a:t>หลักออกแบบ: ปุ่มเดียว ไฟสีอ่านได้จากระยะไกล ข้อความภาษาไทย และสอนเครื่องเพิ่มได้ด้วยการกดตอบใน LINE ว่าผลจริงเป็นอย่างไร</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Simulation: ดูภายในเครื่อง</a:t>
            </a:r>
            <a:endParaRPr lang="en-US" sz="3000" dirty="0"/>
          </a:p>
        </p:txBody>
      </p:sp>
      <p:sp>
        <p:nvSpPr>
          <p:cNvPr id="3" name="Shape 1"/>
          <p:cNvSpPr/>
          <p:nvPr/>
        </p:nvSpPr>
        <p:spPr>
          <a:xfrm>
            <a:off x="8046720" y="566928"/>
            <a:ext cx="3593592" cy="384048"/>
          </a:xfrm>
          <a:prstGeom prst="roundRect">
            <a:avLst>
              <a:gd name="adj" fmla="val 50000"/>
            </a:avLst>
          </a:prstGeom>
          <a:solidFill>
            <a:srgbClr val="FFF3D4"/>
          </a:solidFill>
          <a:ln/>
        </p:spPr>
      </p:sp>
      <p:sp>
        <p:nvSpPr>
          <p:cNvPr id="4" name="Text 2"/>
          <p:cNvSpPr txBox="1"/>
          <p:nvPr/>
        </p:nvSpPr>
        <p:spPr>
          <a:xfrm>
            <a:off x="8046720" y="566928"/>
            <a:ext cx="3593592" cy="384048"/>
          </a:xfrm>
          <a:prstGeom prst="rect">
            <a:avLst/>
          </a:prstGeom>
          <a:noFill/>
          <a:ln/>
        </p:spPr>
        <p:txBody>
          <a:bodyPr wrap="square" lIns="0" tIns="0" rIns="0" bIns="0" rtlCol="0" anchor="ctr"/>
          <a:lstStyle/>
          <a:p>
            <a:pPr algn="ctr" indent="0" marL="0">
              <a:buNone/>
            </a:pPr>
            <a:r>
              <a:rPr lang="en-US" sz="1400" b="1" dirty="0">
                <a:solidFill>
                  <a:srgbClr val="7A4F00"/>
                </a:solidFill>
                <a:latin typeface="Tahoma" pitchFamily="34" charset="0"/>
                <a:ea typeface="Tahoma" pitchFamily="34" charset="-122"/>
                <a:cs typeface="Tahoma" pitchFamily="34" charset="-120"/>
              </a:rPr>
              <a:t>ค่าจำลอง ไม่ใช่ข้อมูลวัดจริง</a:t>
            </a:r>
            <a:endParaRPr lang="en-US" sz="1400" dirty="0"/>
          </a:p>
        </p:txBody>
      </p:sp>
      <p:pic>
        <p:nvPicPr>
          <p:cNvPr id="5" name="Image 0" descr="จำลองตัวเครื่อง 3 มิติ สถานะผลไม้เน่า">    </p:cNvPr>
          <p:cNvPicPr>
            <a:picLocks noChangeAspect="1"/>
          </p:cNvPicPr>
          <p:nvPr/>
        </p:nvPicPr>
        <p:blipFill>
          <a:blip r:embed="rId1"/>
          <a:stretch>
            <a:fillRect/>
          </a:stretch>
        </p:blipFill>
        <p:spPr>
          <a:xfrm>
            <a:off x="548640" y="1371600"/>
            <a:ext cx="4937760" cy="2404872"/>
          </a:xfrm>
          <a:prstGeom prst="rect">
            <a:avLst/>
          </a:prstGeom>
        </p:spPr>
      </p:pic>
      <p:sp>
        <p:nvSpPr>
          <p:cNvPr id="6" name="Text 3"/>
          <p:cNvSpPr txBox="1"/>
          <p:nvPr/>
        </p:nvSpPr>
        <p:spPr>
          <a:xfrm>
            <a:off x="548640" y="3822192"/>
            <a:ext cx="4937760" cy="27432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ตัวเครื่อง 3 มิติ: ห้องดม · วาล์ว · ห้องเซนเซอร์ · ปั๊ม</a:t>
            </a:r>
            <a:endParaRPr lang="en-US" sz="1200" dirty="0"/>
          </a:p>
        </p:txBody>
      </p:sp>
      <p:sp>
        <p:nvSpPr>
          <p:cNvPr id="7" name="Shape 4"/>
          <p:cNvSpPr/>
          <p:nvPr/>
        </p:nvSpPr>
        <p:spPr>
          <a:xfrm>
            <a:off x="5760720" y="1371600"/>
            <a:ext cx="5879592" cy="2724912"/>
          </a:xfrm>
          <a:prstGeom prst="roundRect">
            <a:avLst>
              <a:gd name="adj" fmla="val 6040"/>
            </a:avLst>
          </a:prstGeom>
          <a:solidFill>
            <a:srgbClr val="EDF2E8"/>
          </a:solidFill>
          <a:ln w="12700">
            <a:solidFill>
              <a:srgbClr val="D5DFCB"/>
            </a:solidFill>
            <a:prstDash val="solid"/>
          </a:ln>
        </p:spPr>
      </p:sp>
      <p:sp>
        <p:nvSpPr>
          <p:cNvPr id="8" name="Text 5"/>
          <p:cNvSpPr txBox="1"/>
          <p:nvPr/>
        </p:nvSpPr>
        <p:spPr>
          <a:xfrm>
            <a:off x="6080760" y="1371600"/>
            <a:ext cx="5303520" cy="2724912"/>
          </a:xfrm>
          <a:prstGeom prst="rect">
            <a:avLst/>
          </a:prstGeom>
          <a:noFill/>
          <a:ln/>
        </p:spPr>
        <p:txBody>
          <a:bodyPr wrap="square" lIns="0" tIns="0" rIns="0" bIns="0" rtlCol="0" anchor="ctr"/>
          <a:lstStyle/>
          <a:p>
            <a:pPr algn="l" marL="203200" indent="-203200">
              <a:spcAft>
                <a:spcPts val="800"/>
              </a:spcAft>
              <a:buSzPct val="100000"/>
              <a:buChar char="•"/>
            </a:pPr>
            <a:r>
              <a:rPr lang="en-US" sz="1600" dirty="0">
                <a:solidFill>
                  <a:srgbClr val="1F2A23"/>
                </a:solidFill>
                <a:latin typeface="Tahoma" pitchFamily="34" charset="0"/>
                <a:ea typeface="Tahoma" pitchFamily="34" charset="-122"/>
                <a:cs typeface="Tahoma" pitchFamily="34" charset="-120"/>
              </a:rPr>
              <a:t>ปรับสถานะผลไม้ สด → สุก → เริ่มเน่า → เน่า แล้วดูแก๊สในห้องดมและกราฟเปลี่ยนตาม</a:t>
            </a:r>
            <a:endParaRPr lang="en-US" sz="1600" dirty="0"/>
          </a:p>
          <a:p>
            <a:pPr algn="l" marL="203200" indent="-203200">
              <a:spcAft>
                <a:spcPts val="800"/>
              </a:spcAft>
              <a:buSzPct val="100000"/>
              <a:buChar char="•"/>
            </a:pPr>
            <a:r>
              <a:rPr lang="en-US" sz="1600" dirty="0">
                <a:solidFill>
                  <a:srgbClr val="1F2A23"/>
                </a:solidFill>
                <a:latin typeface="Tahoma" pitchFamily="34" charset="0"/>
                <a:ea typeface="Tahoma" pitchFamily="34" charset="-122"/>
                <a:cs typeface="Tahoma" pitchFamily="34" charset="-120"/>
              </a:rPr>
              <a:t>ตัวเลขทุกตัวเป็นหน่วยสมมติ (a.u.) ไม่ใช่ ppm และไม่ใช่ผลจากเครื่องจริง</a:t>
            </a:r>
            <a:endParaRPr lang="en-US" sz="1600" dirty="0"/>
          </a:p>
          <a:p>
            <a:pPr algn="l" marL="203200" indent="-203200">
              <a:spcAft>
                <a:spcPts val="800"/>
              </a:spcAft>
              <a:buSzPct val="100000"/>
              <a:buChar char="•"/>
            </a:pPr>
            <a:r>
              <a:rPr lang="en-US" sz="1600" dirty="0">
                <a:solidFill>
                  <a:srgbClr val="1F2A23"/>
                </a:solidFill>
                <a:latin typeface="Tahoma" pitchFamily="34" charset="0"/>
                <a:ea typeface="Tahoma" pitchFamily="34" charset="-122"/>
                <a:cs typeface="Tahoma" pitchFamily="34" charset="-120"/>
              </a:rPr>
              <a:t>เว็บ: moolek02.github.io/e-nose-hub</a:t>
            </a:r>
            <a:endParaRPr lang="en-US" sz="1600" dirty="0"/>
          </a:p>
        </p:txBody>
      </p:sp>
      <p:pic>
        <p:nvPicPr>
          <p:cNvPr id="9" name="Image 1" descr="กราฟ Rs/R0 จำลองของ TGS2602 TGS2603 และ BME688">    </p:cNvPr>
          <p:cNvPicPr>
            <a:picLocks noChangeAspect="1"/>
          </p:cNvPicPr>
          <p:nvPr/>
        </p:nvPicPr>
        <p:blipFill>
          <a:blip r:embed="rId2"/>
          <a:stretch>
            <a:fillRect/>
          </a:stretch>
        </p:blipFill>
        <p:spPr>
          <a:xfrm>
            <a:off x="548640" y="4343400"/>
            <a:ext cx="7315200" cy="2029968"/>
          </a:xfrm>
          <a:prstGeom prst="rect">
            <a:avLst/>
          </a:prstGeom>
        </p:spPr>
      </p:pic>
      <p:sp>
        <p:nvSpPr>
          <p:cNvPr id="10" name="Text 6"/>
          <p:cNvSpPr txBox="1"/>
          <p:nvPr/>
        </p:nvSpPr>
        <p:spPr>
          <a:xfrm>
            <a:off x="8138160" y="4343400"/>
            <a:ext cx="3502152" cy="2029968"/>
          </a:xfrm>
          <a:prstGeom prst="rect">
            <a:avLst/>
          </a:prstGeom>
          <a:noFill/>
          <a:ln/>
        </p:spPr>
        <p:txBody>
          <a:bodyPr wrap="square" lIns="0" tIns="0" rIns="0" bIns="0" rtlCol="0" anchor="ctr"/>
          <a:lstStyle/>
          <a:p>
            <a:pPr algn="l" indent="0" marL="0">
              <a:spcAft>
                <a:spcPts val="600"/>
              </a:spcAft>
              <a:buNone/>
            </a:pPr>
            <a:r>
              <a:rPr lang="en-US" sz="1600" b="1" dirty="0">
                <a:solidFill>
                  <a:srgbClr val="17301F"/>
                </a:solidFill>
                <a:latin typeface="Tahoma" pitchFamily="34" charset="0"/>
                <a:ea typeface="Tahoma" pitchFamily="34" charset="-122"/>
                <a:cs typeface="Tahoma" pitchFamily="34" charset="-120"/>
              </a:rPr>
              <a:t>กราฟ Rs/R0 จำลอง</a:t>
            </a:r>
            <a:endParaRPr lang="en-US" sz="1600" dirty="0"/>
          </a:p>
          <a:p>
            <a:pPr algn="l" indent="0" marL="0">
              <a:spcAft>
                <a:spcPts val="600"/>
              </a:spcAft>
              <a:buNone/>
            </a:pPr>
            <a:r>
              <a:rPr lang="en-US" sz="1400" dirty="0">
                <a:solidFill>
                  <a:srgbClr val="56665B"/>
                </a:solidFill>
                <a:latin typeface="Tahoma" pitchFamily="34" charset="0"/>
                <a:ea typeface="Tahoma" pitchFamily="34" charset="-122"/>
                <a:cs typeface="Tahoma" pitchFamily="34" charset="-120"/>
              </a:rPr>
              <a:t>ของ TGS2602 · TGS2603 · BME688 #1 แถบพื้นสีเข้ม = ช่วงรอบล้าง</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ความเป็นไปได้ของอุปกรณ์ และแผนทดลอง</a:t>
            </a:r>
            <a:endParaRPr lang="en-US" sz="3000" dirty="0"/>
          </a:p>
        </p:txBody>
      </p:sp>
      <p:sp>
        <p:nvSpPr>
          <p:cNvPr id="3" name="Shape 1"/>
          <p:cNvSpPr/>
          <p:nvPr/>
        </p:nvSpPr>
        <p:spPr>
          <a:xfrm>
            <a:off x="548640" y="1280160"/>
            <a:ext cx="11091672" cy="457200"/>
          </a:xfrm>
          <a:prstGeom prst="roundRect">
            <a:avLst>
              <a:gd name="adj" fmla="val 20000"/>
            </a:avLst>
          </a:prstGeom>
          <a:solidFill>
            <a:srgbClr val="17301F"/>
          </a:solidFill>
          <a:ln/>
        </p:spPr>
      </p:sp>
      <p:sp>
        <p:nvSpPr>
          <p:cNvPr id="4" name="Text 2"/>
          <p:cNvSpPr txBox="1"/>
          <p:nvPr/>
        </p:nvSpPr>
        <p:spPr>
          <a:xfrm>
            <a:off x="685800" y="1280160"/>
            <a:ext cx="201168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ระดับ</a:t>
            </a:r>
            <a:endParaRPr lang="en-US" sz="1400" dirty="0"/>
          </a:p>
        </p:txBody>
      </p:sp>
      <p:sp>
        <p:nvSpPr>
          <p:cNvPr id="5" name="Text 3"/>
          <p:cNvSpPr txBox="1"/>
          <p:nvPr/>
        </p:nvSpPr>
        <p:spPr>
          <a:xfrm>
            <a:off x="2880360" y="1280160"/>
            <a:ext cx="457200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มีอะไรบ้าง</a:t>
            </a:r>
            <a:endParaRPr lang="en-US" sz="1400" dirty="0"/>
          </a:p>
        </p:txBody>
      </p:sp>
      <p:sp>
        <p:nvSpPr>
          <p:cNvPr id="6" name="Text 4"/>
          <p:cNvSpPr txBox="1"/>
          <p:nvPr/>
        </p:nvSpPr>
        <p:spPr>
          <a:xfrm>
            <a:off x="7635240" y="1280160"/>
            <a:ext cx="155448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ความยาก</a:t>
            </a:r>
            <a:endParaRPr lang="en-US" sz="1400" dirty="0"/>
          </a:p>
        </p:txBody>
      </p:sp>
      <p:sp>
        <p:nvSpPr>
          <p:cNvPr id="7" name="Text 5"/>
          <p:cNvSpPr txBox="1"/>
          <p:nvPr/>
        </p:nvSpPr>
        <p:spPr>
          <a:xfrm>
            <a:off x="9372600" y="1280160"/>
            <a:ext cx="2221992"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งบประมาณ</a:t>
            </a:r>
            <a:endParaRPr lang="en-US" sz="1400" dirty="0"/>
          </a:p>
        </p:txBody>
      </p:sp>
      <p:sp>
        <p:nvSpPr>
          <p:cNvPr id="8" name="Shape 6"/>
          <p:cNvSpPr/>
          <p:nvPr/>
        </p:nvSpPr>
        <p:spPr>
          <a:xfrm>
            <a:off x="548640" y="1792224"/>
            <a:ext cx="11091672" cy="640080"/>
          </a:xfrm>
          <a:prstGeom prst="roundRect">
            <a:avLst>
              <a:gd name="adj" fmla="val 8571"/>
            </a:avLst>
          </a:prstGeom>
          <a:solidFill>
            <a:srgbClr val="EDF2E8"/>
          </a:solidFill>
          <a:ln w="12700">
            <a:solidFill>
              <a:srgbClr val="D5DFCB"/>
            </a:solidFill>
            <a:prstDash val="solid"/>
          </a:ln>
        </p:spPr>
      </p:sp>
      <p:sp>
        <p:nvSpPr>
          <p:cNvPr id="9" name="Text 7"/>
          <p:cNvSpPr txBox="1"/>
          <p:nvPr/>
        </p:nvSpPr>
        <p:spPr>
          <a:xfrm>
            <a:off x="685800" y="1792224"/>
            <a:ext cx="1965960" cy="64008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A ต้นแบบ (ทำก่อน)</a:t>
            </a:r>
            <a:endParaRPr lang="en-US" sz="1400" dirty="0"/>
          </a:p>
        </p:txBody>
      </p:sp>
      <p:sp>
        <p:nvSpPr>
          <p:cNvPr id="10" name="Text 8"/>
          <p:cNvSpPr txBox="1"/>
          <p:nvPr/>
        </p:nvSpPr>
        <p:spPr>
          <a:xfrm>
            <a:off x="2880360" y="1792224"/>
            <a:ext cx="4526280" cy="64008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ESP8266 ที่มีอยู่ (หรือ ESP32-S3), BME688, Figaro 2 ตัว, ระบบท่อ</a:t>
            </a:r>
            <a:endParaRPr lang="en-US" sz="1400" dirty="0"/>
          </a:p>
        </p:txBody>
      </p:sp>
      <p:sp>
        <p:nvSpPr>
          <p:cNvPr id="11" name="Text 9"/>
          <p:cNvSpPr txBox="1"/>
          <p:nvPr/>
        </p:nvSpPr>
        <p:spPr>
          <a:xfrm>
            <a:off x="7635240" y="1792224"/>
            <a:ext cx="1508760" cy="64008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ง่าย ทำได้ในทีม</a:t>
            </a:r>
            <a:endParaRPr lang="en-US" sz="1400" dirty="0"/>
          </a:p>
        </p:txBody>
      </p:sp>
      <p:sp>
        <p:nvSpPr>
          <p:cNvPr id="12" name="Text 10"/>
          <p:cNvSpPr txBox="1"/>
          <p:nvPr/>
        </p:nvSpPr>
        <p:spPr>
          <a:xfrm>
            <a:off x="9372600" y="1792224"/>
            <a:ext cx="2176272" cy="64008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 ฿3,500 / ≈ ฿1,400–2,100*</a:t>
            </a:r>
            <a:endParaRPr lang="en-US" sz="1400" dirty="0"/>
          </a:p>
        </p:txBody>
      </p:sp>
      <p:sp>
        <p:nvSpPr>
          <p:cNvPr id="13" name="Shape 11"/>
          <p:cNvSpPr/>
          <p:nvPr/>
        </p:nvSpPr>
        <p:spPr>
          <a:xfrm>
            <a:off x="548640" y="2468880"/>
            <a:ext cx="11091672" cy="566928"/>
          </a:xfrm>
          <a:prstGeom prst="roundRect">
            <a:avLst>
              <a:gd name="adj" fmla="val 9677"/>
            </a:avLst>
          </a:prstGeom>
          <a:solidFill>
            <a:srgbClr val="FFFFFF"/>
          </a:solidFill>
          <a:ln w="12700">
            <a:solidFill>
              <a:srgbClr val="D5DFCB"/>
            </a:solidFill>
            <a:prstDash val="solid"/>
          </a:ln>
        </p:spPr>
      </p:sp>
      <p:sp>
        <p:nvSpPr>
          <p:cNvPr id="14" name="Text 12"/>
          <p:cNvSpPr txBox="1"/>
          <p:nvPr/>
        </p:nvSpPr>
        <p:spPr>
          <a:xfrm>
            <a:off x="685800" y="2468880"/>
            <a:ext cx="1965960" cy="566928"/>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B คุณภาพ</a:t>
            </a:r>
            <a:endParaRPr lang="en-US" sz="1400" dirty="0"/>
          </a:p>
        </p:txBody>
      </p:sp>
      <p:sp>
        <p:nvSpPr>
          <p:cNvPr id="15" name="Text 13"/>
          <p:cNvSpPr txBox="1"/>
          <p:nvPr/>
        </p:nvSpPr>
        <p:spPr>
          <a:xfrm>
            <a:off x="2880360" y="2468880"/>
            <a:ext cx="4526280"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เพิ่ม PID, Figaro 4 ตัว, H₂S, CO₂, คุมอุณหภูมิ, ADC 24 บิต</a:t>
            </a:r>
            <a:endParaRPr lang="en-US" sz="1400" dirty="0"/>
          </a:p>
        </p:txBody>
      </p:sp>
      <p:sp>
        <p:nvSpPr>
          <p:cNvPr id="16" name="Text 14"/>
          <p:cNvSpPr txBox="1"/>
          <p:nvPr/>
        </p:nvSpPr>
        <p:spPr>
          <a:xfrm>
            <a:off x="7635240" y="2468880"/>
            <a:ext cx="1508760"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กลาง ต้องนำเข้า</a:t>
            </a:r>
            <a:endParaRPr lang="en-US" sz="1400" dirty="0"/>
          </a:p>
        </p:txBody>
      </p:sp>
      <p:sp>
        <p:nvSpPr>
          <p:cNvPr id="17" name="Text 15"/>
          <p:cNvSpPr txBox="1"/>
          <p:nvPr/>
        </p:nvSpPr>
        <p:spPr>
          <a:xfrm>
            <a:off x="9372600" y="2468880"/>
            <a:ext cx="2176272"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60,000–100,000 บาท**</a:t>
            </a:r>
            <a:endParaRPr lang="en-US" sz="1400" dirty="0"/>
          </a:p>
        </p:txBody>
      </p:sp>
      <p:sp>
        <p:nvSpPr>
          <p:cNvPr id="18" name="Shape 16"/>
          <p:cNvSpPr/>
          <p:nvPr/>
        </p:nvSpPr>
        <p:spPr>
          <a:xfrm>
            <a:off x="548640" y="3072384"/>
            <a:ext cx="11091672" cy="566928"/>
          </a:xfrm>
          <a:prstGeom prst="roundRect">
            <a:avLst>
              <a:gd name="adj" fmla="val 9677"/>
            </a:avLst>
          </a:prstGeom>
          <a:solidFill>
            <a:srgbClr val="EDF2E8"/>
          </a:solidFill>
          <a:ln w="12700">
            <a:solidFill>
              <a:srgbClr val="D5DFCB"/>
            </a:solidFill>
            <a:prstDash val="solid"/>
          </a:ln>
        </p:spPr>
      </p:sp>
      <p:sp>
        <p:nvSpPr>
          <p:cNvPr id="19" name="Text 17"/>
          <p:cNvSpPr txBox="1"/>
          <p:nvPr/>
        </p:nvSpPr>
        <p:spPr>
          <a:xfrm>
            <a:off x="685800" y="3072384"/>
            <a:ext cx="1965960" cy="566928"/>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C วิจัย/QC</a:t>
            </a:r>
            <a:endParaRPr lang="en-US" sz="1400" dirty="0"/>
          </a:p>
        </p:txBody>
      </p:sp>
      <p:sp>
        <p:nvSpPr>
          <p:cNvPr id="20" name="Text 18"/>
          <p:cNvSpPr txBox="1"/>
          <p:nvPr/>
        </p:nvSpPr>
        <p:spPr>
          <a:xfrm>
            <a:off x="2880360" y="3072384"/>
            <a:ext cx="4526280"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ระดับ B + NIR + ส่งตรวจ GC-MS เป็นเฉลย</a:t>
            </a:r>
            <a:endParaRPr lang="en-US" sz="1400" dirty="0"/>
          </a:p>
        </p:txBody>
      </p:sp>
      <p:sp>
        <p:nvSpPr>
          <p:cNvPr id="21" name="Text 19"/>
          <p:cNvSpPr txBox="1"/>
          <p:nvPr/>
        </p:nvSpPr>
        <p:spPr>
          <a:xfrm>
            <a:off x="7635240" y="3072384"/>
            <a:ext cx="1508760"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ยาก ต้องมีพันธมิตร</a:t>
            </a:r>
            <a:endParaRPr lang="en-US" sz="1400" dirty="0"/>
          </a:p>
        </p:txBody>
      </p:sp>
      <p:sp>
        <p:nvSpPr>
          <p:cNvPr id="22" name="Text 20"/>
          <p:cNvSpPr txBox="1"/>
          <p:nvPr/>
        </p:nvSpPr>
        <p:spPr>
          <a:xfrm>
            <a:off x="9372600" y="3072384"/>
            <a:ext cx="2176272"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1–3 แสนบาทขึ้นไป**</a:t>
            </a:r>
            <a:endParaRPr lang="en-US" sz="1400" dirty="0"/>
          </a:p>
        </p:txBody>
      </p:sp>
      <p:sp>
        <p:nvSpPr>
          <p:cNvPr id="23" name="Text 21"/>
          <p:cNvSpPr txBox="1"/>
          <p:nvPr/>
        </p:nvSpPr>
        <p:spPr>
          <a:xfrm>
            <a:off x="548640" y="3749040"/>
            <a:ext cx="11091672" cy="45720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 ราคา Lazada/allnewstep 26 ต.ค. 2026 ไม่รวมค่าส่ง ไส้กรอง กล่อง ท่อ PTFE · ** ประมาณการเดิมของทีม ยังไม่ได้ขอใบเสนอราคา/ไม่ได้ตรวจกับ BOM ใหม่</a:t>
            </a:r>
            <a:endParaRPr lang="en-US" sz="1200" dirty="0"/>
          </a:p>
        </p:txBody>
      </p:sp>
      <p:sp>
        <p:nvSpPr>
          <p:cNvPr id="24" name="Text 22"/>
          <p:cNvSpPr txBox="1"/>
          <p:nvPr/>
        </p:nvSpPr>
        <p:spPr>
          <a:xfrm>
            <a:off x="548640" y="4251960"/>
            <a:ext cx="5212080" cy="411480"/>
          </a:xfrm>
          <a:prstGeom prst="rect">
            <a:avLst/>
          </a:prstGeom>
          <a:noFill/>
          <a:ln/>
        </p:spPr>
        <p:txBody>
          <a:bodyPr wrap="square" lIns="0" tIns="0" rIns="0" bIns="0" rtlCol="0" anchor="t"/>
          <a:lstStyle/>
          <a:p>
            <a:pPr algn="l" indent="0" marL="0">
              <a:buNone/>
            </a:pPr>
            <a:r>
              <a:rPr lang="en-US" sz="1800" b="1" dirty="0">
                <a:solidFill>
                  <a:srgbClr val="2E6B3E"/>
                </a:solidFill>
                <a:latin typeface="Tahoma" pitchFamily="34" charset="0"/>
                <a:ea typeface="Tahoma" pitchFamily="34" charset="-122"/>
                <a:cs typeface="Tahoma" pitchFamily="34" charset="-120"/>
              </a:rPr>
              <a:t>ทำไมเชื่อว่าทำได้</a:t>
            </a:r>
            <a:endParaRPr lang="en-US" sz="1800" dirty="0"/>
          </a:p>
        </p:txBody>
      </p:sp>
      <p:sp>
        <p:nvSpPr>
          <p:cNvPr id="25" name="Text 23"/>
          <p:cNvSpPr txBox="1"/>
          <p:nvPr/>
        </p:nvSpPr>
        <p:spPr>
          <a:xfrm>
            <a:off x="548640" y="4709160"/>
            <a:ext cx="5212080" cy="1554480"/>
          </a:xfrm>
          <a:prstGeom prst="rect">
            <a:avLst/>
          </a:prstGeom>
          <a:noFill/>
          <a:ln/>
        </p:spPr>
        <p:txBody>
          <a:bodyPr wrap="square" lIns="0" tIns="0" rIns="0" bIns="0" rtlCol="0" anchor="t"/>
          <a:lstStyle/>
          <a:p>
            <a:pPr algn="l" marL="203200" indent="-203200">
              <a:spcAft>
                <a:spcPts val="500"/>
              </a:spcAft>
              <a:buSzPct val="100000"/>
              <a:buChar char="•"/>
            </a:pPr>
            <a:r>
              <a:rPr lang="en-US" sz="1400" dirty="0">
                <a:solidFill>
                  <a:srgbClr val="1F2A23"/>
                </a:solidFill>
                <a:latin typeface="Tahoma" pitchFamily="34" charset="0"/>
                <a:ea typeface="Tahoma" pitchFamily="34" charset="-122"/>
                <a:cs typeface="Tahoma" pitchFamily="34" charset="-120"/>
              </a:rPr>
              <a:t>งานปี 2025 ทำ e-nose ราคาถูกด้วยเซนเซอร์ 4 ตัว ทดสอบกับหมอนทองและกระดุมทองแล้ว</a:t>
            </a:r>
            <a:endParaRPr lang="en-US" sz="1400" dirty="0"/>
          </a:p>
          <a:p>
            <a:pPr algn="l" marL="203200" indent="-203200">
              <a:spcAft>
                <a:spcPts val="500"/>
              </a:spcAft>
              <a:buSzPct val="100000"/>
              <a:buChar char="•"/>
            </a:pPr>
            <a:r>
              <a:rPr lang="en-US" sz="1400" dirty="0">
                <a:solidFill>
                  <a:srgbClr val="1F2A23"/>
                </a:solidFill>
                <a:latin typeface="Tahoma" pitchFamily="34" charset="0"/>
                <a:ea typeface="Tahoma" pitchFamily="34" charset="-122"/>
                <a:cs typeface="Tahoma" pitchFamily="34" charset="-120"/>
              </a:rPr>
              <a:t>ชิ้นส่วนหาซื้อได้จาก RS ไทย, Mouser, DigiKey และ Lazada</a:t>
            </a:r>
            <a:endParaRPr lang="en-US" sz="1400" dirty="0"/>
          </a:p>
          <a:p>
            <a:pPr algn="l" marL="203200" indent="-203200">
              <a:spcAft>
                <a:spcPts val="500"/>
              </a:spcAft>
              <a:buSzPct val="100000"/>
              <a:buChar char="•"/>
            </a:pPr>
            <a:r>
              <a:rPr lang="en-US" sz="1400" dirty="0">
                <a:solidFill>
                  <a:srgbClr val="1F2A23"/>
                </a:solidFill>
                <a:latin typeface="Tahoma" pitchFamily="34" charset="0"/>
                <a:ea typeface="Tahoma" pitchFamily="34" charset="-122"/>
                <a:cs typeface="Tahoma" pitchFamily="34" charset="-120"/>
              </a:rPr>
              <a:t>FlyHash ลองเล่นได้ใน mockup (กลิ่นจำลอง)</a:t>
            </a:r>
            <a:endParaRPr lang="en-US" sz="1400" dirty="0"/>
          </a:p>
        </p:txBody>
      </p:sp>
      <p:sp>
        <p:nvSpPr>
          <p:cNvPr id="26" name="Text 24"/>
          <p:cNvSpPr txBox="1"/>
          <p:nvPr/>
        </p:nvSpPr>
        <p:spPr>
          <a:xfrm>
            <a:off x="6035040" y="4251960"/>
            <a:ext cx="5577840" cy="411480"/>
          </a:xfrm>
          <a:prstGeom prst="rect">
            <a:avLst/>
          </a:prstGeom>
          <a:noFill/>
          <a:ln/>
        </p:spPr>
        <p:txBody>
          <a:bodyPr wrap="square" lIns="0" tIns="0" rIns="0" bIns="0" rtlCol="0" anchor="t"/>
          <a:lstStyle/>
          <a:p>
            <a:pPr algn="l" indent="0" marL="0">
              <a:buNone/>
            </a:pPr>
            <a:r>
              <a:rPr lang="en-US" sz="1800" b="1" dirty="0">
                <a:solidFill>
                  <a:srgbClr val="6E4FB8"/>
                </a:solidFill>
                <a:latin typeface="Tahoma" pitchFamily="34" charset="0"/>
                <a:ea typeface="Tahoma" pitchFamily="34" charset="-122"/>
                <a:cs typeface="Tahoma" pitchFamily="34" charset="-120"/>
              </a:rPr>
              <a:t>แผนทดลอง</a:t>
            </a:r>
            <a:endParaRPr lang="en-US" sz="1800" dirty="0"/>
          </a:p>
        </p:txBody>
      </p:sp>
      <p:sp>
        <p:nvSpPr>
          <p:cNvPr id="27" name="Text 25"/>
          <p:cNvSpPr txBox="1"/>
          <p:nvPr/>
        </p:nvSpPr>
        <p:spPr>
          <a:xfrm>
            <a:off x="6035040" y="4709160"/>
            <a:ext cx="5605272" cy="1600200"/>
          </a:xfrm>
          <a:prstGeom prst="rect">
            <a:avLst/>
          </a:prstGeom>
          <a:noFill/>
          <a:ln/>
        </p:spPr>
        <p:txBody>
          <a:bodyPr wrap="square" lIns="0" tIns="0" rIns="0" bIns="0" rtlCol="0" anchor="t"/>
          <a:lstStyle/>
          <a:p>
            <a:pPr algn="l" marL="203200" indent="-203200">
              <a:spcAft>
                <a:spcPts val="300"/>
              </a:spcAft>
              <a:buSzPct val="100000"/>
              <a:buChar char="•"/>
            </a:pPr>
            <a:r>
              <a:rPr lang="en-US" sz="1400" dirty="0">
                <a:solidFill>
                  <a:srgbClr val="1F2A23"/>
                </a:solidFill>
                <a:latin typeface="Tahoma" pitchFamily="34" charset="0"/>
                <a:ea typeface="Tahoma" pitchFamily="34" charset="-122"/>
                <a:cs typeface="Tahoma" pitchFamily="34" charset="-120"/>
              </a:rPr>
              <a:t>เผาฮีตเตอร์เซนเซอร์ให้เส้นฐานนิ่ง (v5: 48 ชม.)</a:t>
            </a:r>
            <a:endParaRPr lang="en-US" sz="1400" dirty="0"/>
          </a:p>
          <a:p>
            <a:pPr algn="l" marL="203200" indent="-203200">
              <a:spcAft>
                <a:spcPts val="300"/>
              </a:spcAft>
              <a:buSzPct val="100000"/>
              <a:buChar char="•"/>
            </a:pPr>
            <a:r>
              <a:rPr lang="en-US" sz="1400" dirty="0">
                <a:solidFill>
                  <a:srgbClr val="1F2A23"/>
                </a:solidFill>
                <a:latin typeface="Tahoma" pitchFamily="34" charset="0"/>
                <a:ea typeface="Tahoma" pitchFamily="34" charset="-122"/>
                <a:cs typeface="Tahoma" pitchFamily="34" charset="-120"/>
              </a:rPr>
              <a:t>ทดสอบกลิ่นง่ายก่อน: เอทานอล กล้วย มะม่วง</a:t>
            </a:r>
            <a:endParaRPr lang="en-US" sz="1400" dirty="0"/>
          </a:p>
          <a:p>
            <a:pPr algn="l" marL="203200" indent="-203200">
              <a:spcAft>
                <a:spcPts val="300"/>
              </a:spcAft>
              <a:buSzPct val="100000"/>
              <a:buChar char="•"/>
            </a:pPr>
            <a:r>
              <a:rPr lang="en-US" sz="1400" dirty="0">
                <a:solidFill>
                  <a:srgbClr val="1F2A23"/>
                </a:solidFill>
                <a:latin typeface="Tahoma" pitchFamily="34" charset="0"/>
                <a:ea typeface="Tahoma" pitchFamily="34" charset="-122"/>
                <a:cs typeface="Tahoma" pitchFamily="34" charset="-120"/>
              </a:rPr>
              <a:t>ดมทุเรียนลูกเดิมทุกวันจนสุกเกิน แบ่ง 3 คลาส</a:t>
            </a:r>
            <a:endParaRPr lang="en-US" sz="1400" dirty="0"/>
          </a:p>
          <a:p>
            <a:pPr algn="l" marL="203200" indent="-203200">
              <a:spcAft>
                <a:spcPts val="300"/>
              </a:spcAft>
              <a:buSzPct val="100000"/>
              <a:buChar char="•"/>
            </a:pPr>
            <a:r>
              <a:rPr lang="en-US" sz="1400" dirty="0">
                <a:solidFill>
                  <a:srgbClr val="1F2A23"/>
                </a:solidFill>
                <a:latin typeface="Tahoma" pitchFamily="34" charset="0"/>
                <a:ea typeface="Tahoma" pitchFamily="34" charset="-122"/>
                <a:cs typeface="Tahoma" pitchFamily="34" charset="-120"/>
              </a:rPr>
              <a:t>เทียบ 2 ชุดเซนเซอร์จากผลไม้ชุดเดียวกัน ด้วย cross-validation เดียวกัน</a:t>
            </a:r>
            <a:endParaRPr lang="en-US" sz="1400" dirty="0"/>
          </a:p>
          <a:p>
            <a:pPr algn="l" marL="203200" indent="-203200">
              <a:spcAft>
                <a:spcPts val="300"/>
              </a:spcAft>
              <a:buSzPct val="100000"/>
              <a:buChar char="•"/>
            </a:pPr>
            <a:r>
              <a:rPr lang="en-US" sz="1400" dirty="0">
                <a:solidFill>
                  <a:srgbClr val="1F2A23"/>
                </a:solidFill>
                <a:latin typeface="Tahoma" pitchFamily="34" charset="0"/>
                <a:ea typeface="Tahoma" pitchFamily="34" charset="-122"/>
                <a:cs typeface="Tahoma" pitchFamily="34" charset="-120"/>
              </a:rPr>
              <a:t>FlyHash บน Python ก่อน แล้วค่อยลง ESP32</a:t>
            </a:r>
            <a:endParaRPr lang="en-US" sz="1400" dirty="0"/>
          </a:p>
        </p:txBody>
      </p:sp>
      <p:sp>
        <p:nvSpPr>
          <p:cNvPr id="28" name="Text 26"/>
          <p:cNvSpPr txBox="1"/>
          <p:nvPr/>
        </p:nvSpPr>
        <p:spPr>
          <a:xfrm>
            <a:off x="548640" y="6355080"/>
            <a:ext cx="10424160" cy="27432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ที่มา: PeerJ / PMC (2025), RS Thailand, Mouser, DigiKey, Lazada · ระดับ B ยังต้องขอใบเสนอราคา</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งบประมาณ ชุด A: 2 แบบ</a:t>
            </a:r>
            <a:endParaRPr lang="en-US" sz="3000" dirty="0"/>
          </a:p>
        </p:txBody>
      </p:sp>
      <p:sp>
        <p:nvSpPr>
          <p:cNvPr id="3" name="Shape 1"/>
          <p:cNvSpPr/>
          <p:nvPr/>
        </p:nvSpPr>
        <p:spPr>
          <a:xfrm>
            <a:off x="548640" y="1325880"/>
            <a:ext cx="5285232" cy="3063240"/>
          </a:xfrm>
          <a:prstGeom prst="roundRect">
            <a:avLst>
              <a:gd name="adj" fmla="val 5373"/>
            </a:avLst>
          </a:prstGeom>
          <a:solidFill>
            <a:srgbClr val="EDF2E8"/>
          </a:solidFill>
          <a:ln w="12700">
            <a:solidFill>
              <a:srgbClr val="D5DFCB"/>
            </a:solidFill>
            <a:prstDash val="solid"/>
          </a:ln>
        </p:spPr>
      </p:sp>
      <p:sp>
        <p:nvSpPr>
          <p:cNvPr id="4" name="Text 2"/>
          <p:cNvSpPr txBox="1"/>
          <p:nvPr/>
        </p:nvSpPr>
        <p:spPr>
          <a:xfrm>
            <a:off x="822960" y="1417320"/>
            <a:ext cx="3017520" cy="411480"/>
          </a:xfrm>
          <a:prstGeom prst="rect">
            <a:avLst/>
          </a:prstGeom>
          <a:noFill/>
          <a:ln/>
        </p:spPr>
        <p:txBody>
          <a:bodyPr wrap="square" lIns="0" tIns="0" rIns="0" bIns="0" rtlCol="0" anchor="t"/>
          <a:lstStyle/>
          <a:p>
            <a:pPr algn="l" indent="0" marL="0">
              <a:buNone/>
            </a:pPr>
            <a:r>
              <a:rPr lang="en-US" sz="2000" b="1" dirty="0">
                <a:solidFill>
                  <a:srgbClr val="17301F"/>
                </a:solidFill>
                <a:latin typeface="Tahoma" pitchFamily="34" charset="0"/>
                <a:ea typeface="Tahoma" pitchFamily="34" charset="-122"/>
                <a:cs typeface="Tahoma" pitchFamily="34" charset="-120"/>
              </a:rPr>
              <a:t>ชุดเดิม</a:t>
            </a:r>
            <a:endParaRPr lang="en-US" sz="2000" dirty="0"/>
          </a:p>
        </p:txBody>
      </p:sp>
      <p:sp>
        <p:nvSpPr>
          <p:cNvPr id="5" name="Text 3"/>
          <p:cNvSpPr txBox="1"/>
          <p:nvPr/>
        </p:nvSpPr>
        <p:spPr>
          <a:xfrm>
            <a:off x="822960" y="1828800"/>
            <a:ext cx="4754880" cy="36576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TGS2602 + TGS2603 + BME688 ×2</a:t>
            </a:r>
            <a:endParaRPr lang="en-US" sz="1400" dirty="0"/>
          </a:p>
        </p:txBody>
      </p:sp>
      <p:sp>
        <p:nvSpPr>
          <p:cNvPr id="6" name="Text 4"/>
          <p:cNvSpPr txBox="1"/>
          <p:nvPr/>
        </p:nvSpPr>
        <p:spPr>
          <a:xfrm>
            <a:off x="822960" y="2194560"/>
            <a:ext cx="4754880" cy="777240"/>
          </a:xfrm>
          <a:prstGeom prst="rect">
            <a:avLst/>
          </a:prstGeom>
          <a:noFill/>
          <a:ln/>
        </p:spPr>
        <p:txBody>
          <a:bodyPr wrap="square" lIns="0" tIns="0" rIns="0" bIns="0" rtlCol="0" anchor="ctr"/>
          <a:lstStyle/>
          <a:p>
            <a:pPr algn="l" indent="0" marL="0">
              <a:buNone/>
            </a:pPr>
            <a:r>
              <a:rPr lang="en-US" sz="3600" b="1" dirty="0">
                <a:solidFill>
                  <a:srgbClr val="2E6B3E"/>
                </a:solidFill>
                <a:latin typeface="Tahoma" pitchFamily="34" charset="0"/>
                <a:ea typeface="Tahoma" pitchFamily="34" charset="-122"/>
                <a:cs typeface="Tahoma" pitchFamily="34" charset="-120"/>
              </a:rPr>
              <a:t>≈ ฿3,500</a:t>
            </a:r>
            <a:endParaRPr lang="en-US" sz="3600" dirty="0"/>
          </a:p>
        </p:txBody>
      </p:sp>
      <p:sp>
        <p:nvSpPr>
          <p:cNvPr id="7" name="Shape 5"/>
          <p:cNvSpPr/>
          <p:nvPr/>
        </p:nvSpPr>
        <p:spPr>
          <a:xfrm>
            <a:off x="822960" y="3063240"/>
            <a:ext cx="2649712" cy="292608"/>
          </a:xfrm>
          <a:prstGeom prst="rect">
            <a:avLst/>
          </a:prstGeom>
          <a:solidFill>
            <a:srgbClr val="2E7D4F"/>
          </a:solidFill>
          <a:ln/>
        </p:spPr>
      </p:sp>
      <p:sp>
        <p:nvSpPr>
          <p:cNvPr id="8" name="Shape 6"/>
          <p:cNvSpPr/>
          <p:nvPr/>
        </p:nvSpPr>
        <p:spPr>
          <a:xfrm>
            <a:off x="3472672" y="3063240"/>
            <a:ext cx="1922288" cy="292608"/>
          </a:xfrm>
          <a:prstGeom prst="rect">
            <a:avLst/>
          </a:prstGeom>
          <a:solidFill>
            <a:srgbClr val="E3A21A"/>
          </a:solidFill>
          <a:ln/>
        </p:spPr>
      </p:sp>
      <p:sp>
        <p:nvSpPr>
          <p:cNvPr id="9" name="Text 7"/>
          <p:cNvSpPr txBox="1"/>
          <p:nvPr/>
        </p:nvSpPr>
        <p:spPr>
          <a:xfrm>
            <a:off x="822960" y="3474720"/>
            <a:ext cx="4754880" cy="822960"/>
          </a:xfrm>
          <a:prstGeom prst="rect">
            <a:avLst/>
          </a:prstGeom>
          <a:noFill/>
          <a:ln/>
        </p:spPr>
        <p:txBody>
          <a:bodyPr wrap="square" lIns="0" tIns="0" rIns="0" bIns="0" rtlCol="0" anchor="t"/>
          <a:lstStyle/>
          <a:p>
            <a:pPr algn="l" indent="0" marL="0">
              <a:buNone/>
            </a:pPr>
            <a:r>
              <a:rPr lang="en-US" sz="1200" dirty="0">
                <a:solidFill>
                  <a:srgbClr val="1F2A23"/>
                </a:solidFill>
                <a:latin typeface="Tahoma" pitchFamily="34" charset="0"/>
                <a:ea typeface="Tahoma" pitchFamily="34" charset="-122"/>
                <a:cs typeface="Tahoma" pitchFamily="34" charset="-120"/>
              </a:rPr>
              <a:t>ราคายืนยันแล้ว ฿2,039 (58%) · ราคายังต้องยืนยัน ฿1,479 (42%)</a:t>
            </a:r>
            <a:endParaRPr lang="en-US" sz="1200" dirty="0"/>
          </a:p>
        </p:txBody>
      </p:sp>
      <p:sp>
        <p:nvSpPr>
          <p:cNvPr id="10" name="Shape 8"/>
          <p:cNvSpPr/>
          <p:nvPr/>
        </p:nvSpPr>
        <p:spPr>
          <a:xfrm>
            <a:off x="6355080" y="1325880"/>
            <a:ext cx="5285232" cy="3063240"/>
          </a:xfrm>
          <a:prstGeom prst="roundRect">
            <a:avLst>
              <a:gd name="adj" fmla="val 5373"/>
            </a:avLst>
          </a:prstGeom>
          <a:solidFill>
            <a:srgbClr val="EDF2E8"/>
          </a:solidFill>
          <a:ln w="12700">
            <a:solidFill>
              <a:srgbClr val="D5DFCB"/>
            </a:solidFill>
            <a:prstDash val="solid"/>
          </a:ln>
        </p:spPr>
      </p:sp>
      <p:sp>
        <p:nvSpPr>
          <p:cNvPr id="11" name="Text 9"/>
          <p:cNvSpPr txBox="1"/>
          <p:nvPr/>
        </p:nvSpPr>
        <p:spPr>
          <a:xfrm>
            <a:off x="6629400" y="1417320"/>
            <a:ext cx="3017520" cy="411480"/>
          </a:xfrm>
          <a:prstGeom prst="rect">
            <a:avLst/>
          </a:prstGeom>
          <a:noFill/>
          <a:ln/>
        </p:spPr>
        <p:txBody>
          <a:bodyPr wrap="square" lIns="0" tIns="0" rIns="0" bIns="0" rtlCol="0" anchor="t"/>
          <a:lstStyle/>
          <a:p>
            <a:pPr algn="l" indent="0" marL="0">
              <a:buNone/>
            </a:pPr>
            <a:r>
              <a:rPr lang="en-US" sz="2000" b="1" dirty="0">
                <a:solidFill>
                  <a:srgbClr val="17301F"/>
                </a:solidFill>
                <a:latin typeface="Tahoma" pitchFamily="34" charset="0"/>
                <a:ea typeface="Tahoma" pitchFamily="34" charset="-122"/>
                <a:cs typeface="Tahoma" pitchFamily="34" charset="-120"/>
              </a:rPr>
              <a:t>ชุดประหยัด</a:t>
            </a:r>
            <a:endParaRPr lang="en-US" sz="2000" dirty="0"/>
          </a:p>
        </p:txBody>
      </p:sp>
      <p:sp>
        <p:nvSpPr>
          <p:cNvPr id="12" name="Text 10"/>
          <p:cNvSpPr txBox="1"/>
          <p:nvPr/>
        </p:nvSpPr>
        <p:spPr>
          <a:xfrm>
            <a:off x="6629400" y="1828800"/>
            <a:ext cx="4754880" cy="365760"/>
          </a:xfrm>
          <a:prstGeom prst="rect">
            <a:avLst/>
          </a:prstGeom>
          <a:noFill/>
          <a:ln/>
        </p:spPr>
        <p:txBody>
          <a:bodyPr wrap="square" lIns="0" tIns="0" rIns="0" bIns="0" rtlCol="0" anchor="t"/>
          <a:lstStyle/>
          <a:p>
            <a:pPr algn="l" indent="0" marL="0">
              <a:buNone/>
            </a:pPr>
            <a:r>
              <a:rPr lang="en-US" sz="1400" dirty="0">
                <a:solidFill>
                  <a:srgbClr val="56665B"/>
                </a:solidFill>
                <a:latin typeface="Tahoma" pitchFamily="34" charset="0"/>
                <a:ea typeface="Tahoma" pitchFamily="34" charset="-122"/>
                <a:cs typeface="Tahoma" pitchFamily="34" charset="-120"/>
              </a:rPr>
              <a:t>MQ-3 + MQ-135 + BME680 ×1</a:t>
            </a:r>
            <a:endParaRPr lang="en-US" sz="1400" dirty="0"/>
          </a:p>
        </p:txBody>
      </p:sp>
      <p:sp>
        <p:nvSpPr>
          <p:cNvPr id="13" name="Text 11"/>
          <p:cNvSpPr txBox="1"/>
          <p:nvPr/>
        </p:nvSpPr>
        <p:spPr>
          <a:xfrm>
            <a:off x="6629400" y="2194560"/>
            <a:ext cx="4754880" cy="777240"/>
          </a:xfrm>
          <a:prstGeom prst="rect">
            <a:avLst/>
          </a:prstGeom>
          <a:noFill/>
          <a:ln/>
        </p:spPr>
        <p:txBody>
          <a:bodyPr wrap="square" lIns="0" tIns="0" rIns="0" bIns="0" rtlCol="0" anchor="ctr"/>
          <a:lstStyle/>
          <a:p>
            <a:pPr algn="l" indent="0" marL="0">
              <a:buNone/>
            </a:pPr>
            <a:r>
              <a:rPr lang="en-US" sz="3600" b="1" dirty="0">
                <a:solidFill>
                  <a:srgbClr val="7A4F00"/>
                </a:solidFill>
                <a:latin typeface="Tahoma" pitchFamily="34" charset="0"/>
                <a:ea typeface="Tahoma" pitchFamily="34" charset="-122"/>
                <a:cs typeface="Tahoma" pitchFamily="34" charset="-120"/>
              </a:rPr>
              <a:t>≈ ฿1,400–2,100</a:t>
            </a:r>
            <a:endParaRPr lang="en-US" sz="3600" dirty="0"/>
          </a:p>
        </p:txBody>
      </p:sp>
      <p:sp>
        <p:nvSpPr>
          <p:cNvPr id="14" name="Shape 12"/>
          <p:cNvSpPr/>
          <p:nvPr/>
        </p:nvSpPr>
        <p:spPr>
          <a:xfrm>
            <a:off x="6629400" y="3063240"/>
            <a:ext cx="485598" cy="292608"/>
          </a:xfrm>
          <a:prstGeom prst="rect">
            <a:avLst/>
          </a:prstGeom>
          <a:solidFill>
            <a:srgbClr val="2E7D4F"/>
          </a:solidFill>
          <a:ln/>
        </p:spPr>
      </p:sp>
      <p:sp>
        <p:nvSpPr>
          <p:cNvPr id="15" name="Shape 13"/>
          <p:cNvSpPr/>
          <p:nvPr/>
        </p:nvSpPr>
        <p:spPr>
          <a:xfrm>
            <a:off x="7114998" y="3063240"/>
            <a:ext cx="1313991" cy="292608"/>
          </a:xfrm>
          <a:prstGeom prst="rect">
            <a:avLst/>
          </a:prstGeom>
          <a:solidFill>
            <a:srgbClr val="E3A21A"/>
          </a:solidFill>
          <a:ln/>
        </p:spPr>
      </p:sp>
      <p:sp>
        <p:nvSpPr>
          <p:cNvPr id="16" name="Shape 14"/>
          <p:cNvSpPr/>
          <p:nvPr/>
        </p:nvSpPr>
        <p:spPr>
          <a:xfrm>
            <a:off x="8428989" y="3063240"/>
            <a:ext cx="956602" cy="292608"/>
          </a:xfrm>
          <a:prstGeom prst="rect">
            <a:avLst/>
          </a:prstGeom>
          <a:solidFill>
            <a:srgbClr val="F3D58A"/>
          </a:solidFill>
          <a:ln/>
        </p:spPr>
      </p:sp>
      <p:sp>
        <p:nvSpPr>
          <p:cNvPr id="17" name="Text 15"/>
          <p:cNvSpPr txBox="1"/>
          <p:nvPr/>
        </p:nvSpPr>
        <p:spPr>
          <a:xfrm>
            <a:off x="6629400" y="3474720"/>
            <a:ext cx="4754880" cy="822960"/>
          </a:xfrm>
          <a:prstGeom prst="rect">
            <a:avLst/>
          </a:prstGeom>
          <a:noFill/>
          <a:ln/>
        </p:spPr>
        <p:txBody>
          <a:bodyPr wrap="square" lIns="0" tIns="0" rIns="0" bIns="0" rtlCol="0" anchor="t"/>
          <a:lstStyle/>
          <a:p>
            <a:pPr algn="l" indent="0" marL="0">
              <a:buNone/>
            </a:pPr>
            <a:r>
              <a:rPr lang="en-US" sz="1200" dirty="0">
                <a:solidFill>
                  <a:srgbClr val="1F2A23"/>
                </a:solidFill>
                <a:latin typeface="Tahoma" pitchFamily="34" charset="0"/>
                <a:ea typeface="Tahoma" pitchFamily="34" charset="-122"/>
                <a:cs typeface="Tahoma" pitchFamily="34" charset="-120"/>
              </a:rPr>
              <a:t>ที่ BME680 ฿342: ยืนยันแล้ว ฿374 (27%) · ยังต้องยืนยัน ฿1,011 (73%) · ที่ ฿1,078 ≈ ฿2,121</a:t>
            </a:r>
            <a:endParaRPr lang="en-US" sz="1200" dirty="0"/>
          </a:p>
        </p:txBody>
      </p:sp>
      <p:sp>
        <p:nvSpPr>
          <p:cNvPr id="18" name="Shape 16"/>
          <p:cNvSpPr/>
          <p:nvPr/>
        </p:nvSpPr>
        <p:spPr>
          <a:xfrm>
            <a:off x="8458200" y="1417320"/>
            <a:ext cx="2926080" cy="365760"/>
          </a:xfrm>
          <a:prstGeom prst="roundRect">
            <a:avLst>
              <a:gd name="adj" fmla="val 50000"/>
            </a:avLst>
          </a:prstGeom>
          <a:solidFill>
            <a:srgbClr val="F5A742"/>
          </a:solidFill>
          <a:ln/>
        </p:spPr>
      </p:sp>
      <p:sp>
        <p:nvSpPr>
          <p:cNvPr id="19" name="Text 17"/>
          <p:cNvSpPr txBox="1"/>
          <p:nvPr/>
        </p:nvSpPr>
        <p:spPr>
          <a:xfrm>
            <a:off x="8458200" y="1417320"/>
            <a:ext cx="2926080" cy="365760"/>
          </a:xfrm>
          <a:prstGeom prst="rect">
            <a:avLst/>
          </a:prstGeom>
          <a:noFill/>
          <a:ln/>
        </p:spPr>
        <p:txBody>
          <a:bodyPr wrap="square" lIns="0" tIns="0" rIns="0" bIns="0" rtlCol="0" anchor="ctr"/>
          <a:lstStyle/>
          <a:p>
            <a:pPr algn="ctr" indent="0" marL="0">
              <a:buNone/>
            </a:pPr>
            <a:r>
              <a:rPr lang="en-US" sz="1400" b="1" dirty="0">
                <a:solidFill>
                  <a:srgbClr val="17301F"/>
                </a:solidFill>
                <a:latin typeface="Tahoma" pitchFamily="34" charset="0"/>
                <a:ea typeface="Tahoma" pitchFamily="34" charset="-122"/>
                <a:cs typeface="Tahoma" pitchFamily="34" charset="-120"/>
              </a:rPr>
              <a:t>ถูกกว่า ≈ ฿1,400–2,100</a:t>
            </a:r>
            <a:endParaRPr lang="en-US" sz="1400" dirty="0"/>
          </a:p>
        </p:txBody>
      </p:sp>
      <p:sp>
        <p:nvSpPr>
          <p:cNvPr id="20" name="Shape 18"/>
          <p:cNvSpPr/>
          <p:nvPr/>
        </p:nvSpPr>
        <p:spPr>
          <a:xfrm>
            <a:off x="548640" y="4572000"/>
            <a:ext cx="6675120" cy="1691640"/>
          </a:xfrm>
          <a:prstGeom prst="roundRect">
            <a:avLst>
              <a:gd name="adj" fmla="val 9730"/>
            </a:avLst>
          </a:prstGeom>
          <a:solidFill>
            <a:srgbClr val="FFF3D4"/>
          </a:solidFill>
          <a:ln/>
        </p:spPr>
      </p:sp>
      <p:sp>
        <p:nvSpPr>
          <p:cNvPr id="21" name="Text 19"/>
          <p:cNvSpPr txBox="1"/>
          <p:nvPr/>
        </p:nvSpPr>
        <p:spPr>
          <a:xfrm>
            <a:off x="822960" y="4572000"/>
            <a:ext cx="6217920" cy="1691640"/>
          </a:xfrm>
          <a:prstGeom prst="rect">
            <a:avLst/>
          </a:prstGeom>
          <a:noFill/>
          <a:ln/>
        </p:spPr>
        <p:txBody>
          <a:bodyPr wrap="square" lIns="0" tIns="0" rIns="0" bIns="0" rtlCol="0" anchor="ctr"/>
          <a:lstStyle/>
          <a:p>
            <a:pPr algn="l" indent="0" marL="0">
              <a:spcAft>
                <a:spcPts val="300"/>
              </a:spcAft>
              <a:buNone/>
            </a:pPr>
            <a:r>
              <a:rPr lang="en-US" sz="1400" b="1" dirty="0">
                <a:solidFill>
                  <a:srgbClr val="17301F"/>
                </a:solidFill>
                <a:latin typeface="Tahoma" pitchFamily="34" charset="0"/>
                <a:ea typeface="Tahoma" pitchFamily="34" charset="-122"/>
                <a:cs typeface="Tahoma" pitchFamily="34" charset="-120"/>
              </a:rPr>
              <a:t>ชุดประหยัดเสียอะไร</a:t>
            </a:r>
            <a:endParaRPr lang="en-US" sz="1400" dirty="0"/>
          </a:p>
          <a:p>
            <a:pPr algn="l" indent="0" marL="0">
              <a:spcAft>
                <a:spcPts val="300"/>
              </a:spcAft>
              <a:buNone/>
            </a:pPr>
            <a:r>
              <a:rPr lang="en-US" sz="1400" dirty="0">
                <a:solidFill>
                  <a:srgbClr val="17301F"/>
                </a:solidFill>
                <a:latin typeface="Tahoma" pitchFamily="34" charset="0"/>
                <a:ea typeface="Tahoma" pitchFamily="34" charset="-122"/>
                <a:cs typeface="Tahoma" pitchFamily="34" charset="-120"/>
              </a:rPr>
              <a:t>ไม่มี TGS2603 (อมีน/กำมะถัน) และไม่มีตัวอ้างอิงอากาศ ต้องแก้วงจร (ข้อเสนอ ยังไม่มีคนตรวจ)</a:t>
            </a:r>
            <a:endParaRPr lang="en-US" sz="1400" dirty="0"/>
          </a:p>
          <a:p>
            <a:pPr algn="l" indent="0" marL="0">
              <a:spcAft>
                <a:spcPts val="300"/>
              </a:spcAft>
              <a:buNone/>
            </a:pPr>
            <a:r>
              <a:rPr lang="en-US" sz="1400" dirty="0">
                <a:solidFill>
                  <a:srgbClr val="17301F"/>
                </a:solidFill>
                <a:latin typeface="Tahoma" pitchFamily="34" charset="0"/>
                <a:ea typeface="Tahoma" pitchFamily="34" charset="-122"/>
                <a:cs typeface="Tahoma" pitchFamily="34" charset="-120"/>
              </a:rPr>
              <a:t>Chiu 2025 คัด MQ ออกแล้วเลือก Grove GM — ชุดประหยัดเป็นสมมติฐานที่ต้องทดสอบ ตอบเป็นตัวเลขความแม่นยำที่ลดลงไม่ได้</a:t>
            </a:r>
            <a:endParaRPr lang="en-US" sz="1400" dirty="0"/>
          </a:p>
        </p:txBody>
      </p:sp>
      <p:sp>
        <p:nvSpPr>
          <p:cNvPr id="22" name="Shape 20"/>
          <p:cNvSpPr/>
          <p:nvPr/>
        </p:nvSpPr>
        <p:spPr>
          <a:xfrm>
            <a:off x="7452360" y="4572000"/>
            <a:ext cx="4187952" cy="1691640"/>
          </a:xfrm>
          <a:prstGeom prst="roundRect">
            <a:avLst>
              <a:gd name="adj" fmla="val 9730"/>
            </a:avLst>
          </a:prstGeom>
          <a:solidFill>
            <a:srgbClr val="EDF2E8"/>
          </a:solidFill>
          <a:ln w="12700">
            <a:solidFill>
              <a:srgbClr val="D5DFCB"/>
            </a:solidFill>
            <a:prstDash val="solid"/>
          </a:ln>
        </p:spPr>
      </p:sp>
      <p:sp>
        <p:nvSpPr>
          <p:cNvPr id="23" name="Text 21"/>
          <p:cNvSpPr txBox="1"/>
          <p:nvPr/>
        </p:nvSpPr>
        <p:spPr>
          <a:xfrm>
            <a:off x="7680960" y="4572000"/>
            <a:ext cx="3749040" cy="1691640"/>
          </a:xfrm>
          <a:prstGeom prst="rect">
            <a:avLst/>
          </a:prstGeom>
          <a:noFill/>
          <a:ln/>
        </p:spPr>
        <p:txBody>
          <a:bodyPr wrap="square" lIns="0" tIns="0" rIns="0" bIns="0" rtlCol="0" anchor="ctr"/>
          <a:lstStyle/>
          <a:p>
            <a:pPr algn="l" indent="0" marL="0">
              <a:spcAft>
                <a:spcPts val="300"/>
              </a:spcAft>
              <a:buNone/>
            </a:pPr>
            <a:r>
              <a:rPr lang="en-US" sz="1400" dirty="0">
                <a:solidFill>
                  <a:srgbClr val="1F2A23"/>
                </a:solidFill>
                <a:latin typeface="Tahoma" pitchFamily="34" charset="0"/>
                <a:ea typeface="Tahoma" pitchFamily="34" charset="-122"/>
                <a:cs typeface="Tahoma" pitchFamily="34" charset="-120"/>
              </a:rPr>
              <a:t>ใช้ ESP8266 ที่มีอยู่ (ESP32-S3 ฿200 ไม่รวม)</a:t>
            </a:r>
            <a:endParaRPr lang="en-US" sz="1400" dirty="0"/>
          </a:p>
          <a:p>
            <a:pPr algn="l" indent="0" marL="0">
              <a:spcAft>
                <a:spcPts val="300"/>
              </a:spcAft>
              <a:buNone/>
            </a:pPr>
            <a:r>
              <a:rPr lang="en-US" sz="1400" dirty="0">
                <a:solidFill>
                  <a:srgbClr val="1F2A23"/>
                </a:solidFill>
                <a:latin typeface="Tahoma" pitchFamily="34" charset="0"/>
                <a:ea typeface="Tahoma" pitchFamily="34" charset="-122"/>
                <a:cs typeface="Tahoma" pitchFamily="34" charset="-120"/>
              </a:rPr>
              <a:t>ไม่รวมค่าส่ง ไส้กรองคาร์บอน กล่อง ท่อ PTFE</a:t>
            </a:r>
            <a:endParaRPr lang="en-US" sz="1400" dirty="0"/>
          </a:p>
          <a:p>
            <a:pPr algn="l" indent="0" marL="0">
              <a:spcAft>
                <a:spcPts val="300"/>
              </a:spcAft>
              <a:buNone/>
            </a:pPr>
            <a:r>
              <a:rPr lang="en-US" sz="1400" dirty="0">
                <a:solidFill>
                  <a:srgbClr val="1F2A23"/>
                </a:solidFill>
                <a:latin typeface="Tahoma" pitchFamily="34" charset="0"/>
                <a:ea typeface="Tahoma" pitchFamily="34" charset="-122"/>
                <a:cs typeface="Tahoma" pitchFamily="34" charset="-120"/>
              </a:rPr>
              <a:t>ราคา Lazada / allnewstep 26 ต.ค. 2026 เปลี่ยนได้</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Business Model Canvas</a:t>
            </a:r>
            <a:endParaRPr lang="en-US" sz="3000" dirty="0"/>
          </a:p>
        </p:txBody>
      </p:sp>
      <p:sp>
        <p:nvSpPr>
          <p:cNvPr id="3" name="Shape 1"/>
          <p:cNvSpPr/>
          <p:nvPr/>
        </p:nvSpPr>
        <p:spPr>
          <a:xfrm>
            <a:off x="548640" y="1234440"/>
            <a:ext cx="1920240" cy="3520440"/>
          </a:xfrm>
          <a:prstGeom prst="roundRect">
            <a:avLst>
              <a:gd name="adj" fmla="val 5714"/>
            </a:avLst>
          </a:prstGeom>
          <a:solidFill>
            <a:srgbClr val="EDF2E8"/>
          </a:solidFill>
          <a:ln w="12700">
            <a:solidFill>
              <a:srgbClr val="D5DFCB"/>
            </a:solidFill>
            <a:prstDash val="solid"/>
          </a:ln>
        </p:spPr>
      </p:sp>
      <p:sp>
        <p:nvSpPr>
          <p:cNvPr id="4" name="Text 2"/>
          <p:cNvSpPr txBox="1"/>
          <p:nvPr/>
        </p:nvSpPr>
        <p:spPr>
          <a:xfrm>
            <a:off x="685800" y="1307592"/>
            <a:ext cx="1645920" cy="365760"/>
          </a:xfrm>
          <a:prstGeom prst="rect">
            <a:avLst/>
          </a:prstGeom>
          <a:noFill/>
          <a:ln/>
        </p:spPr>
        <p:txBody>
          <a:bodyPr wrap="square" lIns="0" tIns="0" rIns="0" bIns="0" rtlCol="0" anchor="t"/>
          <a:lstStyle/>
          <a:p>
            <a:pPr algn="l" indent="0" marL="0">
              <a:buNone/>
            </a:pPr>
            <a:r>
              <a:rPr lang="en-US" sz="1400" b="1" dirty="0">
                <a:solidFill>
                  <a:srgbClr val="2E6B3E"/>
                </a:solidFill>
                <a:latin typeface="Tahoma" pitchFamily="34" charset="0"/>
                <a:ea typeface="Tahoma" pitchFamily="34" charset="-122"/>
                <a:cs typeface="Tahoma" pitchFamily="34" charset="-120"/>
              </a:rPr>
              <a:t>พันธมิตรหลัก</a:t>
            </a:r>
            <a:endParaRPr lang="en-US" sz="1400" dirty="0"/>
          </a:p>
        </p:txBody>
      </p:sp>
      <p:sp>
        <p:nvSpPr>
          <p:cNvPr id="5" name="Text 3"/>
          <p:cNvSpPr txBox="1"/>
          <p:nvPr/>
        </p:nvSpPr>
        <p:spPr>
          <a:xfrm>
            <a:off x="685800" y="1737360"/>
            <a:ext cx="1645920" cy="297180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สำนักงานเกษตรจังหวัด</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ล้งที่มีฝ่าย QC (จุดเก็บข้อมูล)</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ผู้จำหน่ายเซนเซอร์ (RS, Mouser, DigiKey)</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แหล่งทุน NIA, depa</a:t>
            </a:r>
            <a:endParaRPr lang="en-US" sz="1300" dirty="0"/>
          </a:p>
        </p:txBody>
      </p:sp>
      <p:sp>
        <p:nvSpPr>
          <p:cNvPr id="6" name="Shape 4"/>
          <p:cNvSpPr/>
          <p:nvPr/>
        </p:nvSpPr>
        <p:spPr>
          <a:xfrm>
            <a:off x="2551176" y="1234440"/>
            <a:ext cx="2331720" cy="1737360"/>
          </a:xfrm>
          <a:prstGeom prst="roundRect">
            <a:avLst>
              <a:gd name="adj" fmla="val 6316"/>
            </a:avLst>
          </a:prstGeom>
          <a:solidFill>
            <a:srgbClr val="EDF2E8"/>
          </a:solidFill>
          <a:ln w="12700">
            <a:solidFill>
              <a:srgbClr val="D5DFCB"/>
            </a:solidFill>
            <a:prstDash val="solid"/>
          </a:ln>
        </p:spPr>
      </p:sp>
      <p:sp>
        <p:nvSpPr>
          <p:cNvPr id="7" name="Text 5"/>
          <p:cNvSpPr txBox="1"/>
          <p:nvPr/>
        </p:nvSpPr>
        <p:spPr>
          <a:xfrm>
            <a:off x="2688336" y="1307592"/>
            <a:ext cx="2057400" cy="365760"/>
          </a:xfrm>
          <a:prstGeom prst="rect">
            <a:avLst/>
          </a:prstGeom>
          <a:noFill/>
          <a:ln/>
        </p:spPr>
        <p:txBody>
          <a:bodyPr wrap="square" lIns="0" tIns="0" rIns="0" bIns="0" rtlCol="0" anchor="t"/>
          <a:lstStyle/>
          <a:p>
            <a:pPr algn="l" indent="0" marL="0">
              <a:buNone/>
            </a:pPr>
            <a:r>
              <a:rPr lang="en-US" sz="1400" b="1" dirty="0">
                <a:solidFill>
                  <a:srgbClr val="2E6B3E"/>
                </a:solidFill>
                <a:latin typeface="Tahoma" pitchFamily="34" charset="0"/>
                <a:ea typeface="Tahoma" pitchFamily="34" charset="-122"/>
                <a:cs typeface="Tahoma" pitchFamily="34" charset="-120"/>
              </a:rPr>
              <a:t>กิจกรรมหลัก</a:t>
            </a:r>
            <a:endParaRPr lang="en-US" sz="1400" dirty="0"/>
          </a:p>
        </p:txBody>
      </p:sp>
      <p:sp>
        <p:nvSpPr>
          <p:cNvPr id="8" name="Text 6"/>
          <p:cNvSpPr txBox="1"/>
          <p:nvPr/>
        </p:nvSpPr>
        <p:spPr>
          <a:xfrm>
            <a:off x="2688336" y="1737360"/>
            <a:ext cx="2057400" cy="118872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พัฒนาเฟิร์มแวร์ FlyHash</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ประกอบและสอบเทียบเครื่อง</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เก็บเฉลย สร้างแพ็กความจำ</a:t>
            </a:r>
            <a:endParaRPr lang="en-US" sz="1300" dirty="0"/>
          </a:p>
        </p:txBody>
      </p:sp>
      <p:sp>
        <p:nvSpPr>
          <p:cNvPr id="9" name="Shape 7"/>
          <p:cNvSpPr/>
          <p:nvPr/>
        </p:nvSpPr>
        <p:spPr>
          <a:xfrm>
            <a:off x="2551176" y="3017520"/>
            <a:ext cx="2331720" cy="1737360"/>
          </a:xfrm>
          <a:prstGeom prst="roundRect">
            <a:avLst>
              <a:gd name="adj" fmla="val 6316"/>
            </a:avLst>
          </a:prstGeom>
          <a:solidFill>
            <a:srgbClr val="EDF2E8"/>
          </a:solidFill>
          <a:ln w="12700">
            <a:solidFill>
              <a:srgbClr val="D5DFCB"/>
            </a:solidFill>
            <a:prstDash val="solid"/>
          </a:ln>
        </p:spPr>
      </p:sp>
      <p:sp>
        <p:nvSpPr>
          <p:cNvPr id="10" name="Text 8"/>
          <p:cNvSpPr txBox="1"/>
          <p:nvPr/>
        </p:nvSpPr>
        <p:spPr>
          <a:xfrm>
            <a:off x="2688336" y="3090672"/>
            <a:ext cx="2057400" cy="365760"/>
          </a:xfrm>
          <a:prstGeom prst="rect">
            <a:avLst/>
          </a:prstGeom>
          <a:noFill/>
          <a:ln/>
        </p:spPr>
        <p:txBody>
          <a:bodyPr wrap="square" lIns="0" tIns="0" rIns="0" bIns="0" rtlCol="0" anchor="t"/>
          <a:lstStyle/>
          <a:p>
            <a:pPr algn="l" indent="0" marL="0">
              <a:buNone/>
            </a:pPr>
            <a:r>
              <a:rPr lang="en-US" sz="1400" b="1" dirty="0">
                <a:solidFill>
                  <a:srgbClr val="2E6B3E"/>
                </a:solidFill>
                <a:latin typeface="Tahoma" pitchFamily="34" charset="0"/>
                <a:ea typeface="Tahoma" pitchFamily="34" charset="-122"/>
                <a:cs typeface="Tahoma" pitchFamily="34" charset="-120"/>
              </a:rPr>
              <a:t>ทรัพยากรหลัก</a:t>
            </a:r>
            <a:endParaRPr lang="en-US" sz="1400" dirty="0"/>
          </a:p>
        </p:txBody>
      </p:sp>
      <p:sp>
        <p:nvSpPr>
          <p:cNvPr id="11" name="Text 9"/>
          <p:cNvSpPr txBox="1"/>
          <p:nvPr/>
        </p:nvSpPr>
        <p:spPr>
          <a:xfrm>
            <a:off x="2688336" y="3520440"/>
            <a:ext cx="2057400" cy="118872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อัลกอริทึม FlyHash (open-source)</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คลังกลิ่นและแพ็กความจำ</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mockup และชุดต้นแบบ A</a:t>
            </a:r>
            <a:endParaRPr lang="en-US" sz="1300" dirty="0"/>
          </a:p>
        </p:txBody>
      </p:sp>
      <p:sp>
        <p:nvSpPr>
          <p:cNvPr id="12" name="Shape 10"/>
          <p:cNvSpPr/>
          <p:nvPr/>
        </p:nvSpPr>
        <p:spPr>
          <a:xfrm>
            <a:off x="4965192" y="1234440"/>
            <a:ext cx="2240280" cy="3520440"/>
          </a:xfrm>
          <a:prstGeom prst="roundRect">
            <a:avLst>
              <a:gd name="adj" fmla="val 4898"/>
            </a:avLst>
          </a:prstGeom>
          <a:solidFill>
            <a:srgbClr val="17301F"/>
          </a:solidFill>
          <a:ln/>
        </p:spPr>
      </p:sp>
      <p:sp>
        <p:nvSpPr>
          <p:cNvPr id="13" name="Text 11"/>
          <p:cNvSpPr txBox="1"/>
          <p:nvPr/>
        </p:nvSpPr>
        <p:spPr>
          <a:xfrm>
            <a:off x="5102352" y="1307592"/>
            <a:ext cx="1965960" cy="365760"/>
          </a:xfrm>
          <a:prstGeom prst="rect">
            <a:avLst/>
          </a:prstGeom>
          <a:noFill/>
          <a:ln/>
        </p:spPr>
        <p:txBody>
          <a:bodyPr wrap="square" lIns="0" tIns="0" rIns="0" bIns="0" rtlCol="0" anchor="t"/>
          <a:lstStyle/>
          <a:p>
            <a:pPr algn="l" indent="0" marL="0">
              <a:buNone/>
            </a:pPr>
            <a:r>
              <a:rPr lang="en-US" sz="1400" b="1" dirty="0">
                <a:solidFill>
                  <a:srgbClr val="F5A742"/>
                </a:solidFill>
                <a:latin typeface="Tahoma" pitchFamily="34" charset="0"/>
                <a:ea typeface="Tahoma" pitchFamily="34" charset="-122"/>
                <a:cs typeface="Tahoma" pitchFamily="34" charset="-120"/>
              </a:rPr>
              <a:t>คุณค่าที่เสนอ</a:t>
            </a:r>
            <a:endParaRPr lang="en-US" sz="1400" dirty="0"/>
          </a:p>
        </p:txBody>
      </p:sp>
      <p:sp>
        <p:nvSpPr>
          <p:cNvPr id="14" name="Text 12"/>
          <p:cNvSpPr txBox="1"/>
          <p:nvPr/>
        </p:nvSpPr>
        <p:spPr>
          <a:xfrm>
            <a:off x="5102352" y="1737360"/>
            <a:ext cx="1965960" cy="297180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FFFFFF"/>
                </a:solidFill>
                <a:latin typeface="Tahoma" pitchFamily="34" charset="0"/>
                <a:ea typeface="Tahoma" pitchFamily="34" charset="-122"/>
                <a:cs typeface="Tahoma" pitchFamily="34" charset="-120"/>
              </a:rPr>
              <a:t>รู้ก่อนทุเรียนสุกเกินหรือเสีย ตั้งแต่ล้งถึงตู้</a:t>
            </a:r>
            <a:endParaRPr lang="en-US" sz="1300" dirty="0"/>
          </a:p>
          <a:p>
            <a:pPr algn="l" marL="152400" indent="-152400">
              <a:spcAft>
                <a:spcPts val="300"/>
              </a:spcAft>
              <a:buSzPct val="100000"/>
              <a:buChar char="•"/>
            </a:pPr>
            <a:r>
              <a:rPr lang="en-US" sz="1300" dirty="0">
                <a:solidFill>
                  <a:srgbClr val="FFFFFF"/>
                </a:solidFill>
                <a:latin typeface="Tahoma" pitchFamily="34" charset="0"/>
                <a:ea typeface="Tahoma" pitchFamily="34" charset="-122"/>
                <a:cs typeface="Tahoma" pitchFamily="34" charset="-120"/>
              </a:rPr>
              <a:t>ไม่ต้องผ่าผล ดมได้ทุกล็อต</a:t>
            </a:r>
            <a:endParaRPr lang="en-US" sz="1300" dirty="0"/>
          </a:p>
          <a:p>
            <a:pPr algn="l" marL="152400" indent="-152400">
              <a:spcAft>
                <a:spcPts val="300"/>
              </a:spcAft>
              <a:buSzPct val="100000"/>
              <a:buChar char="•"/>
            </a:pPr>
            <a:r>
              <a:rPr lang="en-US" sz="1300" dirty="0">
                <a:solidFill>
                  <a:srgbClr val="FFFFFF"/>
                </a:solidFill>
                <a:latin typeface="Tahoma" pitchFamily="34" charset="0"/>
                <a:ea typeface="Tahoma" pitchFamily="34" charset="-122"/>
                <a:cs typeface="Tahoma" pitchFamily="34" charset="-120"/>
              </a:rPr>
              <a:t>ใช้ง่าย ปุ่มเดียว แจ้งเตือนใน LINE</a:t>
            </a:r>
            <a:endParaRPr lang="en-US" sz="1300" dirty="0"/>
          </a:p>
          <a:p>
            <a:pPr algn="l" marL="152400" indent="-152400">
              <a:spcAft>
                <a:spcPts val="300"/>
              </a:spcAft>
              <a:buSzPct val="100000"/>
              <a:buChar char="•"/>
            </a:pPr>
            <a:r>
              <a:rPr lang="en-US" sz="1300" dirty="0">
                <a:solidFill>
                  <a:srgbClr val="FFFFFF"/>
                </a:solidFill>
                <a:latin typeface="Tahoma" pitchFamily="34" charset="0"/>
                <a:ea typeface="Tahoma" pitchFamily="34" charset="-122"/>
                <a:cs typeface="Tahoma" pitchFamily="34" charset="-120"/>
              </a:rPr>
              <a:t>เรียนพันธุ์ใหม่ได้ และบอกได้ว่าไม่แน่ใจ</a:t>
            </a:r>
            <a:endParaRPr lang="en-US" sz="1300" dirty="0"/>
          </a:p>
          <a:p>
            <a:pPr algn="l" marL="152400" indent="-152400">
              <a:spcAft>
                <a:spcPts val="300"/>
              </a:spcAft>
              <a:buSzPct val="100000"/>
              <a:buChar char="•"/>
            </a:pPr>
            <a:r>
              <a:rPr lang="en-US" sz="1300" dirty="0">
                <a:solidFill>
                  <a:srgbClr val="FFFFFF"/>
                </a:solidFill>
                <a:latin typeface="Tahoma" pitchFamily="34" charset="0"/>
                <a:ea typeface="Tahoma" pitchFamily="34" charset="-122"/>
                <a:cs typeface="Tahoma" pitchFamily="34" charset="-120"/>
              </a:rPr>
              <a:t>เครื่องราคาหลักพันบาท</a:t>
            </a:r>
            <a:endParaRPr lang="en-US" sz="1300" dirty="0"/>
          </a:p>
        </p:txBody>
      </p:sp>
      <p:sp>
        <p:nvSpPr>
          <p:cNvPr id="15" name="Shape 13"/>
          <p:cNvSpPr/>
          <p:nvPr/>
        </p:nvSpPr>
        <p:spPr>
          <a:xfrm>
            <a:off x="7287768" y="1234440"/>
            <a:ext cx="2331720" cy="1737360"/>
          </a:xfrm>
          <a:prstGeom prst="roundRect">
            <a:avLst>
              <a:gd name="adj" fmla="val 6316"/>
            </a:avLst>
          </a:prstGeom>
          <a:solidFill>
            <a:srgbClr val="EDF2E8"/>
          </a:solidFill>
          <a:ln w="12700">
            <a:solidFill>
              <a:srgbClr val="D5DFCB"/>
            </a:solidFill>
            <a:prstDash val="solid"/>
          </a:ln>
        </p:spPr>
      </p:sp>
      <p:sp>
        <p:nvSpPr>
          <p:cNvPr id="16" name="Text 14"/>
          <p:cNvSpPr txBox="1"/>
          <p:nvPr/>
        </p:nvSpPr>
        <p:spPr>
          <a:xfrm>
            <a:off x="7424928" y="1307592"/>
            <a:ext cx="2057400" cy="365760"/>
          </a:xfrm>
          <a:prstGeom prst="rect">
            <a:avLst/>
          </a:prstGeom>
          <a:noFill/>
          <a:ln/>
        </p:spPr>
        <p:txBody>
          <a:bodyPr wrap="square" lIns="0" tIns="0" rIns="0" bIns="0" rtlCol="0" anchor="t"/>
          <a:lstStyle/>
          <a:p>
            <a:pPr algn="l" indent="0" marL="0">
              <a:buNone/>
            </a:pPr>
            <a:r>
              <a:rPr lang="en-US" sz="1400" b="1" dirty="0">
                <a:solidFill>
                  <a:srgbClr val="2E6B3E"/>
                </a:solidFill>
                <a:latin typeface="Tahoma" pitchFamily="34" charset="0"/>
                <a:ea typeface="Tahoma" pitchFamily="34" charset="-122"/>
                <a:cs typeface="Tahoma" pitchFamily="34" charset="-120"/>
              </a:rPr>
              <a:t>ความสัมพันธ์กับลูกค้า</a:t>
            </a:r>
            <a:endParaRPr lang="en-US" sz="1400" dirty="0"/>
          </a:p>
        </p:txBody>
      </p:sp>
      <p:sp>
        <p:nvSpPr>
          <p:cNvPr id="17" name="Text 15"/>
          <p:cNvSpPr txBox="1"/>
          <p:nvPr/>
        </p:nvSpPr>
        <p:spPr>
          <a:xfrm>
            <a:off x="7424928" y="1737360"/>
            <a:ext cx="2057400" cy="118872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อัปเดตแพ็กความจำทุกฤดู</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บริการสอบเทียบ</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LINE OA แจ้งเตือนและรับเฉลย</a:t>
            </a:r>
            <a:endParaRPr lang="en-US" sz="1300" dirty="0"/>
          </a:p>
        </p:txBody>
      </p:sp>
      <p:sp>
        <p:nvSpPr>
          <p:cNvPr id="18" name="Shape 16"/>
          <p:cNvSpPr/>
          <p:nvPr/>
        </p:nvSpPr>
        <p:spPr>
          <a:xfrm>
            <a:off x="7287768" y="3017520"/>
            <a:ext cx="2331720" cy="1737360"/>
          </a:xfrm>
          <a:prstGeom prst="roundRect">
            <a:avLst>
              <a:gd name="adj" fmla="val 6316"/>
            </a:avLst>
          </a:prstGeom>
          <a:solidFill>
            <a:srgbClr val="EDF2E8"/>
          </a:solidFill>
          <a:ln w="12700">
            <a:solidFill>
              <a:srgbClr val="D5DFCB"/>
            </a:solidFill>
            <a:prstDash val="solid"/>
          </a:ln>
        </p:spPr>
      </p:sp>
      <p:sp>
        <p:nvSpPr>
          <p:cNvPr id="19" name="Text 17"/>
          <p:cNvSpPr txBox="1"/>
          <p:nvPr/>
        </p:nvSpPr>
        <p:spPr>
          <a:xfrm>
            <a:off x="7424928" y="3090672"/>
            <a:ext cx="2057400" cy="365760"/>
          </a:xfrm>
          <a:prstGeom prst="rect">
            <a:avLst/>
          </a:prstGeom>
          <a:noFill/>
          <a:ln/>
        </p:spPr>
        <p:txBody>
          <a:bodyPr wrap="square" lIns="0" tIns="0" rIns="0" bIns="0" rtlCol="0" anchor="t"/>
          <a:lstStyle/>
          <a:p>
            <a:pPr algn="l" indent="0" marL="0">
              <a:buNone/>
            </a:pPr>
            <a:r>
              <a:rPr lang="en-US" sz="1400" b="1" dirty="0">
                <a:solidFill>
                  <a:srgbClr val="2E6B3E"/>
                </a:solidFill>
                <a:latin typeface="Tahoma" pitchFamily="34" charset="0"/>
                <a:ea typeface="Tahoma" pitchFamily="34" charset="-122"/>
                <a:cs typeface="Tahoma" pitchFamily="34" charset="-120"/>
              </a:rPr>
              <a:t>ช่องทาง</a:t>
            </a:r>
            <a:endParaRPr lang="en-US" sz="1400" dirty="0"/>
          </a:p>
        </p:txBody>
      </p:sp>
      <p:sp>
        <p:nvSpPr>
          <p:cNvPr id="20" name="Text 18"/>
          <p:cNvSpPr txBox="1"/>
          <p:nvPr/>
        </p:nvSpPr>
        <p:spPr>
          <a:xfrm>
            <a:off x="7424928" y="3520440"/>
            <a:ext cx="2057400" cy="118872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ขายตรงล้งและผู้ส่งออก</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ผ่านสำนักงานเกษตร/สหกรณ์</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งานแสดงสินค้าเกษตร</a:t>
            </a:r>
            <a:endParaRPr lang="en-US" sz="1300" dirty="0"/>
          </a:p>
        </p:txBody>
      </p:sp>
      <p:sp>
        <p:nvSpPr>
          <p:cNvPr id="21" name="Shape 19"/>
          <p:cNvSpPr/>
          <p:nvPr/>
        </p:nvSpPr>
        <p:spPr>
          <a:xfrm>
            <a:off x="9701784" y="1234440"/>
            <a:ext cx="1938528" cy="3520440"/>
          </a:xfrm>
          <a:prstGeom prst="roundRect">
            <a:avLst>
              <a:gd name="adj" fmla="val 5660"/>
            </a:avLst>
          </a:prstGeom>
          <a:solidFill>
            <a:srgbClr val="EDF2E8"/>
          </a:solidFill>
          <a:ln w="12700">
            <a:solidFill>
              <a:srgbClr val="D5DFCB"/>
            </a:solidFill>
            <a:prstDash val="solid"/>
          </a:ln>
        </p:spPr>
      </p:sp>
      <p:sp>
        <p:nvSpPr>
          <p:cNvPr id="22" name="Text 20"/>
          <p:cNvSpPr txBox="1"/>
          <p:nvPr/>
        </p:nvSpPr>
        <p:spPr>
          <a:xfrm>
            <a:off x="9838944" y="1307592"/>
            <a:ext cx="1664208" cy="365760"/>
          </a:xfrm>
          <a:prstGeom prst="rect">
            <a:avLst/>
          </a:prstGeom>
          <a:noFill/>
          <a:ln/>
        </p:spPr>
        <p:txBody>
          <a:bodyPr wrap="square" lIns="0" tIns="0" rIns="0" bIns="0" rtlCol="0" anchor="t"/>
          <a:lstStyle/>
          <a:p>
            <a:pPr algn="l" indent="0" marL="0">
              <a:buNone/>
            </a:pPr>
            <a:r>
              <a:rPr lang="en-US" sz="1400" b="1" dirty="0">
                <a:solidFill>
                  <a:srgbClr val="2E6B3E"/>
                </a:solidFill>
                <a:latin typeface="Tahoma" pitchFamily="34" charset="0"/>
                <a:ea typeface="Tahoma" pitchFamily="34" charset="-122"/>
                <a:cs typeface="Tahoma" pitchFamily="34" charset="-120"/>
              </a:rPr>
              <a:t>กลุ่มลูกค้า</a:t>
            </a:r>
            <a:endParaRPr lang="en-US" sz="1400" dirty="0"/>
          </a:p>
        </p:txBody>
      </p:sp>
      <p:sp>
        <p:nvSpPr>
          <p:cNvPr id="23" name="Text 21"/>
          <p:cNvSpPr txBox="1"/>
          <p:nvPr/>
        </p:nvSpPr>
        <p:spPr>
          <a:xfrm>
            <a:off x="9838944" y="1737360"/>
            <a:ext cx="1664208" cy="297180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ล้งและผู้ส่งออกทุเรียน (หลัก)</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บริษัทขนส่งและห้องเย็น</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ร้านผลไม้พรีเมียมและออนไลน์</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ต่อยอด: มะม่วง ลำไย ห้องบ่ม</a:t>
            </a:r>
            <a:endParaRPr lang="en-US" sz="1300" dirty="0"/>
          </a:p>
        </p:txBody>
      </p:sp>
      <p:sp>
        <p:nvSpPr>
          <p:cNvPr id="24" name="Shape 22"/>
          <p:cNvSpPr/>
          <p:nvPr/>
        </p:nvSpPr>
        <p:spPr>
          <a:xfrm>
            <a:off x="548640" y="4846320"/>
            <a:ext cx="5468112" cy="1417320"/>
          </a:xfrm>
          <a:prstGeom prst="roundRect">
            <a:avLst>
              <a:gd name="adj" fmla="val 7742"/>
            </a:avLst>
          </a:prstGeom>
          <a:solidFill>
            <a:srgbClr val="EFE9FB"/>
          </a:solidFill>
          <a:ln w="12700">
            <a:solidFill>
              <a:srgbClr val="D5DFCB"/>
            </a:solidFill>
            <a:prstDash val="solid"/>
          </a:ln>
        </p:spPr>
      </p:sp>
      <p:sp>
        <p:nvSpPr>
          <p:cNvPr id="25" name="Text 23"/>
          <p:cNvSpPr txBox="1"/>
          <p:nvPr/>
        </p:nvSpPr>
        <p:spPr>
          <a:xfrm>
            <a:off x="685800" y="4910328"/>
            <a:ext cx="5212080" cy="365760"/>
          </a:xfrm>
          <a:prstGeom prst="rect">
            <a:avLst/>
          </a:prstGeom>
          <a:noFill/>
          <a:ln/>
        </p:spPr>
        <p:txBody>
          <a:bodyPr wrap="square" lIns="0" tIns="0" rIns="0" bIns="0" rtlCol="0" anchor="t"/>
          <a:lstStyle/>
          <a:p>
            <a:pPr algn="l" indent="0" marL="0">
              <a:buNone/>
            </a:pPr>
            <a:r>
              <a:rPr lang="en-US" sz="1500" b="1" dirty="0">
                <a:solidFill>
                  <a:srgbClr val="6E4FB8"/>
                </a:solidFill>
                <a:latin typeface="Tahoma" pitchFamily="34" charset="0"/>
                <a:ea typeface="Tahoma" pitchFamily="34" charset="-122"/>
                <a:cs typeface="Tahoma" pitchFamily="34" charset="-120"/>
              </a:rPr>
              <a:t>โครงสร้างต้นทุน</a:t>
            </a:r>
            <a:endParaRPr lang="en-US" sz="1500" dirty="0"/>
          </a:p>
        </p:txBody>
      </p:sp>
      <p:sp>
        <p:nvSpPr>
          <p:cNvPr id="26" name="Text 24"/>
          <p:cNvSpPr txBox="1"/>
          <p:nvPr/>
        </p:nvSpPr>
        <p:spPr>
          <a:xfrm>
            <a:off x="685800" y="5303520"/>
            <a:ext cx="5212080" cy="960120"/>
          </a:xfrm>
          <a:prstGeom prst="rect">
            <a:avLst/>
          </a:prstGeom>
          <a:noFill/>
          <a:ln/>
        </p:spPr>
        <p:txBody>
          <a:bodyPr wrap="square" lIns="0" tIns="0" rIns="0" bIns="0" rtlCol="0" anchor="t"/>
          <a:lstStyle/>
          <a:p>
            <a:pPr algn="l" marL="152400" indent="-152400">
              <a:spcAft>
                <a:spcPts val="200"/>
              </a:spcAft>
              <a:buSzPct val="100000"/>
              <a:buChar char="•"/>
            </a:pPr>
            <a:r>
              <a:rPr lang="en-US" sz="1300" dirty="0">
                <a:solidFill>
                  <a:srgbClr val="17301F"/>
                </a:solidFill>
                <a:latin typeface="Tahoma" pitchFamily="34" charset="0"/>
                <a:ea typeface="Tahoma" pitchFamily="34" charset="-122"/>
                <a:cs typeface="Tahoma" pitchFamily="34" charset="-120"/>
              </a:rPr>
              <a:t>เครื่องชุด A ≈ ฿3,500 (ชุดเดิม) / ≈ ฿1,400–2,100 (ชุดประหยัด) ไม่รวมค่าส่ง ไส้กรอง กล่อง ท่อ PTFE · ชุด B 60,000–100,000 บาท (ประมาณการเดิม)</a:t>
            </a:r>
            <a:endParaRPr lang="en-US" sz="1300" dirty="0"/>
          </a:p>
          <a:p>
            <a:pPr algn="l" marL="152400" indent="-152400">
              <a:spcAft>
                <a:spcPts val="200"/>
              </a:spcAft>
              <a:buSzPct val="100000"/>
              <a:buChar char="•"/>
            </a:pPr>
            <a:r>
              <a:rPr lang="en-US" sz="1300" dirty="0">
                <a:solidFill>
                  <a:srgbClr val="17301F"/>
                </a:solidFill>
                <a:latin typeface="Tahoma" pitchFamily="34" charset="0"/>
                <a:ea typeface="Tahoma" pitchFamily="34" charset="-122"/>
                <a:cs typeface="Tahoma" pitchFamily="34" charset="-120"/>
              </a:rPr>
              <a:t>ค่าผลไม้สำหรับเก็บข้อมูล เปลี่ยนเซนเซอร์ และสอบเทียบ</a:t>
            </a:r>
            <a:endParaRPr lang="en-US" sz="1300" dirty="0"/>
          </a:p>
        </p:txBody>
      </p:sp>
      <p:sp>
        <p:nvSpPr>
          <p:cNvPr id="27" name="Shape 25"/>
          <p:cNvSpPr/>
          <p:nvPr/>
        </p:nvSpPr>
        <p:spPr>
          <a:xfrm>
            <a:off x="6172200" y="4846320"/>
            <a:ext cx="5468112" cy="1417320"/>
          </a:xfrm>
          <a:prstGeom prst="roundRect">
            <a:avLst>
              <a:gd name="adj" fmla="val 7742"/>
            </a:avLst>
          </a:prstGeom>
          <a:solidFill>
            <a:srgbClr val="EFE9FB"/>
          </a:solidFill>
          <a:ln w="12700">
            <a:solidFill>
              <a:srgbClr val="D5DFCB"/>
            </a:solidFill>
            <a:prstDash val="solid"/>
          </a:ln>
        </p:spPr>
      </p:sp>
      <p:sp>
        <p:nvSpPr>
          <p:cNvPr id="28" name="Text 26"/>
          <p:cNvSpPr txBox="1"/>
          <p:nvPr/>
        </p:nvSpPr>
        <p:spPr>
          <a:xfrm>
            <a:off x="6309360" y="4910328"/>
            <a:ext cx="5212080" cy="365760"/>
          </a:xfrm>
          <a:prstGeom prst="rect">
            <a:avLst/>
          </a:prstGeom>
          <a:noFill/>
          <a:ln/>
        </p:spPr>
        <p:txBody>
          <a:bodyPr wrap="square" lIns="0" tIns="0" rIns="0" bIns="0" rtlCol="0" anchor="t"/>
          <a:lstStyle/>
          <a:p>
            <a:pPr algn="l" indent="0" marL="0">
              <a:buNone/>
            </a:pPr>
            <a:r>
              <a:rPr lang="en-US" sz="1500" b="1" dirty="0">
                <a:solidFill>
                  <a:srgbClr val="6E4FB8"/>
                </a:solidFill>
                <a:latin typeface="Tahoma" pitchFamily="34" charset="0"/>
                <a:ea typeface="Tahoma" pitchFamily="34" charset="-122"/>
                <a:cs typeface="Tahoma" pitchFamily="34" charset="-120"/>
              </a:rPr>
              <a:t>รายได้</a:t>
            </a:r>
            <a:endParaRPr lang="en-US" sz="1500" dirty="0"/>
          </a:p>
        </p:txBody>
      </p:sp>
      <p:sp>
        <p:nvSpPr>
          <p:cNvPr id="29" name="Text 27"/>
          <p:cNvSpPr txBox="1"/>
          <p:nvPr/>
        </p:nvSpPr>
        <p:spPr>
          <a:xfrm>
            <a:off x="6309360" y="5303520"/>
            <a:ext cx="5212080" cy="960120"/>
          </a:xfrm>
          <a:prstGeom prst="rect">
            <a:avLst/>
          </a:prstGeom>
          <a:noFill/>
          <a:ln/>
        </p:spPr>
        <p:txBody>
          <a:bodyPr wrap="square" lIns="0" tIns="0" rIns="0" bIns="0" rtlCol="0" anchor="t"/>
          <a:lstStyle/>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ขายหรือให้เช่าเครื่อง (จมูกในตู้คิดรายเที่ยว)</a:t>
            </a:r>
            <a:endParaRPr lang="en-US" sz="1300" dirty="0"/>
          </a:p>
          <a:p>
            <a:pPr algn="l" marL="152400" indent="-152400">
              <a:spcAft>
                <a:spcPts val="300"/>
              </a:spcAft>
              <a:buSzPct val="100000"/>
              <a:buChar char="•"/>
            </a:pPr>
            <a:r>
              <a:rPr lang="en-US" sz="1300" dirty="0">
                <a:solidFill>
                  <a:srgbClr val="17301F"/>
                </a:solidFill>
                <a:latin typeface="Tahoma" pitchFamily="34" charset="0"/>
                <a:ea typeface="Tahoma" pitchFamily="34" charset="-122"/>
                <a:cs typeface="Tahoma" pitchFamily="34" charset="-120"/>
              </a:rPr>
              <a:t>ค่าสมาชิกแพ็กความจำรายฤดู + รายงานคุณภาพรายล็อต</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สำรวจกลุ่มอื่น: แกนเดิม เพิ่มแค่โมดูล</a:t>
            </a:r>
            <a:endParaRPr lang="en-US" sz="3000" dirty="0"/>
          </a:p>
        </p:txBody>
      </p:sp>
      <p:sp>
        <p:nvSpPr>
          <p:cNvPr id="3" name="Shape 1"/>
          <p:cNvSpPr/>
          <p:nvPr/>
        </p:nvSpPr>
        <p:spPr>
          <a:xfrm>
            <a:off x="548640" y="1325880"/>
            <a:ext cx="11091672" cy="457200"/>
          </a:xfrm>
          <a:prstGeom prst="roundRect">
            <a:avLst>
              <a:gd name="adj" fmla="val 20000"/>
            </a:avLst>
          </a:prstGeom>
          <a:solidFill>
            <a:srgbClr val="17301F"/>
          </a:solidFill>
          <a:ln/>
        </p:spPr>
      </p:sp>
      <p:sp>
        <p:nvSpPr>
          <p:cNvPr id="4" name="Text 2"/>
          <p:cNvSpPr txBox="1"/>
          <p:nvPr/>
        </p:nvSpPr>
        <p:spPr>
          <a:xfrm>
            <a:off x="685800" y="1325880"/>
            <a:ext cx="219456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กลุ่ม</a:t>
            </a:r>
            <a:endParaRPr lang="en-US" sz="1400" dirty="0"/>
          </a:p>
        </p:txBody>
      </p:sp>
      <p:sp>
        <p:nvSpPr>
          <p:cNvPr id="5" name="Text 3"/>
          <p:cNvSpPr txBox="1"/>
          <p:nvPr/>
        </p:nvSpPr>
        <p:spPr>
          <a:xfrm>
            <a:off x="3063240" y="1325880"/>
            <a:ext cx="274320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ปัญหาของเขา</a:t>
            </a:r>
            <a:endParaRPr lang="en-US" sz="1400" dirty="0"/>
          </a:p>
        </p:txBody>
      </p:sp>
      <p:sp>
        <p:nvSpPr>
          <p:cNvPr id="6" name="Text 4"/>
          <p:cNvSpPr txBox="1"/>
          <p:nvPr/>
        </p:nvSpPr>
        <p:spPr>
          <a:xfrm>
            <a:off x="5989320" y="1325880"/>
            <a:ext cx="301752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โมดูลที่ต้องเพิ่ม</a:t>
            </a:r>
            <a:endParaRPr lang="en-US" sz="1400" dirty="0"/>
          </a:p>
        </p:txBody>
      </p:sp>
      <p:sp>
        <p:nvSpPr>
          <p:cNvPr id="7" name="Text 5"/>
          <p:cNvSpPr txBox="1"/>
          <p:nvPr/>
        </p:nvSpPr>
        <p:spPr>
          <a:xfrm>
            <a:off x="9189720" y="1325880"/>
            <a:ext cx="2404872"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ความพร้อม</a:t>
            </a:r>
            <a:endParaRPr lang="en-US" sz="1400" dirty="0"/>
          </a:p>
        </p:txBody>
      </p:sp>
      <p:sp>
        <p:nvSpPr>
          <p:cNvPr id="8" name="Shape 6"/>
          <p:cNvSpPr/>
          <p:nvPr/>
        </p:nvSpPr>
        <p:spPr>
          <a:xfrm>
            <a:off x="548640" y="1837944"/>
            <a:ext cx="11091672" cy="685800"/>
          </a:xfrm>
          <a:prstGeom prst="roundRect">
            <a:avLst>
              <a:gd name="adj" fmla="val 8000"/>
            </a:avLst>
          </a:prstGeom>
          <a:solidFill>
            <a:srgbClr val="EDF2E8"/>
          </a:solidFill>
          <a:ln w="12700">
            <a:solidFill>
              <a:srgbClr val="D5DFCB"/>
            </a:solidFill>
            <a:prstDash val="solid"/>
          </a:ln>
        </p:spPr>
      </p:sp>
      <p:sp>
        <p:nvSpPr>
          <p:cNvPr id="9" name="Text 7"/>
          <p:cNvSpPr txBox="1"/>
          <p:nvPr/>
        </p:nvSpPr>
        <p:spPr>
          <a:xfrm>
            <a:off x="685800" y="1837944"/>
            <a:ext cx="2148840" cy="68580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สวนและล้งมะม่วง</a:t>
            </a:r>
            <a:endParaRPr lang="en-US" sz="1400" dirty="0"/>
          </a:p>
        </p:txBody>
      </p:sp>
      <p:sp>
        <p:nvSpPr>
          <p:cNvPr id="10" name="Text 8"/>
          <p:cNvSpPr txBox="1"/>
          <p:nvPr/>
        </p:nvSpPr>
        <p:spPr>
          <a:xfrm>
            <a:off x="3063240" y="1837944"/>
            <a:ext cx="2697480" cy="68580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โรคหลังเก็บเกี่ยว หนอนแมลงวันผลไม้</a:t>
            </a:r>
            <a:endParaRPr lang="en-US" sz="1400" dirty="0"/>
          </a:p>
        </p:txBody>
      </p:sp>
      <p:sp>
        <p:nvSpPr>
          <p:cNvPr id="11" name="Text 9"/>
          <p:cNvSpPr txBox="1"/>
          <p:nvPr/>
        </p:nvSpPr>
        <p:spPr>
          <a:xfrm>
            <a:off x="5989320" y="1837944"/>
            <a:ext cx="2971800" cy="68580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ใช้ชุดทุเรียนได้ทันที (+NIR ถ้ามีทุน)</a:t>
            </a:r>
            <a:endParaRPr lang="en-US" sz="1400" dirty="0"/>
          </a:p>
        </p:txBody>
      </p:sp>
      <p:sp>
        <p:nvSpPr>
          <p:cNvPr id="12" name="Text 10"/>
          <p:cNvSpPr txBox="1"/>
          <p:nvPr/>
        </p:nvSpPr>
        <p:spPr>
          <a:xfrm>
            <a:off x="9189720" y="1837944"/>
            <a:ext cx="2359152" cy="68580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สูง: กลิ่นสุกชัดกว่าทุเรียน</a:t>
            </a:r>
            <a:endParaRPr lang="en-US" sz="1400" dirty="0"/>
          </a:p>
        </p:txBody>
      </p:sp>
      <p:sp>
        <p:nvSpPr>
          <p:cNvPr id="13" name="Shape 11"/>
          <p:cNvSpPr/>
          <p:nvPr/>
        </p:nvSpPr>
        <p:spPr>
          <a:xfrm>
            <a:off x="548640" y="2560320"/>
            <a:ext cx="11091672" cy="566928"/>
          </a:xfrm>
          <a:prstGeom prst="roundRect">
            <a:avLst>
              <a:gd name="adj" fmla="val 9677"/>
            </a:avLst>
          </a:prstGeom>
          <a:solidFill>
            <a:srgbClr val="FFFFFF"/>
          </a:solidFill>
          <a:ln w="12700">
            <a:solidFill>
              <a:srgbClr val="D5DFCB"/>
            </a:solidFill>
            <a:prstDash val="solid"/>
          </a:ln>
        </p:spPr>
      </p:sp>
      <p:sp>
        <p:nvSpPr>
          <p:cNvPr id="14" name="Text 12"/>
          <p:cNvSpPr txBox="1"/>
          <p:nvPr/>
        </p:nvSpPr>
        <p:spPr>
          <a:xfrm>
            <a:off x="685800" y="2560320"/>
            <a:ext cx="2148840" cy="566928"/>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ห้องบ่มกล้วย มะละกอ</a:t>
            </a:r>
            <a:endParaRPr lang="en-US" sz="1400" dirty="0"/>
          </a:p>
        </p:txBody>
      </p:sp>
      <p:sp>
        <p:nvSpPr>
          <p:cNvPr id="15" name="Text 13"/>
          <p:cNvSpPr txBox="1"/>
          <p:nvPr/>
        </p:nvSpPr>
        <p:spPr>
          <a:xfrm>
            <a:off x="3063240" y="2560320"/>
            <a:ext cx="2697480"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สุกไม่พร้อมกัน เลยจุดขาย</a:t>
            </a:r>
            <a:endParaRPr lang="en-US" sz="1400" dirty="0"/>
          </a:p>
        </p:txBody>
      </p:sp>
      <p:sp>
        <p:nvSpPr>
          <p:cNvPr id="16" name="Text 14"/>
          <p:cNvSpPr txBox="1"/>
          <p:nvPr/>
        </p:nvSpPr>
        <p:spPr>
          <a:xfrm>
            <a:off x="5989320" y="2560320"/>
            <a:ext cx="2971800"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เซนเซอร์เอทิลีนเกรดดี</a:t>
            </a:r>
            <a:endParaRPr lang="en-US" sz="1400" dirty="0"/>
          </a:p>
        </p:txBody>
      </p:sp>
      <p:sp>
        <p:nvSpPr>
          <p:cNvPr id="17" name="Text 15"/>
          <p:cNvSpPr txBox="1"/>
          <p:nvPr/>
        </p:nvSpPr>
        <p:spPr>
          <a:xfrm>
            <a:off x="9189720" y="2560320"/>
            <a:ext cx="2359152"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กลาง: เซนเซอร์ราคาสูง</a:t>
            </a:r>
            <a:endParaRPr lang="en-US" sz="1400" dirty="0"/>
          </a:p>
        </p:txBody>
      </p:sp>
      <p:sp>
        <p:nvSpPr>
          <p:cNvPr id="18" name="Shape 16"/>
          <p:cNvSpPr/>
          <p:nvPr/>
        </p:nvSpPr>
        <p:spPr>
          <a:xfrm>
            <a:off x="548640" y="3163824"/>
            <a:ext cx="11091672" cy="685800"/>
          </a:xfrm>
          <a:prstGeom prst="roundRect">
            <a:avLst>
              <a:gd name="adj" fmla="val 8000"/>
            </a:avLst>
          </a:prstGeom>
          <a:solidFill>
            <a:srgbClr val="EDF2E8"/>
          </a:solidFill>
          <a:ln w="12700">
            <a:solidFill>
              <a:srgbClr val="D5DFCB"/>
            </a:solidFill>
            <a:prstDash val="solid"/>
          </a:ln>
        </p:spPr>
      </p:sp>
      <p:sp>
        <p:nvSpPr>
          <p:cNvPr id="19" name="Text 17"/>
          <p:cNvSpPr txBox="1"/>
          <p:nvPr/>
        </p:nvSpPr>
        <p:spPr>
          <a:xfrm>
            <a:off x="685800" y="3163824"/>
            <a:ext cx="2148840" cy="68580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โรงรมลำไย</a:t>
            </a:r>
            <a:endParaRPr lang="en-US" sz="1400" dirty="0"/>
          </a:p>
        </p:txBody>
      </p:sp>
      <p:sp>
        <p:nvSpPr>
          <p:cNvPr id="20" name="Text 18"/>
          <p:cNvSpPr txBox="1"/>
          <p:nvPr/>
        </p:nvSpPr>
        <p:spPr>
          <a:xfrm>
            <a:off x="3063240" y="3163824"/>
            <a:ext cx="2697480" cy="68580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SO₂ ตกค้าง จีนตีกลับราว 20 ตู้</a:t>
            </a:r>
            <a:endParaRPr lang="en-US" sz="1400" dirty="0"/>
          </a:p>
        </p:txBody>
      </p:sp>
      <p:sp>
        <p:nvSpPr>
          <p:cNvPr id="21" name="Text 19"/>
          <p:cNvSpPr txBox="1"/>
          <p:nvPr/>
        </p:nvSpPr>
        <p:spPr>
          <a:xfrm>
            <a:off x="5989320" y="3163824"/>
            <a:ext cx="2971800" cy="68580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เซนเซอร์ SO₂ สองช่วงวัด + วาล์วเจือจาง</a:t>
            </a:r>
            <a:endParaRPr lang="en-US" sz="1400" dirty="0"/>
          </a:p>
        </p:txBody>
      </p:sp>
      <p:sp>
        <p:nvSpPr>
          <p:cNvPr id="22" name="Text 20"/>
          <p:cNvSpPr txBox="1"/>
          <p:nvPr/>
        </p:nvSpPr>
        <p:spPr>
          <a:xfrm>
            <a:off x="9189720" y="3163824"/>
            <a:ext cx="2359152" cy="68580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กลาง: ต้องเทียบกับผลแล็บ</a:t>
            </a:r>
            <a:endParaRPr lang="en-US" sz="1400" dirty="0"/>
          </a:p>
        </p:txBody>
      </p:sp>
      <p:sp>
        <p:nvSpPr>
          <p:cNvPr id="23" name="Shape 21"/>
          <p:cNvSpPr/>
          <p:nvPr/>
        </p:nvSpPr>
        <p:spPr>
          <a:xfrm>
            <a:off x="548640" y="3886200"/>
            <a:ext cx="11091672" cy="566928"/>
          </a:xfrm>
          <a:prstGeom prst="roundRect">
            <a:avLst>
              <a:gd name="adj" fmla="val 9677"/>
            </a:avLst>
          </a:prstGeom>
          <a:solidFill>
            <a:srgbClr val="FFFFFF"/>
          </a:solidFill>
          <a:ln w="12700">
            <a:solidFill>
              <a:srgbClr val="D5DFCB"/>
            </a:solidFill>
            <a:prstDash val="solid"/>
          </a:ln>
        </p:spPr>
      </p:sp>
      <p:sp>
        <p:nvSpPr>
          <p:cNvPr id="24" name="Text 22"/>
          <p:cNvSpPr txBox="1"/>
          <p:nvPr/>
        </p:nvSpPr>
        <p:spPr>
          <a:xfrm>
            <a:off x="685800" y="3886200"/>
            <a:ext cx="2148840" cy="566928"/>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ล้งเงาะ ลิ้นจี่ ลองกอง</a:t>
            </a:r>
            <a:endParaRPr lang="en-US" sz="1400" dirty="0"/>
          </a:p>
        </p:txBody>
      </p:sp>
      <p:sp>
        <p:nvSpPr>
          <p:cNvPr id="25" name="Text 23"/>
          <p:cNvSpPr txBox="1"/>
          <p:nvPr/>
        </p:nvSpPr>
        <p:spPr>
          <a:xfrm>
            <a:off x="3063240" y="3886200"/>
            <a:ext cx="2697480"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หมักและเน่าเร็วหลังเก็บ</a:t>
            </a:r>
            <a:endParaRPr lang="en-US" sz="1400" dirty="0"/>
          </a:p>
        </p:txBody>
      </p:sp>
      <p:sp>
        <p:nvSpPr>
          <p:cNvPr id="26" name="Text 24"/>
          <p:cNvSpPr txBox="1"/>
          <p:nvPr/>
        </p:nvSpPr>
        <p:spPr>
          <a:xfrm>
            <a:off x="5989320" y="3886200"/>
            <a:ext cx="2971800"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เน้นช่องแอลกอฮอล์และ CO₂</a:t>
            </a:r>
            <a:endParaRPr lang="en-US" sz="1400" dirty="0"/>
          </a:p>
        </p:txBody>
      </p:sp>
      <p:sp>
        <p:nvSpPr>
          <p:cNvPr id="27" name="Text 25"/>
          <p:cNvSpPr txBox="1"/>
          <p:nvPr/>
        </p:nvSpPr>
        <p:spPr>
          <a:xfrm>
            <a:off x="9189720" y="3886200"/>
            <a:ext cx="2359152"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สูง: ใช้แกนเดิม</a:t>
            </a:r>
            <a:endParaRPr lang="en-US" sz="1400" dirty="0"/>
          </a:p>
        </p:txBody>
      </p:sp>
      <p:sp>
        <p:nvSpPr>
          <p:cNvPr id="28" name="Shape 26"/>
          <p:cNvSpPr/>
          <p:nvPr/>
        </p:nvSpPr>
        <p:spPr>
          <a:xfrm>
            <a:off x="548640" y="4489704"/>
            <a:ext cx="11091672" cy="566928"/>
          </a:xfrm>
          <a:prstGeom prst="roundRect">
            <a:avLst>
              <a:gd name="adj" fmla="val 9677"/>
            </a:avLst>
          </a:prstGeom>
          <a:solidFill>
            <a:srgbClr val="EDF2E8"/>
          </a:solidFill>
          <a:ln w="12700">
            <a:solidFill>
              <a:srgbClr val="D5DFCB"/>
            </a:solidFill>
            <a:prstDash val="solid"/>
          </a:ln>
        </p:spPr>
      </p:sp>
      <p:sp>
        <p:nvSpPr>
          <p:cNvPr id="29" name="Text 27"/>
          <p:cNvSpPr txBox="1"/>
          <p:nvPr/>
        </p:nvSpPr>
        <p:spPr>
          <a:xfrm>
            <a:off x="685800" y="4489704"/>
            <a:ext cx="2148840" cy="566928"/>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ส้ม ส้มโอ</a:t>
            </a:r>
            <a:endParaRPr lang="en-US" sz="1400" dirty="0"/>
          </a:p>
        </p:txBody>
      </p:sp>
      <p:sp>
        <p:nvSpPr>
          <p:cNvPr id="30" name="Text 28"/>
          <p:cNvSpPr txBox="1"/>
          <p:nvPr/>
        </p:nvSpPr>
        <p:spPr>
          <a:xfrm>
            <a:off x="3063240" y="4489704"/>
            <a:ext cx="2697480"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ผลเน่าจากเชื้อรา</a:t>
            </a:r>
            <a:endParaRPr lang="en-US" sz="1400" dirty="0"/>
          </a:p>
        </p:txBody>
      </p:sp>
      <p:sp>
        <p:nvSpPr>
          <p:cNvPr id="31" name="Text 29"/>
          <p:cNvSpPr txBox="1"/>
          <p:nvPr/>
        </p:nvSpPr>
        <p:spPr>
          <a:xfrm>
            <a:off x="5989320" y="4489704"/>
            <a:ext cx="2971800"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PID ช่วงวัดกว้าง</a:t>
            </a:r>
            <a:endParaRPr lang="en-US" sz="1400" dirty="0"/>
          </a:p>
        </p:txBody>
      </p:sp>
      <p:sp>
        <p:nvSpPr>
          <p:cNvPr id="32" name="Text 30"/>
          <p:cNvSpPr txBox="1"/>
          <p:nvPr/>
        </p:nvSpPr>
        <p:spPr>
          <a:xfrm>
            <a:off x="9189720" y="4489704"/>
            <a:ext cx="2359152"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กลาง: น้ำมันผิวส้มรบกวน</a:t>
            </a:r>
            <a:endParaRPr lang="en-US" sz="1400" dirty="0"/>
          </a:p>
        </p:txBody>
      </p:sp>
      <p:sp>
        <p:nvSpPr>
          <p:cNvPr id="33" name="Shape 31"/>
          <p:cNvSpPr/>
          <p:nvPr/>
        </p:nvSpPr>
        <p:spPr>
          <a:xfrm>
            <a:off x="548640" y="5093208"/>
            <a:ext cx="11091672" cy="566928"/>
          </a:xfrm>
          <a:prstGeom prst="roundRect">
            <a:avLst>
              <a:gd name="adj" fmla="val 9677"/>
            </a:avLst>
          </a:prstGeom>
          <a:solidFill>
            <a:srgbClr val="FFFFFF"/>
          </a:solidFill>
          <a:ln w="12700">
            <a:solidFill>
              <a:srgbClr val="D5DFCB"/>
            </a:solidFill>
            <a:prstDash val="solid"/>
          </a:ln>
        </p:spPr>
      </p:sp>
      <p:sp>
        <p:nvSpPr>
          <p:cNvPr id="34" name="Text 32"/>
          <p:cNvSpPr txBox="1"/>
          <p:nvPr/>
        </p:nvSpPr>
        <p:spPr>
          <a:xfrm>
            <a:off x="685800" y="5093208"/>
            <a:ext cx="2148840" cy="566928"/>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มังคุด</a:t>
            </a:r>
            <a:endParaRPr lang="en-US" sz="1400" dirty="0"/>
          </a:p>
        </p:txBody>
      </p:sp>
      <p:sp>
        <p:nvSpPr>
          <p:cNvPr id="35" name="Text 33"/>
          <p:cNvSpPr txBox="1"/>
          <p:nvPr/>
        </p:nvSpPr>
        <p:spPr>
          <a:xfrm>
            <a:off x="3063240" y="5093208"/>
            <a:ext cx="2697480"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เนื้อแก้ว ยางไหล (ไม่มีกลิ่น)</a:t>
            </a:r>
            <a:endParaRPr lang="en-US" sz="1400" dirty="0"/>
          </a:p>
        </p:txBody>
      </p:sp>
      <p:sp>
        <p:nvSpPr>
          <p:cNvPr id="36" name="Text 34"/>
          <p:cNvSpPr txBox="1"/>
          <p:nvPr/>
        </p:nvSpPr>
        <p:spPr>
          <a:xfrm>
            <a:off x="5989320" y="5093208"/>
            <a:ext cx="2971800"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NIR + ความหนาแน่นเป็นหลัก</a:t>
            </a:r>
            <a:endParaRPr lang="en-US" sz="1400" dirty="0"/>
          </a:p>
        </p:txBody>
      </p:sp>
      <p:sp>
        <p:nvSpPr>
          <p:cNvPr id="37" name="Text 35"/>
          <p:cNvSpPr txBox="1"/>
          <p:nvPr/>
        </p:nvSpPr>
        <p:spPr>
          <a:xfrm>
            <a:off x="9189720" y="5093208"/>
            <a:ext cx="2359152" cy="566928"/>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ต่ำ: กลิ่นช่วยแค่ตรวจเน่า</a:t>
            </a:r>
            <a:endParaRPr lang="en-US" sz="1400" dirty="0"/>
          </a:p>
        </p:txBody>
      </p:sp>
      <p:sp>
        <p:nvSpPr>
          <p:cNvPr id="38" name="Text 36"/>
          <p:cNvSpPr txBox="1"/>
          <p:nvPr/>
        </p:nvSpPr>
        <p:spPr>
          <a:xfrm>
            <a:off x="548640" y="6172200"/>
            <a:ext cx="10424160" cy="27432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ที่มา: งานวิจัย e-nose มะม่วง (ScienceDirect), Bangkok Biz News (ลำไย) · ความพร้อมเป็นการประเมินของทีม</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ข้อจำกัดของ prototype (ชุด A)</a:t>
            </a:r>
            <a:endParaRPr lang="en-US" sz="3000" dirty="0"/>
          </a:p>
        </p:txBody>
      </p:sp>
      <p:sp>
        <p:nvSpPr>
          <p:cNvPr id="3" name="Shape 1"/>
          <p:cNvSpPr/>
          <p:nvPr/>
        </p:nvSpPr>
        <p:spPr>
          <a:xfrm>
            <a:off x="548640" y="1325880"/>
            <a:ext cx="3593592" cy="2606040"/>
          </a:xfrm>
          <a:prstGeom prst="roundRect">
            <a:avLst>
              <a:gd name="adj" fmla="val 6316"/>
            </a:avLst>
          </a:prstGeom>
          <a:solidFill>
            <a:srgbClr val="FBE6E3"/>
          </a:solidFill>
          <a:ln/>
        </p:spPr>
      </p:sp>
      <p:sp>
        <p:nvSpPr>
          <p:cNvPr id="4" name="Text 2"/>
          <p:cNvSpPr txBox="1"/>
          <p:nvPr/>
        </p:nvSpPr>
        <p:spPr>
          <a:xfrm>
            <a:off x="777240" y="1417320"/>
            <a:ext cx="3108960" cy="457200"/>
          </a:xfrm>
          <a:prstGeom prst="rect">
            <a:avLst/>
          </a:prstGeom>
          <a:noFill/>
          <a:ln/>
        </p:spPr>
        <p:txBody>
          <a:bodyPr wrap="square" lIns="0" tIns="0" rIns="0" bIns="0" rtlCol="0" anchor="ctr"/>
          <a:lstStyle/>
          <a:p>
            <a:pPr algn="l" indent="0" marL="0">
              <a:buNone/>
            </a:pPr>
            <a:r>
              <a:rPr lang="en-US" sz="2000" b="1" dirty="0">
                <a:solidFill>
                  <a:srgbClr val="8E2B22"/>
                </a:solidFill>
                <a:latin typeface="Tahoma" pitchFamily="34" charset="0"/>
                <a:ea typeface="Tahoma" pitchFamily="34" charset="-122"/>
                <a:cs typeface="Tahoma" pitchFamily="34" charset="-120"/>
              </a:rPr>
              <a:t>ทำไม่ได้</a:t>
            </a:r>
            <a:endParaRPr lang="en-US" sz="2000" dirty="0"/>
          </a:p>
        </p:txBody>
      </p:sp>
      <p:sp>
        <p:nvSpPr>
          <p:cNvPr id="5" name="Text 3"/>
          <p:cNvSpPr txBox="1"/>
          <p:nvPr/>
        </p:nvSpPr>
        <p:spPr>
          <a:xfrm>
            <a:off x="777240" y="1965960"/>
            <a:ext cx="3154680" cy="1920240"/>
          </a:xfrm>
          <a:prstGeom prst="rect">
            <a:avLst/>
          </a:prstGeom>
          <a:noFill/>
          <a:ln/>
        </p:spPr>
        <p:txBody>
          <a:bodyPr wrap="square" lIns="0" tIns="0" rIns="0" bIns="0" rtlCol="0" anchor="t"/>
          <a:lstStyle/>
          <a:p>
            <a:pPr algn="l" marL="152400" indent="-152400">
              <a:spcAft>
                <a:spcPts val="500"/>
              </a:spcAft>
              <a:buSzPct val="100000"/>
              <a:buChar char="•"/>
            </a:pPr>
            <a:r>
              <a:rPr lang="en-US" sz="1400" dirty="0">
                <a:solidFill>
                  <a:srgbClr val="17301F"/>
                </a:solidFill>
                <a:latin typeface="Tahoma" pitchFamily="34" charset="0"/>
                <a:ea typeface="Tahoma" pitchFamily="34" charset="-122"/>
                <a:cs typeface="Tahoma" pitchFamily="34" charset="-120"/>
              </a:rPr>
              <a:t>แยกทุเรียนอ่อนกับแก่จากกลิ่นอย่างเดียว</a:t>
            </a:r>
            <a:endParaRPr lang="en-US" sz="1400" dirty="0"/>
          </a:p>
          <a:p>
            <a:pPr algn="l" marL="152400" indent="-152400">
              <a:spcAft>
                <a:spcPts val="500"/>
              </a:spcAft>
              <a:buSzPct val="100000"/>
              <a:buChar char="•"/>
            </a:pPr>
            <a:r>
              <a:rPr lang="en-US" sz="1400" dirty="0">
                <a:solidFill>
                  <a:srgbClr val="17301F"/>
                </a:solidFill>
                <a:latin typeface="Tahoma" pitchFamily="34" charset="0"/>
                <a:ea typeface="Tahoma" pitchFamily="34" charset="-122"/>
                <a:cs typeface="Tahoma" pitchFamily="34" charset="-120"/>
              </a:rPr>
              <a:t>ตรวจสาร BY2 และแคดเมียม (ไม่มีกลิ่น)</a:t>
            </a:r>
            <a:endParaRPr lang="en-US" sz="1400" dirty="0"/>
          </a:p>
          <a:p>
            <a:pPr algn="l" marL="152400" indent="-152400">
              <a:spcAft>
                <a:spcPts val="500"/>
              </a:spcAft>
              <a:buSzPct val="100000"/>
              <a:buChar char="•"/>
            </a:pPr>
            <a:r>
              <a:rPr lang="en-US" sz="1400" dirty="0">
                <a:solidFill>
                  <a:srgbClr val="17301F"/>
                </a:solidFill>
                <a:latin typeface="Tahoma" pitchFamily="34" charset="0"/>
                <a:ea typeface="Tahoma" pitchFamily="34" charset="-122"/>
                <a:cs typeface="Tahoma" pitchFamily="34" charset="-120"/>
              </a:rPr>
              <a:t>แทนการตรวจตามมาตรฐาน มกษ.</a:t>
            </a:r>
            <a:endParaRPr lang="en-US" sz="1400" dirty="0"/>
          </a:p>
        </p:txBody>
      </p:sp>
      <p:sp>
        <p:nvSpPr>
          <p:cNvPr id="6" name="Shape 4"/>
          <p:cNvSpPr/>
          <p:nvPr/>
        </p:nvSpPr>
        <p:spPr>
          <a:xfrm>
            <a:off x="4297680" y="1325880"/>
            <a:ext cx="3593592" cy="2606040"/>
          </a:xfrm>
          <a:prstGeom prst="roundRect">
            <a:avLst>
              <a:gd name="adj" fmla="val 6316"/>
            </a:avLst>
          </a:prstGeom>
          <a:solidFill>
            <a:srgbClr val="FFF3D4"/>
          </a:solidFill>
          <a:ln/>
        </p:spPr>
      </p:sp>
      <p:sp>
        <p:nvSpPr>
          <p:cNvPr id="7" name="Text 5"/>
          <p:cNvSpPr txBox="1"/>
          <p:nvPr/>
        </p:nvSpPr>
        <p:spPr>
          <a:xfrm>
            <a:off x="4526280" y="1417320"/>
            <a:ext cx="3108960" cy="457200"/>
          </a:xfrm>
          <a:prstGeom prst="rect">
            <a:avLst/>
          </a:prstGeom>
          <a:noFill/>
          <a:ln/>
        </p:spPr>
        <p:txBody>
          <a:bodyPr wrap="square" lIns="0" tIns="0" rIns="0" bIns="0" rtlCol="0" anchor="ctr"/>
          <a:lstStyle/>
          <a:p>
            <a:pPr algn="l" indent="0" marL="0">
              <a:buNone/>
            </a:pPr>
            <a:r>
              <a:rPr lang="en-US" sz="2000" b="1" dirty="0">
                <a:solidFill>
                  <a:srgbClr val="7A4F00"/>
                </a:solidFill>
                <a:latin typeface="Tahoma" pitchFamily="34" charset="0"/>
                <a:ea typeface="Tahoma" pitchFamily="34" charset="-122"/>
                <a:cs typeface="Tahoma" pitchFamily="34" charset="-120"/>
              </a:rPr>
              <a:t>ทำได้แต่ยังจำกัด</a:t>
            </a:r>
            <a:endParaRPr lang="en-US" sz="2000" dirty="0"/>
          </a:p>
        </p:txBody>
      </p:sp>
      <p:sp>
        <p:nvSpPr>
          <p:cNvPr id="8" name="Text 6"/>
          <p:cNvSpPr txBox="1"/>
          <p:nvPr/>
        </p:nvSpPr>
        <p:spPr>
          <a:xfrm>
            <a:off x="4526280" y="1965960"/>
            <a:ext cx="3154680" cy="1920240"/>
          </a:xfrm>
          <a:prstGeom prst="rect">
            <a:avLst/>
          </a:prstGeom>
          <a:noFill/>
          <a:ln/>
        </p:spPr>
        <p:txBody>
          <a:bodyPr wrap="square" lIns="0" tIns="0" rIns="0" bIns="0" rtlCol="0" anchor="t"/>
          <a:lstStyle/>
          <a:p>
            <a:pPr algn="l" marL="152400" indent="-152400">
              <a:spcAft>
                <a:spcPts val="500"/>
              </a:spcAft>
              <a:buSzPct val="100000"/>
              <a:buChar char="•"/>
            </a:pPr>
            <a:r>
              <a:rPr lang="en-US" sz="1400" dirty="0">
                <a:solidFill>
                  <a:srgbClr val="17301F"/>
                </a:solidFill>
                <a:latin typeface="Tahoma" pitchFamily="34" charset="0"/>
                <a:ea typeface="Tahoma" pitchFamily="34" charset="-122"/>
                <a:cs typeface="Tahoma" pitchFamily="34" charset="-120"/>
              </a:rPr>
              <a:t>เซนเซอร์ MOS ราคาถูก ความแม่นจำกัด วัดสารรายชนิดไม่ได้</a:t>
            </a:r>
            <a:endParaRPr lang="en-US" sz="1400" dirty="0"/>
          </a:p>
          <a:p>
            <a:pPr algn="l" marL="152400" indent="-152400">
              <a:spcAft>
                <a:spcPts val="500"/>
              </a:spcAft>
              <a:buSzPct val="100000"/>
              <a:buChar char="•"/>
            </a:pPr>
            <a:r>
              <a:rPr lang="en-US" sz="1400" dirty="0">
                <a:solidFill>
                  <a:srgbClr val="17301F"/>
                </a:solidFill>
                <a:latin typeface="Tahoma" pitchFamily="34" charset="0"/>
                <a:ea typeface="Tahoma" pitchFamily="34" charset="-122"/>
                <a:cs typeface="Tahoma" pitchFamily="34" charset="-120"/>
              </a:rPr>
              <a:t>ดมได้ทีละลูก ราว 10 นาทีต่อรอบ</a:t>
            </a:r>
            <a:endParaRPr lang="en-US" sz="1400" dirty="0"/>
          </a:p>
          <a:p>
            <a:pPr algn="l" marL="152400" indent="-152400">
              <a:spcAft>
                <a:spcPts val="500"/>
              </a:spcAft>
              <a:buSzPct val="100000"/>
              <a:buChar char="•"/>
            </a:pPr>
            <a:r>
              <a:rPr lang="en-US" sz="1400" dirty="0">
                <a:solidFill>
                  <a:srgbClr val="17301F"/>
                </a:solidFill>
                <a:latin typeface="Tahoma" pitchFamily="34" charset="0"/>
                <a:ea typeface="Tahoma" pitchFamily="34" charset="-122"/>
                <a:cs typeface="Tahoma" pitchFamily="34" charset="-120"/>
              </a:rPr>
              <a:t>ในตู้ไม่มีเน็ต ต้องเก็บข้อมูลไว้ส่งทีหลัง</a:t>
            </a:r>
            <a:endParaRPr lang="en-US" sz="1400" dirty="0"/>
          </a:p>
        </p:txBody>
      </p:sp>
      <p:sp>
        <p:nvSpPr>
          <p:cNvPr id="9" name="Shape 7"/>
          <p:cNvSpPr/>
          <p:nvPr/>
        </p:nvSpPr>
        <p:spPr>
          <a:xfrm>
            <a:off x="8046720" y="1325880"/>
            <a:ext cx="3593592" cy="2606040"/>
          </a:xfrm>
          <a:prstGeom prst="roundRect">
            <a:avLst>
              <a:gd name="adj" fmla="val 6316"/>
            </a:avLst>
          </a:prstGeom>
          <a:solidFill>
            <a:srgbClr val="EFE9FB"/>
          </a:solidFill>
          <a:ln/>
        </p:spPr>
      </p:sp>
      <p:sp>
        <p:nvSpPr>
          <p:cNvPr id="10" name="Text 8"/>
          <p:cNvSpPr txBox="1"/>
          <p:nvPr/>
        </p:nvSpPr>
        <p:spPr>
          <a:xfrm>
            <a:off x="8275320" y="1417320"/>
            <a:ext cx="3108960" cy="457200"/>
          </a:xfrm>
          <a:prstGeom prst="rect">
            <a:avLst/>
          </a:prstGeom>
          <a:noFill/>
          <a:ln/>
        </p:spPr>
        <p:txBody>
          <a:bodyPr wrap="square" lIns="0" tIns="0" rIns="0" bIns="0" rtlCol="0" anchor="ctr"/>
          <a:lstStyle/>
          <a:p>
            <a:pPr algn="l" indent="0" marL="0">
              <a:buNone/>
            </a:pPr>
            <a:r>
              <a:rPr lang="en-US" sz="2000" b="1" dirty="0">
                <a:solidFill>
                  <a:srgbClr val="6E4FB8"/>
                </a:solidFill>
                <a:latin typeface="Tahoma" pitchFamily="34" charset="0"/>
                <a:ea typeface="Tahoma" pitchFamily="34" charset="-122"/>
                <a:cs typeface="Tahoma" pitchFamily="34" charset="-120"/>
              </a:rPr>
              <a:t>ยังไม่ได้พิสูจน์</a:t>
            </a:r>
            <a:endParaRPr lang="en-US" sz="2000" dirty="0"/>
          </a:p>
        </p:txBody>
      </p:sp>
      <p:sp>
        <p:nvSpPr>
          <p:cNvPr id="11" name="Text 9"/>
          <p:cNvSpPr txBox="1"/>
          <p:nvPr/>
        </p:nvSpPr>
        <p:spPr>
          <a:xfrm>
            <a:off x="8275320" y="1965960"/>
            <a:ext cx="3154680" cy="1920240"/>
          </a:xfrm>
          <a:prstGeom prst="rect">
            <a:avLst/>
          </a:prstGeom>
          <a:noFill/>
          <a:ln/>
        </p:spPr>
        <p:txBody>
          <a:bodyPr wrap="square" lIns="0" tIns="0" rIns="0" bIns="0" rtlCol="0" anchor="t"/>
          <a:lstStyle/>
          <a:p>
            <a:pPr algn="l" marL="152400" indent="-152400">
              <a:spcAft>
                <a:spcPts val="500"/>
              </a:spcAft>
              <a:buSzPct val="100000"/>
              <a:buChar char="•"/>
            </a:pPr>
            <a:r>
              <a:rPr lang="en-US" sz="1400" dirty="0">
                <a:solidFill>
                  <a:srgbClr val="17301F"/>
                </a:solidFill>
                <a:latin typeface="Tahoma" pitchFamily="34" charset="0"/>
                <a:ea typeface="Tahoma" pitchFamily="34" charset="-122"/>
                <a:cs typeface="Tahoma" pitchFamily="34" charset="-120"/>
              </a:rPr>
              <a:t>ยังไม่ได้ทดสอบกับทุเรียนจริง</a:t>
            </a:r>
            <a:endParaRPr lang="en-US" sz="1400" dirty="0"/>
          </a:p>
          <a:p>
            <a:pPr algn="l" marL="152400" indent="-152400">
              <a:spcAft>
                <a:spcPts val="500"/>
              </a:spcAft>
              <a:buSzPct val="100000"/>
              <a:buChar char="•"/>
            </a:pPr>
            <a:r>
              <a:rPr lang="en-US" sz="1400" dirty="0">
                <a:solidFill>
                  <a:srgbClr val="17301F"/>
                </a:solidFill>
                <a:latin typeface="Tahoma" pitchFamily="34" charset="0"/>
                <a:ea typeface="Tahoma" pitchFamily="34" charset="-122"/>
                <a:cs typeface="Tahoma" pitchFamily="34" charset="-120"/>
              </a:rPr>
              <a:t>ยังไม่รู้ว่าต้องสอนใหม่บ่อยแค่ไหนต่อพันธุ์และฤดู</a:t>
            </a:r>
            <a:endParaRPr lang="en-US" sz="1400" dirty="0"/>
          </a:p>
          <a:p>
            <a:pPr algn="l" marL="152400" indent="-152400">
              <a:spcAft>
                <a:spcPts val="500"/>
              </a:spcAft>
              <a:buSzPct val="100000"/>
              <a:buChar char="•"/>
            </a:pPr>
            <a:r>
              <a:rPr lang="en-US" sz="1400" dirty="0">
                <a:solidFill>
                  <a:srgbClr val="17301F"/>
                </a:solidFill>
                <a:latin typeface="Tahoma" pitchFamily="34" charset="0"/>
                <a:ea typeface="Tahoma" pitchFamily="34" charset="-122"/>
                <a:cs typeface="Tahoma" pitchFamily="34" charset="-120"/>
              </a:rPr>
              <a:t>ความทนทานในล้งที่ร้อนชื้น</a:t>
            </a:r>
            <a:endParaRPr lang="en-US" sz="1400" dirty="0"/>
          </a:p>
        </p:txBody>
      </p:sp>
      <p:sp>
        <p:nvSpPr>
          <p:cNvPr id="12" name="Shape 10"/>
          <p:cNvSpPr/>
          <p:nvPr/>
        </p:nvSpPr>
        <p:spPr>
          <a:xfrm>
            <a:off x="548640" y="4069080"/>
            <a:ext cx="11091672" cy="1371600"/>
          </a:xfrm>
          <a:prstGeom prst="roundRect">
            <a:avLst>
              <a:gd name="adj" fmla="val 12000"/>
            </a:avLst>
          </a:prstGeom>
          <a:solidFill>
            <a:srgbClr val="17301F"/>
          </a:solidFill>
          <a:ln/>
        </p:spPr>
      </p:sp>
      <p:sp>
        <p:nvSpPr>
          <p:cNvPr id="13" name="Text 11"/>
          <p:cNvSpPr txBox="1"/>
          <p:nvPr/>
        </p:nvSpPr>
        <p:spPr>
          <a:xfrm>
            <a:off x="822960" y="4114800"/>
            <a:ext cx="2743200" cy="365760"/>
          </a:xfrm>
          <a:prstGeom prst="rect">
            <a:avLst/>
          </a:prstGeom>
          <a:noFill/>
          <a:ln/>
        </p:spPr>
        <p:txBody>
          <a:bodyPr wrap="square" lIns="0" tIns="0" rIns="0" bIns="0" rtlCol="0" anchor="t"/>
          <a:lstStyle/>
          <a:p>
            <a:pPr algn="l" indent="0" marL="0">
              <a:buNone/>
            </a:pPr>
            <a:r>
              <a:rPr lang="en-US" sz="1400" b="1" dirty="0">
                <a:solidFill>
                  <a:srgbClr val="F5A742"/>
                </a:solidFill>
                <a:latin typeface="Tahoma" pitchFamily="34" charset="0"/>
                <a:ea typeface="Tahoma" pitchFamily="34" charset="-122"/>
                <a:cs typeface="Tahoma" pitchFamily="34" charset="-120"/>
              </a:rPr>
              <a:t>ที่ยังไม่ได้ทำ (รวมคำเตือน)</a:t>
            </a:r>
            <a:endParaRPr lang="en-US" sz="1400" dirty="0"/>
          </a:p>
        </p:txBody>
      </p:sp>
      <p:sp>
        <p:nvSpPr>
          <p:cNvPr id="14" name="Text 12"/>
          <p:cNvSpPr txBox="1"/>
          <p:nvPr/>
        </p:nvSpPr>
        <p:spPr>
          <a:xfrm>
            <a:off x="822960" y="4480560"/>
            <a:ext cx="5120640" cy="914400"/>
          </a:xfrm>
          <a:prstGeom prst="rect">
            <a:avLst/>
          </a:prstGeom>
          <a:noFill/>
          <a:ln/>
        </p:spPr>
        <p:txBody>
          <a:bodyPr wrap="square" lIns="0" tIns="0" rIns="0" bIns="0" rtlCol="0" anchor="t"/>
          <a:lstStyle/>
          <a:p>
            <a:pPr algn="l" marL="152400" indent="-152400">
              <a:spcAft>
                <a:spcPts val="300"/>
              </a:spcAft>
              <a:buSzPct val="100000"/>
              <a:buChar char="•"/>
            </a:pPr>
            <a:r>
              <a:rPr lang="en-US" sz="1400" dirty="0">
                <a:solidFill>
                  <a:srgbClr val="FFFFFF"/>
                </a:solidFill>
                <a:latin typeface="Tahoma" pitchFamily="34" charset="0"/>
                <a:ea typeface="Tahoma" pitchFamily="34" charset="-122"/>
                <a:cs typeface="Tahoma" pitchFamily="34" charset="-120"/>
              </a:rPr>
              <a:t>ยังไม่มีผลทดลองจากเครื่องของเรา — ไม่อ้างความแม่นยำ</a:t>
            </a:r>
            <a:endParaRPr lang="en-US" sz="1400" dirty="0"/>
          </a:p>
          <a:p>
            <a:pPr algn="l" marL="152400" indent="-152400">
              <a:spcAft>
                <a:spcPts val="300"/>
              </a:spcAft>
              <a:buSzPct val="100000"/>
              <a:buChar char="•"/>
            </a:pPr>
            <a:r>
              <a:rPr lang="en-US" sz="1400" dirty="0">
                <a:solidFill>
                  <a:srgbClr val="FFFFFF"/>
                </a:solidFill>
                <a:latin typeface="Tahoma" pitchFamily="34" charset="0"/>
                <a:ea typeface="Tahoma" pitchFamily="34" charset="-122"/>
                <a:cs typeface="Tahoma" pitchFamily="34" charset="-120"/>
              </a:rPr>
              <a:t>ยังไม่ได้ทดสอบ FlyHash กับกลิ่นผลไม้จริง</a:t>
            </a:r>
            <a:endParaRPr lang="en-US" sz="1400" dirty="0"/>
          </a:p>
        </p:txBody>
      </p:sp>
      <p:sp>
        <p:nvSpPr>
          <p:cNvPr id="15" name="Text 13"/>
          <p:cNvSpPr txBox="1"/>
          <p:nvPr/>
        </p:nvSpPr>
        <p:spPr>
          <a:xfrm>
            <a:off x="6126480" y="4480560"/>
            <a:ext cx="5394960" cy="914400"/>
          </a:xfrm>
          <a:prstGeom prst="rect">
            <a:avLst/>
          </a:prstGeom>
          <a:noFill/>
          <a:ln/>
        </p:spPr>
        <p:txBody>
          <a:bodyPr wrap="square" lIns="0" tIns="0" rIns="0" bIns="0" rtlCol="0" anchor="t"/>
          <a:lstStyle/>
          <a:p>
            <a:pPr algn="l" marL="152400" indent="-152400">
              <a:spcAft>
                <a:spcPts val="300"/>
              </a:spcAft>
              <a:buSzPct val="100000"/>
              <a:buChar char="•"/>
            </a:pPr>
            <a:r>
              <a:rPr lang="en-US" sz="1400" dirty="0">
                <a:solidFill>
                  <a:srgbClr val="FFFFFF"/>
                </a:solidFill>
                <a:latin typeface="Tahoma" pitchFamily="34" charset="0"/>
                <a:ea typeface="Tahoma" pitchFamily="34" charset="-122"/>
                <a:cs typeface="Tahoma" pitchFamily="34" charset="-120"/>
              </a:rPr>
              <a:t>ค่าใน simulation เป็นค่าจำลอง ราคาบางรายการ (เช่น BME680) ยังต้องยืนยัน</a:t>
            </a:r>
            <a:endParaRPr lang="en-US" sz="1400" dirty="0"/>
          </a:p>
          <a:p>
            <a:pPr algn="l" marL="152400" indent="-152400">
              <a:spcAft>
                <a:spcPts val="300"/>
              </a:spcAft>
              <a:buSzPct val="100000"/>
              <a:buChar char="•"/>
            </a:pPr>
            <a:r>
              <a:rPr lang="en-US" sz="1400" dirty="0">
                <a:solidFill>
                  <a:srgbClr val="FFFFFF"/>
                </a:solidFill>
                <a:latin typeface="Tahoma" pitchFamily="34" charset="0"/>
                <a:ea typeface="Tahoma" pitchFamily="34" charset="-122"/>
                <a:cs typeface="Tahoma" pitchFamily="34" charset="-120"/>
              </a:rPr>
              <a:t>งานวิจัยส่วนใหญ่เป็นห้องแล็บ ตัวเลขความเข้มข้นมีน้อย</a:t>
            </a:r>
            <a:endParaRPr lang="en-US" sz="1400" dirty="0"/>
          </a:p>
        </p:txBody>
      </p:sp>
      <p:sp>
        <p:nvSpPr>
          <p:cNvPr id="16" name="Text 14"/>
          <p:cNvSpPr txBox="1"/>
          <p:nvPr/>
        </p:nvSpPr>
        <p:spPr>
          <a:xfrm>
            <a:off x="548640" y="5577840"/>
            <a:ext cx="11091672" cy="731520"/>
          </a:xfrm>
          <a:prstGeom prst="rect">
            <a:avLst/>
          </a:prstGeom>
          <a:noFill/>
          <a:ln/>
        </p:spPr>
        <p:txBody>
          <a:bodyPr wrap="square" lIns="0" tIns="0" rIns="0" bIns="0" rtlCol="0" anchor="t"/>
          <a:lstStyle/>
          <a:p>
            <a:pPr algn="l" indent="0" marL="0">
              <a:buNone/>
            </a:pPr>
            <a:r>
              <a:rPr lang="en-US" sz="1600" b="1" dirty="0">
                <a:solidFill>
                  <a:srgbClr val="17301F"/>
                </a:solidFill>
                <a:latin typeface="Tahoma" pitchFamily="34" charset="0"/>
                <a:ea typeface="Tahoma" pitchFamily="34" charset="-122"/>
                <a:cs typeface="Tahoma" pitchFamily="34" charset="-120"/>
              </a:rPr>
              <a:t>ทำสิ่งที่เป็นไปได้ก่อน:</a:t>
            </a:r>
            <a:pPr algn="l" indent="0" marL="0">
              <a:buNone/>
            </a:pPr>
            <a:r>
              <a:rPr lang="en-US" sz="1600" dirty="0">
                <a:solidFill>
                  <a:srgbClr val="17301F"/>
                </a:solidFill>
                <a:latin typeface="Tahoma" pitchFamily="34" charset="0"/>
                <a:ea typeface="Tahoma" pitchFamily="34" charset="-122"/>
                <a:cs typeface="Tahoma" pitchFamily="34" charset="-120"/>
              </a:rPr>
              <a:t> พิสูจน์การเฝ้าระวังการสุกและการเสียด้วยชุด A ก่อน แล้วค่อยเพิ่มเซนเซอร์ระดับ B และวิจัยเรื่องทุเรียนอ่อนเมื่อมีทุนและข้อมูล</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Error check: จุดผิดพลาดและการตรวจจับ</a:t>
            </a:r>
            <a:endParaRPr lang="en-US" sz="3000" dirty="0"/>
          </a:p>
        </p:txBody>
      </p:sp>
      <p:sp>
        <p:nvSpPr>
          <p:cNvPr id="3" name="Shape 1"/>
          <p:cNvSpPr/>
          <p:nvPr/>
        </p:nvSpPr>
        <p:spPr>
          <a:xfrm>
            <a:off x="548640" y="1280160"/>
            <a:ext cx="11091672" cy="457200"/>
          </a:xfrm>
          <a:prstGeom prst="roundRect">
            <a:avLst>
              <a:gd name="adj" fmla="val 20000"/>
            </a:avLst>
          </a:prstGeom>
          <a:solidFill>
            <a:srgbClr val="17301F"/>
          </a:solidFill>
          <a:ln/>
        </p:spPr>
      </p:sp>
      <p:sp>
        <p:nvSpPr>
          <p:cNvPr id="4" name="Text 2"/>
          <p:cNvSpPr txBox="1"/>
          <p:nvPr/>
        </p:nvSpPr>
        <p:spPr>
          <a:xfrm>
            <a:off x="685800" y="1280160"/>
            <a:ext cx="301752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จุดที่อาจผิดพลาด</a:t>
            </a:r>
            <a:endParaRPr lang="en-US" sz="1400" dirty="0"/>
          </a:p>
        </p:txBody>
      </p:sp>
      <p:sp>
        <p:nvSpPr>
          <p:cNvPr id="5" name="Text 3"/>
          <p:cNvSpPr txBox="1"/>
          <p:nvPr/>
        </p:nvSpPr>
        <p:spPr>
          <a:xfrm>
            <a:off x="3886200" y="1280160"/>
            <a:ext cx="384048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เครื่องตรวจเจอได้อย่างไร</a:t>
            </a:r>
            <a:endParaRPr lang="en-US" sz="1400" dirty="0"/>
          </a:p>
        </p:txBody>
      </p:sp>
      <p:sp>
        <p:nvSpPr>
          <p:cNvPr id="6" name="Text 4"/>
          <p:cNvSpPr txBox="1"/>
          <p:nvPr/>
        </p:nvSpPr>
        <p:spPr>
          <a:xfrm>
            <a:off x="7909560" y="1280160"/>
            <a:ext cx="3685032"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วิธีรับมือ</a:t>
            </a:r>
            <a:endParaRPr lang="en-US" sz="1400" dirty="0"/>
          </a:p>
        </p:txBody>
      </p:sp>
      <p:sp>
        <p:nvSpPr>
          <p:cNvPr id="7" name="Shape 5"/>
          <p:cNvSpPr/>
          <p:nvPr/>
        </p:nvSpPr>
        <p:spPr>
          <a:xfrm>
            <a:off x="548640" y="1792224"/>
            <a:ext cx="11091672" cy="548640"/>
          </a:xfrm>
          <a:prstGeom prst="roundRect">
            <a:avLst>
              <a:gd name="adj" fmla="val 10000"/>
            </a:avLst>
          </a:prstGeom>
          <a:solidFill>
            <a:srgbClr val="EDF2E8"/>
          </a:solidFill>
          <a:ln w="12700">
            <a:solidFill>
              <a:srgbClr val="D5DFCB"/>
            </a:solidFill>
            <a:prstDash val="solid"/>
          </a:ln>
        </p:spPr>
      </p:sp>
      <p:sp>
        <p:nvSpPr>
          <p:cNvPr id="8" name="Text 6"/>
          <p:cNvSpPr txBox="1"/>
          <p:nvPr/>
        </p:nvSpPr>
        <p:spPr>
          <a:xfrm>
            <a:off x="685800" y="1792224"/>
            <a:ext cx="2971800" cy="54864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ความชื้นและอุณหภูมิในล้ง</a:t>
            </a:r>
            <a:endParaRPr lang="en-US" sz="1400" dirty="0"/>
          </a:p>
        </p:txBody>
      </p:sp>
      <p:sp>
        <p:nvSpPr>
          <p:cNvPr id="9" name="Text 7"/>
          <p:cNvSpPr txBox="1"/>
          <p:nvPr/>
        </p:nvSpPr>
        <p:spPr>
          <a:xfrm>
            <a:off x="3886200" y="1792224"/>
            <a:ext cx="3794760"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ค่า SHT/BME เปลี่ยนเกินช่วงที่สอนไว้</a:t>
            </a:r>
            <a:endParaRPr lang="en-US" sz="1400" dirty="0"/>
          </a:p>
        </p:txBody>
      </p:sp>
      <p:sp>
        <p:nvSpPr>
          <p:cNvPr id="10" name="Text 8"/>
          <p:cNvSpPr txBox="1"/>
          <p:nvPr/>
        </p:nvSpPr>
        <p:spPr>
          <a:xfrm>
            <a:off x="7909560" y="1792224"/>
            <a:ext cx="3639312"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ใช้ค่าต่างกับอากาศอ้างอิง ชดเชยในโมเดล</a:t>
            </a:r>
            <a:endParaRPr lang="en-US" sz="1400" dirty="0"/>
          </a:p>
        </p:txBody>
      </p:sp>
      <p:sp>
        <p:nvSpPr>
          <p:cNvPr id="11" name="Shape 9"/>
          <p:cNvSpPr/>
          <p:nvPr/>
        </p:nvSpPr>
        <p:spPr>
          <a:xfrm>
            <a:off x="548640" y="2377440"/>
            <a:ext cx="11091672" cy="548640"/>
          </a:xfrm>
          <a:prstGeom prst="roundRect">
            <a:avLst>
              <a:gd name="adj" fmla="val 10000"/>
            </a:avLst>
          </a:prstGeom>
          <a:solidFill>
            <a:srgbClr val="FFFFFF"/>
          </a:solidFill>
          <a:ln w="12700">
            <a:solidFill>
              <a:srgbClr val="D5DFCB"/>
            </a:solidFill>
            <a:prstDash val="solid"/>
          </a:ln>
        </p:spPr>
      </p:sp>
      <p:sp>
        <p:nvSpPr>
          <p:cNvPr id="12" name="Text 10"/>
          <p:cNvSpPr txBox="1"/>
          <p:nvPr/>
        </p:nvSpPr>
        <p:spPr>
          <a:xfrm>
            <a:off x="685800" y="2377440"/>
            <a:ext cx="2971800" cy="54864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เซนเซอร์เพี้ยนสะสม</a:t>
            </a:r>
            <a:endParaRPr lang="en-US" sz="1400" dirty="0"/>
          </a:p>
        </p:txBody>
      </p:sp>
      <p:sp>
        <p:nvSpPr>
          <p:cNvPr id="13" name="Text 11"/>
          <p:cNvSpPr txBox="1"/>
          <p:nvPr/>
        </p:nvSpPr>
        <p:spPr>
          <a:xfrm>
            <a:off x="3886200" y="2377440"/>
            <a:ext cx="3794760"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ดมกลิ่นมาตรฐานทุกเช้า ค่าต่างจากเมื่อวาน</a:t>
            </a:r>
            <a:endParaRPr lang="en-US" sz="1400" dirty="0"/>
          </a:p>
        </p:txBody>
      </p:sp>
      <p:sp>
        <p:nvSpPr>
          <p:cNvPr id="14" name="Text 12"/>
          <p:cNvSpPr txBox="1"/>
          <p:nvPr/>
        </p:nvSpPr>
        <p:spPr>
          <a:xfrm>
            <a:off x="7909560" y="2377440"/>
            <a:ext cx="3639312"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ชดเชยหรือแจ้งให้สอบเทียบ</a:t>
            </a:r>
            <a:endParaRPr lang="en-US" sz="1400" dirty="0"/>
          </a:p>
        </p:txBody>
      </p:sp>
      <p:sp>
        <p:nvSpPr>
          <p:cNvPr id="15" name="Shape 13"/>
          <p:cNvSpPr/>
          <p:nvPr/>
        </p:nvSpPr>
        <p:spPr>
          <a:xfrm>
            <a:off x="548640" y="2962656"/>
            <a:ext cx="11091672" cy="548640"/>
          </a:xfrm>
          <a:prstGeom prst="roundRect">
            <a:avLst>
              <a:gd name="adj" fmla="val 10000"/>
            </a:avLst>
          </a:prstGeom>
          <a:solidFill>
            <a:srgbClr val="EDF2E8"/>
          </a:solidFill>
          <a:ln w="12700">
            <a:solidFill>
              <a:srgbClr val="D5DFCB"/>
            </a:solidFill>
            <a:prstDash val="solid"/>
          </a:ln>
        </p:spPr>
      </p:sp>
      <p:sp>
        <p:nvSpPr>
          <p:cNvPr id="16" name="Text 14"/>
          <p:cNvSpPr txBox="1"/>
          <p:nvPr/>
        </p:nvSpPr>
        <p:spPr>
          <a:xfrm>
            <a:off x="685800" y="2962656"/>
            <a:ext cx="2971800" cy="54864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กลิ่นค้างในท่อ</a:t>
            </a:r>
            <a:endParaRPr lang="en-US" sz="1400" dirty="0"/>
          </a:p>
        </p:txBody>
      </p:sp>
      <p:sp>
        <p:nvSpPr>
          <p:cNvPr id="17" name="Text 15"/>
          <p:cNvSpPr txBox="1"/>
          <p:nvPr/>
        </p:nvSpPr>
        <p:spPr>
          <a:xfrm>
            <a:off x="3886200" y="2962656"/>
            <a:ext cx="3794760"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ค่าไม่กลับเส้นฐานหลังล้าง</a:t>
            </a:r>
            <a:endParaRPr lang="en-US" sz="1400" dirty="0"/>
          </a:p>
        </p:txBody>
      </p:sp>
      <p:sp>
        <p:nvSpPr>
          <p:cNvPr id="18" name="Text 16"/>
          <p:cNvSpPr txBox="1"/>
          <p:nvPr/>
        </p:nvSpPr>
        <p:spPr>
          <a:xfrm>
            <a:off x="7909560" y="2962656"/>
            <a:ext cx="3639312"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ล็อกไม่ให้ดมลูกถัดไปจนกว่าจะกลับ</a:t>
            </a:r>
            <a:endParaRPr lang="en-US" sz="1400" dirty="0"/>
          </a:p>
        </p:txBody>
      </p:sp>
      <p:sp>
        <p:nvSpPr>
          <p:cNvPr id="19" name="Shape 17"/>
          <p:cNvSpPr/>
          <p:nvPr/>
        </p:nvSpPr>
        <p:spPr>
          <a:xfrm>
            <a:off x="548640" y="3547872"/>
            <a:ext cx="11091672" cy="548640"/>
          </a:xfrm>
          <a:prstGeom prst="roundRect">
            <a:avLst>
              <a:gd name="adj" fmla="val 10000"/>
            </a:avLst>
          </a:prstGeom>
          <a:solidFill>
            <a:srgbClr val="FFFFFF"/>
          </a:solidFill>
          <a:ln w="12700">
            <a:solidFill>
              <a:srgbClr val="D5DFCB"/>
            </a:solidFill>
            <a:prstDash val="solid"/>
          </a:ln>
        </p:spPr>
      </p:sp>
      <p:sp>
        <p:nvSpPr>
          <p:cNvPr id="20" name="Text 18"/>
          <p:cNvSpPr txBox="1"/>
          <p:nvPr/>
        </p:nvSpPr>
        <p:spPr>
          <a:xfrm>
            <a:off x="685800" y="3547872"/>
            <a:ext cx="2971800" cy="54864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เซนเซอร์อิ่มตัว</a:t>
            </a:r>
            <a:endParaRPr lang="en-US" sz="1400" dirty="0"/>
          </a:p>
        </p:txBody>
      </p:sp>
      <p:sp>
        <p:nvSpPr>
          <p:cNvPr id="21" name="Text 19"/>
          <p:cNvSpPr txBox="1"/>
          <p:nvPr/>
        </p:nvSpPr>
        <p:spPr>
          <a:xfrm>
            <a:off x="3886200" y="3547872"/>
            <a:ext cx="3794760"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ค่าชนเพดานของช่วงวัด</a:t>
            </a:r>
            <a:endParaRPr lang="en-US" sz="1400" dirty="0"/>
          </a:p>
        </p:txBody>
      </p:sp>
      <p:sp>
        <p:nvSpPr>
          <p:cNvPr id="22" name="Text 20"/>
          <p:cNvSpPr txBox="1"/>
          <p:nvPr/>
        </p:nvSpPr>
        <p:spPr>
          <a:xfrm>
            <a:off x="7909560" y="3547872"/>
            <a:ext cx="3639312"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เปิดวาล์วเจือจางแล้วดมใหม่</a:t>
            </a:r>
            <a:endParaRPr lang="en-US" sz="1400" dirty="0"/>
          </a:p>
        </p:txBody>
      </p:sp>
      <p:sp>
        <p:nvSpPr>
          <p:cNvPr id="23" name="Shape 21"/>
          <p:cNvSpPr/>
          <p:nvPr/>
        </p:nvSpPr>
        <p:spPr>
          <a:xfrm>
            <a:off x="548640" y="4133088"/>
            <a:ext cx="11091672" cy="548640"/>
          </a:xfrm>
          <a:prstGeom prst="roundRect">
            <a:avLst>
              <a:gd name="adj" fmla="val 10000"/>
            </a:avLst>
          </a:prstGeom>
          <a:solidFill>
            <a:srgbClr val="EDF2E8"/>
          </a:solidFill>
          <a:ln w="12700">
            <a:solidFill>
              <a:srgbClr val="D5DFCB"/>
            </a:solidFill>
            <a:prstDash val="solid"/>
          </a:ln>
        </p:spPr>
      </p:sp>
      <p:sp>
        <p:nvSpPr>
          <p:cNvPr id="24" name="Text 22"/>
          <p:cNvSpPr txBox="1"/>
          <p:nvPr/>
        </p:nvSpPr>
        <p:spPr>
          <a:xfrm>
            <a:off x="685800" y="4133088"/>
            <a:ext cx="2971800" cy="54864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เซนเซอร์สองตัวขัดกัน</a:t>
            </a:r>
            <a:endParaRPr lang="en-US" sz="1400" dirty="0"/>
          </a:p>
        </p:txBody>
      </p:sp>
      <p:sp>
        <p:nvSpPr>
          <p:cNvPr id="25" name="Text 23"/>
          <p:cNvSpPr txBox="1"/>
          <p:nvPr/>
        </p:nvSpPr>
        <p:spPr>
          <a:xfrm>
            <a:off x="3886200" y="4133088"/>
            <a:ext cx="3794760"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ช่องเดียวกันให้ค่าต่างกันมาก</a:t>
            </a:r>
            <a:endParaRPr lang="en-US" sz="1400" dirty="0"/>
          </a:p>
        </p:txBody>
      </p:sp>
      <p:sp>
        <p:nvSpPr>
          <p:cNvPr id="26" name="Text 24"/>
          <p:cNvSpPr txBox="1"/>
          <p:nvPr/>
        </p:nvSpPr>
        <p:spPr>
          <a:xfrm>
            <a:off x="7909560" y="4133088"/>
            <a:ext cx="3639312"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ตอบ "ไม่แน่ใจ" ส่งให้คนตรวจ</a:t>
            </a:r>
            <a:endParaRPr lang="en-US" sz="1400" dirty="0"/>
          </a:p>
        </p:txBody>
      </p:sp>
      <p:sp>
        <p:nvSpPr>
          <p:cNvPr id="27" name="Shape 25"/>
          <p:cNvSpPr/>
          <p:nvPr/>
        </p:nvSpPr>
        <p:spPr>
          <a:xfrm>
            <a:off x="548640" y="4718304"/>
            <a:ext cx="11091672" cy="548640"/>
          </a:xfrm>
          <a:prstGeom prst="roundRect">
            <a:avLst>
              <a:gd name="adj" fmla="val 10000"/>
            </a:avLst>
          </a:prstGeom>
          <a:solidFill>
            <a:srgbClr val="FFFFFF"/>
          </a:solidFill>
          <a:ln w="12700">
            <a:solidFill>
              <a:srgbClr val="D5DFCB"/>
            </a:solidFill>
            <a:prstDash val="solid"/>
          </a:ln>
        </p:spPr>
      </p:sp>
      <p:sp>
        <p:nvSpPr>
          <p:cNvPr id="28" name="Text 26"/>
          <p:cNvSpPr txBox="1"/>
          <p:nvPr/>
        </p:nvSpPr>
        <p:spPr>
          <a:xfrm>
            <a:off x="685800" y="4718304"/>
            <a:ext cx="2971800" cy="54864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กลิ่นที่ไม่เคยเจอ</a:t>
            </a:r>
            <a:endParaRPr lang="en-US" sz="1400" dirty="0"/>
          </a:p>
        </p:txBody>
      </p:sp>
      <p:sp>
        <p:nvSpPr>
          <p:cNvPr id="29" name="Text 27"/>
          <p:cNvSpPr txBox="1"/>
          <p:nvPr/>
        </p:nvSpPr>
        <p:spPr>
          <a:xfrm>
            <a:off x="3886200" y="4718304"/>
            <a:ext cx="3794760"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คะแนนความแปลกใหม่ของ FlyHash สูง</a:t>
            </a:r>
            <a:endParaRPr lang="en-US" sz="1400" dirty="0"/>
          </a:p>
        </p:txBody>
      </p:sp>
      <p:sp>
        <p:nvSpPr>
          <p:cNvPr id="30" name="Text 28"/>
          <p:cNvSpPr txBox="1"/>
          <p:nvPr/>
        </p:nvSpPr>
        <p:spPr>
          <a:xfrm>
            <a:off x="7909560" y="4718304"/>
            <a:ext cx="3639312"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เตือนแยก และขอเฉลยเพิ่มความจำ</a:t>
            </a:r>
            <a:endParaRPr lang="en-US" sz="1400" dirty="0"/>
          </a:p>
        </p:txBody>
      </p:sp>
      <p:sp>
        <p:nvSpPr>
          <p:cNvPr id="31" name="Shape 29"/>
          <p:cNvSpPr/>
          <p:nvPr/>
        </p:nvSpPr>
        <p:spPr>
          <a:xfrm>
            <a:off x="548640" y="5303520"/>
            <a:ext cx="11091672" cy="548640"/>
          </a:xfrm>
          <a:prstGeom prst="roundRect">
            <a:avLst>
              <a:gd name="adj" fmla="val 10000"/>
            </a:avLst>
          </a:prstGeom>
          <a:solidFill>
            <a:srgbClr val="EDF2E8"/>
          </a:solidFill>
          <a:ln w="12700">
            <a:solidFill>
              <a:srgbClr val="D5DFCB"/>
            </a:solidFill>
            <a:prstDash val="solid"/>
          </a:ln>
        </p:spPr>
      </p:sp>
      <p:sp>
        <p:nvSpPr>
          <p:cNvPr id="32" name="Text 30"/>
          <p:cNvSpPr txBox="1"/>
          <p:nvPr/>
        </p:nvSpPr>
        <p:spPr>
          <a:xfrm>
            <a:off x="685800" y="5303520"/>
            <a:ext cx="2971800" cy="54864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โมเดลจำ "ลูก" แทน "ความสุก"</a:t>
            </a:r>
            <a:endParaRPr lang="en-US" sz="1400" dirty="0"/>
          </a:p>
        </p:txBody>
      </p:sp>
      <p:sp>
        <p:nvSpPr>
          <p:cNvPr id="33" name="Text 31"/>
          <p:cNvSpPr txBox="1"/>
          <p:nvPr/>
        </p:nvSpPr>
        <p:spPr>
          <a:xfrm>
            <a:off x="3886200" y="5303520"/>
            <a:ext cx="3794760"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ทดสอบแบบกันทีละลูก/สวน แล้วความแม่นตก</a:t>
            </a:r>
            <a:endParaRPr lang="en-US" sz="1400" dirty="0"/>
          </a:p>
        </p:txBody>
      </p:sp>
      <p:sp>
        <p:nvSpPr>
          <p:cNvPr id="34" name="Text 32"/>
          <p:cNvSpPr txBox="1"/>
          <p:nvPr/>
        </p:nvSpPr>
        <p:spPr>
          <a:xfrm>
            <a:off x="7909560" y="5303520"/>
            <a:ext cx="3639312" cy="54864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เก็บข้อมูลหลายลูก หลายสวน หลายวัน</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Tahoma" pitchFamily="34" charset="0"/>
                <a:ea typeface="Tahoma" pitchFamily="34" charset="-122"/>
                <a:cs typeface="Tahoma" pitchFamily="34" charset="-120"/>
              </a:rPr>
              <a:t>ขอคำชี้แนะจากกรรมการ</a:t>
            </a:r>
            <a:endParaRPr lang="en-US" sz="3000" dirty="0"/>
          </a:p>
        </p:txBody>
      </p:sp>
      <p:sp>
        <p:nvSpPr>
          <p:cNvPr id="3" name="Shape 1"/>
          <p:cNvSpPr/>
          <p:nvPr/>
        </p:nvSpPr>
        <p:spPr>
          <a:xfrm>
            <a:off x="548640" y="1463040"/>
            <a:ext cx="594360" cy="594360"/>
          </a:xfrm>
          <a:prstGeom prst="ellipse">
            <a:avLst/>
          </a:prstGeom>
          <a:solidFill>
            <a:srgbClr val="F5A742"/>
          </a:solidFill>
          <a:ln/>
        </p:spPr>
      </p:sp>
      <p:sp>
        <p:nvSpPr>
          <p:cNvPr id="4" name="Text 2"/>
          <p:cNvSpPr txBox="1"/>
          <p:nvPr/>
        </p:nvSpPr>
        <p:spPr>
          <a:xfrm>
            <a:off x="548640" y="1463040"/>
            <a:ext cx="594360" cy="594360"/>
          </a:xfrm>
          <a:prstGeom prst="rect">
            <a:avLst/>
          </a:prstGeom>
          <a:noFill/>
          <a:ln/>
        </p:spPr>
        <p:txBody>
          <a:bodyPr wrap="square" lIns="0" tIns="0" rIns="0" bIns="0" rtlCol="0" anchor="ctr"/>
          <a:lstStyle/>
          <a:p>
            <a:pPr algn="ctr" indent="0" marL="0">
              <a:buNone/>
            </a:pPr>
            <a:r>
              <a:rPr lang="en-US" sz="2000" b="1" dirty="0">
                <a:solidFill>
                  <a:srgbClr val="17301F"/>
                </a:solidFill>
                <a:latin typeface="Tahoma" pitchFamily="34" charset="0"/>
                <a:ea typeface="Tahoma" pitchFamily="34" charset="-122"/>
                <a:cs typeface="Tahoma" pitchFamily="34" charset="-120"/>
              </a:rPr>
              <a:t>1</a:t>
            </a:r>
            <a:endParaRPr lang="en-US" sz="2000" dirty="0"/>
          </a:p>
        </p:txBody>
      </p:sp>
      <p:sp>
        <p:nvSpPr>
          <p:cNvPr id="5" name="Text 3"/>
          <p:cNvSpPr txBox="1"/>
          <p:nvPr/>
        </p:nvSpPr>
        <p:spPr>
          <a:xfrm>
            <a:off x="1371600" y="1371600"/>
            <a:ext cx="5669280" cy="914400"/>
          </a:xfrm>
          <a:prstGeom prst="rect">
            <a:avLst/>
          </a:prstGeom>
          <a:noFill/>
          <a:ln/>
        </p:spPr>
        <p:txBody>
          <a:bodyPr wrap="square" lIns="0" tIns="0" rIns="0" bIns="0" rtlCol="0" anchor="ctr"/>
          <a:lstStyle/>
          <a:p>
            <a:pPr algn="l" indent="0" marL="0">
              <a:buNone/>
            </a:pPr>
            <a:r>
              <a:rPr lang="en-US" sz="1800" dirty="0">
                <a:solidFill>
                  <a:srgbClr val="FFFFFF"/>
                </a:solidFill>
                <a:latin typeface="Tahoma" pitchFamily="34" charset="0"/>
                <a:ea typeface="Tahoma" pitchFamily="34" charset="-122"/>
                <a:cs typeface="Tahoma" pitchFamily="34" charset="-120"/>
              </a:rPr>
              <a:t>ควรเริ่มทดสอบที่ล้งก่อน หรือในตู้คอนเทนเนอร์ก่อน ถึงจะพิสูจน์คุณค่าได้ชัดที่สุด</a:t>
            </a:r>
            <a:endParaRPr lang="en-US" sz="1800" dirty="0"/>
          </a:p>
        </p:txBody>
      </p:sp>
      <p:sp>
        <p:nvSpPr>
          <p:cNvPr id="6" name="Shape 4"/>
          <p:cNvSpPr/>
          <p:nvPr/>
        </p:nvSpPr>
        <p:spPr>
          <a:xfrm>
            <a:off x="548640" y="2560320"/>
            <a:ext cx="594360" cy="594360"/>
          </a:xfrm>
          <a:prstGeom prst="ellipse">
            <a:avLst/>
          </a:prstGeom>
          <a:solidFill>
            <a:srgbClr val="F5A742"/>
          </a:solidFill>
          <a:ln/>
        </p:spPr>
      </p:sp>
      <p:sp>
        <p:nvSpPr>
          <p:cNvPr id="7" name="Text 5"/>
          <p:cNvSpPr txBox="1"/>
          <p:nvPr/>
        </p:nvSpPr>
        <p:spPr>
          <a:xfrm>
            <a:off x="548640" y="2560320"/>
            <a:ext cx="594360" cy="594360"/>
          </a:xfrm>
          <a:prstGeom prst="rect">
            <a:avLst/>
          </a:prstGeom>
          <a:noFill/>
          <a:ln/>
        </p:spPr>
        <p:txBody>
          <a:bodyPr wrap="square" lIns="0" tIns="0" rIns="0" bIns="0" rtlCol="0" anchor="ctr"/>
          <a:lstStyle/>
          <a:p>
            <a:pPr algn="ctr" indent="0" marL="0">
              <a:buNone/>
            </a:pPr>
            <a:r>
              <a:rPr lang="en-US" sz="2000" b="1" dirty="0">
                <a:solidFill>
                  <a:srgbClr val="17301F"/>
                </a:solidFill>
                <a:latin typeface="Tahoma" pitchFamily="34" charset="0"/>
                <a:ea typeface="Tahoma" pitchFamily="34" charset="-122"/>
                <a:cs typeface="Tahoma" pitchFamily="34" charset="-120"/>
              </a:rPr>
              <a:t>2</a:t>
            </a:r>
            <a:endParaRPr lang="en-US" sz="2000" dirty="0"/>
          </a:p>
        </p:txBody>
      </p:sp>
      <p:sp>
        <p:nvSpPr>
          <p:cNvPr id="8" name="Text 6"/>
          <p:cNvSpPr txBox="1"/>
          <p:nvPr/>
        </p:nvSpPr>
        <p:spPr>
          <a:xfrm>
            <a:off x="1371600" y="2468880"/>
            <a:ext cx="5669280" cy="914400"/>
          </a:xfrm>
          <a:prstGeom prst="rect">
            <a:avLst/>
          </a:prstGeom>
          <a:noFill/>
          <a:ln/>
        </p:spPr>
        <p:txBody>
          <a:bodyPr wrap="square" lIns="0" tIns="0" rIns="0" bIns="0" rtlCol="0" anchor="ctr"/>
          <a:lstStyle/>
          <a:p>
            <a:pPr algn="l" indent="0" marL="0">
              <a:buNone/>
            </a:pPr>
            <a:r>
              <a:rPr lang="en-US" sz="1800" dirty="0">
                <a:solidFill>
                  <a:srgbClr val="FFFFFF"/>
                </a:solidFill>
                <a:latin typeface="Tahoma" pitchFamily="34" charset="0"/>
                <a:ea typeface="Tahoma" pitchFamily="34" charset="-122"/>
                <a:cs typeface="Tahoma" pitchFamily="34" charset="-120"/>
              </a:rPr>
              <a:t>การวางตำแหน่ง "เฝ้าการสุกและการเสีย" แทน "จับทุเรียนอ่อน" ตอบโจทย์ผู้ใช้จริงพอหรือไม่</a:t>
            </a:r>
            <a:endParaRPr lang="en-US" sz="1800" dirty="0"/>
          </a:p>
        </p:txBody>
      </p:sp>
      <p:sp>
        <p:nvSpPr>
          <p:cNvPr id="9" name="Shape 7"/>
          <p:cNvSpPr/>
          <p:nvPr/>
        </p:nvSpPr>
        <p:spPr>
          <a:xfrm>
            <a:off x="548640" y="3657600"/>
            <a:ext cx="594360" cy="594360"/>
          </a:xfrm>
          <a:prstGeom prst="ellipse">
            <a:avLst/>
          </a:prstGeom>
          <a:solidFill>
            <a:srgbClr val="F5A742"/>
          </a:solidFill>
          <a:ln/>
        </p:spPr>
      </p:sp>
      <p:sp>
        <p:nvSpPr>
          <p:cNvPr id="10" name="Text 8"/>
          <p:cNvSpPr txBox="1"/>
          <p:nvPr/>
        </p:nvSpPr>
        <p:spPr>
          <a:xfrm>
            <a:off x="548640" y="3657600"/>
            <a:ext cx="594360" cy="594360"/>
          </a:xfrm>
          <a:prstGeom prst="rect">
            <a:avLst/>
          </a:prstGeom>
          <a:noFill/>
          <a:ln/>
        </p:spPr>
        <p:txBody>
          <a:bodyPr wrap="square" lIns="0" tIns="0" rIns="0" bIns="0" rtlCol="0" anchor="ctr"/>
          <a:lstStyle/>
          <a:p>
            <a:pPr algn="ctr" indent="0" marL="0">
              <a:buNone/>
            </a:pPr>
            <a:r>
              <a:rPr lang="en-US" sz="2000" b="1" dirty="0">
                <a:solidFill>
                  <a:srgbClr val="17301F"/>
                </a:solidFill>
                <a:latin typeface="Tahoma" pitchFamily="34" charset="0"/>
                <a:ea typeface="Tahoma" pitchFamily="34" charset="-122"/>
                <a:cs typeface="Tahoma" pitchFamily="34" charset="-120"/>
              </a:rPr>
              <a:t>3</a:t>
            </a:r>
            <a:endParaRPr lang="en-US" sz="2000" dirty="0"/>
          </a:p>
        </p:txBody>
      </p:sp>
      <p:sp>
        <p:nvSpPr>
          <p:cNvPr id="11" name="Text 9"/>
          <p:cNvSpPr txBox="1"/>
          <p:nvPr/>
        </p:nvSpPr>
        <p:spPr>
          <a:xfrm>
            <a:off x="1371600" y="3566160"/>
            <a:ext cx="5669280" cy="914400"/>
          </a:xfrm>
          <a:prstGeom prst="rect">
            <a:avLst/>
          </a:prstGeom>
          <a:noFill/>
          <a:ln/>
        </p:spPr>
        <p:txBody>
          <a:bodyPr wrap="square" lIns="0" tIns="0" rIns="0" bIns="0" rtlCol="0" anchor="ctr"/>
          <a:lstStyle/>
          <a:p>
            <a:pPr algn="l" indent="0" marL="0">
              <a:buNone/>
            </a:pPr>
            <a:r>
              <a:rPr lang="en-US" sz="1800" dirty="0">
                <a:solidFill>
                  <a:srgbClr val="FFFFFF"/>
                </a:solidFill>
                <a:latin typeface="Tahoma" pitchFamily="34" charset="0"/>
                <a:ea typeface="Tahoma" pitchFamily="34" charset="-122"/>
                <a:cs typeface="Tahoma" pitchFamily="34" charset="-120"/>
              </a:rPr>
              <a:t>ควรลงทุนเซนเซอร์ระดับ B (PID) ตั้งแต่ต้น หรือพิสูจน์ด้วยชุด A ก่อน</a:t>
            </a:r>
            <a:endParaRPr lang="en-US" sz="1800" dirty="0"/>
          </a:p>
        </p:txBody>
      </p:sp>
      <p:sp>
        <p:nvSpPr>
          <p:cNvPr id="12" name="Shape 10"/>
          <p:cNvSpPr/>
          <p:nvPr/>
        </p:nvSpPr>
        <p:spPr>
          <a:xfrm>
            <a:off x="548640" y="4754880"/>
            <a:ext cx="594360" cy="594360"/>
          </a:xfrm>
          <a:prstGeom prst="ellipse">
            <a:avLst/>
          </a:prstGeom>
          <a:solidFill>
            <a:srgbClr val="F5A742"/>
          </a:solidFill>
          <a:ln/>
        </p:spPr>
      </p:sp>
      <p:sp>
        <p:nvSpPr>
          <p:cNvPr id="13" name="Text 11"/>
          <p:cNvSpPr txBox="1"/>
          <p:nvPr/>
        </p:nvSpPr>
        <p:spPr>
          <a:xfrm>
            <a:off x="548640" y="4754880"/>
            <a:ext cx="594360" cy="594360"/>
          </a:xfrm>
          <a:prstGeom prst="rect">
            <a:avLst/>
          </a:prstGeom>
          <a:noFill/>
          <a:ln/>
        </p:spPr>
        <p:txBody>
          <a:bodyPr wrap="square" lIns="0" tIns="0" rIns="0" bIns="0" rtlCol="0" anchor="ctr"/>
          <a:lstStyle/>
          <a:p>
            <a:pPr algn="ctr" indent="0" marL="0">
              <a:buNone/>
            </a:pPr>
            <a:r>
              <a:rPr lang="en-US" sz="2000" b="1" dirty="0">
                <a:solidFill>
                  <a:srgbClr val="17301F"/>
                </a:solidFill>
                <a:latin typeface="Tahoma" pitchFamily="34" charset="0"/>
                <a:ea typeface="Tahoma" pitchFamily="34" charset="-122"/>
                <a:cs typeface="Tahoma" pitchFamily="34" charset="-120"/>
              </a:rPr>
              <a:t>4</a:t>
            </a:r>
            <a:endParaRPr lang="en-US" sz="2000" dirty="0"/>
          </a:p>
        </p:txBody>
      </p:sp>
      <p:sp>
        <p:nvSpPr>
          <p:cNvPr id="14" name="Text 12"/>
          <p:cNvSpPr txBox="1"/>
          <p:nvPr/>
        </p:nvSpPr>
        <p:spPr>
          <a:xfrm>
            <a:off x="1371600" y="4663440"/>
            <a:ext cx="5669280" cy="914400"/>
          </a:xfrm>
          <a:prstGeom prst="rect">
            <a:avLst/>
          </a:prstGeom>
          <a:noFill/>
          <a:ln/>
        </p:spPr>
        <p:txBody>
          <a:bodyPr wrap="square" lIns="0" tIns="0" rIns="0" bIns="0" rtlCol="0" anchor="ctr"/>
          <a:lstStyle/>
          <a:p>
            <a:pPr algn="l" indent="0" marL="0">
              <a:buNone/>
            </a:pPr>
            <a:r>
              <a:rPr lang="en-US" sz="1800" dirty="0">
                <a:solidFill>
                  <a:srgbClr val="FFFFFF"/>
                </a:solidFill>
                <a:latin typeface="Tahoma" pitchFamily="34" charset="0"/>
                <a:ea typeface="Tahoma" pitchFamily="34" charset="-122"/>
                <a:cs typeface="Tahoma" pitchFamily="34" charset="-120"/>
              </a:rPr>
              <a:t>มีหน่วยงานหรือล้งที่ควรติดต่อเพื่อเก็บข้อมูลจริงหรือไม่</a:t>
            </a:r>
            <a:endParaRPr lang="en-US" sz="1800" dirty="0"/>
          </a:p>
        </p:txBody>
      </p:sp>
      <p:sp>
        <p:nvSpPr>
          <p:cNvPr id="15" name="Text 13"/>
          <p:cNvSpPr txBox="1"/>
          <p:nvPr/>
        </p:nvSpPr>
        <p:spPr>
          <a:xfrm>
            <a:off x="548640" y="5852160"/>
            <a:ext cx="5486400" cy="548640"/>
          </a:xfrm>
          <a:prstGeom prst="rect">
            <a:avLst/>
          </a:prstGeom>
          <a:noFill/>
          <a:ln/>
        </p:spPr>
        <p:txBody>
          <a:bodyPr wrap="square" lIns="0" tIns="0" rIns="0" bIns="0" rtlCol="0" anchor="t"/>
          <a:lstStyle/>
          <a:p>
            <a:pPr algn="l" indent="0" marL="0">
              <a:buNone/>
            </a:pPr>
            <a:r>
              <a:rPr lang="en-US" sz="2400" b="1" dirty="0">
                <a:solidFill>
                  <a:srgbClr val="F5A742"/>
                </a:solidFill>
                <a:latin typeface="Tahoma" pitchFamily="34" charset="0"/>
                <a:ea typeface="Tahoma" pitchFamily="34" charset="-122"/>
                <a:cs typeface="Tahoma" pitchFamily="34" charset="-120"/>
              </a:rPr>
              <a:t>ขอบคุณครับ</a:t>
            </a:r>
            <a:endParaRPr lang="en-US" sz="2400" dirty="0"/>
          </a:p>
        </p:txBody>
      </p:sp>
      <p:sp>
        <p:nvSpPr>
          <p:cNvPr id="16" name="Shape 14"/>
          <p:cNvSpPr/>
          <p:nvPr/>
        </p:nvSpPr>
        <p:spPr>
          <a:xfrm>
            <a:off x="7498080" y="1371600"/>
            <a:ext cx="4142232" cy="4754880"/>
          </a:xfrm>
          <a:prstGeom prst="roundRect">
            <a:avLst>
              <a:gd name="adj" fmla="val 4857"/>
            </a:avLst>
          </a:prstGeom>
          <a:solidFill>
            <a:srgbClr val="FFFFFF"/>
          </a:solidFill>
          <a:ln/>
        </p:spPr>
      </p:sp>
      <p:pic>
        <p:nvPicPr>
          <p:cNvPr id="17" name="Image 0" descr="QR code ไปที่ moolek02.github.io/e-nose-hub">    </p:cNvPr>
          <p:cNvPicPr>
            <a:picLocks noChangeAspect="1"/>
          </p:cNvPicPr>
          <p:nvPr/>
        </p:nvPicPr>
        <p:blipFill>
          <a:blip r:embed="rId1"/>
          <a:stretch>
            <a:fillRect/>
          </a:stretch>
        </p:blipFill>
        <p:spPr>
          <a:xfrm>
            <a:off x="7955280" y="1645920"/>
            <a:ext cx="3227832" cy="3227832"/>
          </a:xfrm>
          <a:prstGeom prst="rect">
            <a:avLst/>
          </a:prstGeom>
        </p:spPr>
      </p:pic>
      <p:sp>
        <p:nvSpPr>
          <p:cNvPr id="18" name="Text 15"/>
          <p:cNvSpPr txBox="1"/>
          <p:nvPr/>
        </p:nvSpPr>
        <p:spPr>
          <a:xfrm>
            <a:off x="7680960" y="4937760"/>
            <a:ext cx="3776472" cy="411480"/>
          </a:xfrm>
          <a:prstGeom prst="rect">
            <a:avLst/>
          </a:prstGeom>
          <a:noFill/>
          <a:ln/>
        </p:spPr>
        <p:txBody>
          <a:bodyPr wrap="square" lIns="0" tIns="0" rIns="0" bIns="0" rtlCol="0" anchor="t"/>
          <a:lstStyle/>
          <a:p>
            <a:pPr algn="ctr" indent="0" marL="0">
              <a:buNone/>
            </a:pPr>
            <a:r>
              <a:rPr lang="en-US" sz="1400" b="1" u="sng" dirty="0">
                <a:solidFill>
                  <a:srgbClr val="17301F"/>
                </a:solidFill>
                <a:latin typeface="Tahoma" pitchFamily="34" charset="0"/>
                <a:ea typeface="Tahoma" pitchFamily="34" charset="-122"/>
                <a:cs typeface="Tahoma" pitchFamily="34" charset="-120"/>
                <a:hlinkClick r:id="rId2" invalidUrl="" action="" tgtFrame="" tooltip="" history="1" highlightClick="0" endSnd="0">
                  <a:extLst>
                    <a:ext uri="{A12FA001-AC4F-418D-AE19-62706E023703}">
                      <ahyp:hlinkClr xmlns:ahyp="http://schemas.microsoft.com/office/drawing/2018/hyperlinkcolor" val="tx"/>
                    </a:ext>
                  </a:extLst>
                </a:hlinkClick>
              </a:rPr>
              <a:t>moolek02.github.io/e-nose-hub</a:t>
            </a:r>
            <a:endParaRPr lang="en-US" sz="1400" dirty="0"/>
          </a:p>
        </p:txBody>
      </p:sp>
      <p:sp>
        <p:nvSpPr>
          <p:cNvPr id="19" name="Text 16"/>
          <p:cNvSpPr txBox="1"/>
          <p:nvPr/>
        </p:nvSpPr>
        <p:spPr>
          <a:xfrm>
            <a:off x="7680960" y="5394960"/>
            <a:ext cx="3776472" cy="640080"/>
          </a:xfrm>
          <a:prstGeom prst="rect">
            <a:avLst/>
          </a:prstGeom>
          <a:noFill/>
          <a:ln/>
        </p:spPr>
        <p:txBody>
          <a:bodyPr wrap="square" lIns="0" tIns="0" rIns="0" bIns="0" rtlCol="0" anchor="t"/>
          <a:lstStyle/>
          <a:p>
            <a:pPr algn="ctr" indent="0" marL="0">
              <a:buNone/>
            </a:pPr>
            <a:r>
              <a:rPr lang="en-US" sz="1200" dirty="0">
                <a:solidFill>
                  <a:srgbClr val="56665B"/>
                </a:solidFill>
                <a:latin typeface="Tahoma" pitchFamily="34" charset="0"/>
                <a:ea typeface="Tahoma" pitchFamily="34" charset="-122"/>
                <a:cs typeface="Tahoma" pitchFamily="34" charset="-120"/>
              </a:rPr>
              <a:t>Simulation · โมเดล 3D · ผังต่อสาย · FlyHash Brain Lab</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5DFC6"/>
                </a:solidFill>
                <a:latin typeface="Tahoma"/>
                <a:ea typeface="Tahoma"/>
                <a:cs typeface="Tahoma"/>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แหล่งอ้างอิง</a:t>
            </a:r>
            <a:endParaRPr lang="en-US" sz="3000" dirty="0"/>
          </a:p>
        </p:txBody>
      </p:sp>
      <p:sp>
        <p:nvSpPr>
          <p:cNvPr id="3" name="Text 1"/>
          <p:cNvSpPr txBox="1"/>
          <p:nvPr/>
        </p:nvSpPr>
        <p:spPr>
          <a:xfrm>
            <a:off x="548640" y="1280160"/>
            <a:ext cx="5486400" cy="5029200"/>
          </a:xfrm>
          <a:prstGeom prst="rect">
            <a:avLst/>
          </a:prstGeom>
          <a:noFill/>
          <a:ln/>
        </p:spPr>
        <p:txBody>
          <a:bodyPr wrap="square" lIns="0" tIns="0" rIns="0" bIns="0" rtlCol="0" anchor="t"/>
          <a:lstStyle/>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Thai PBS: ทุเรียนอ่อนกว่า 500 ลูกในล้ง จันทบุรี — thaipbs.or.th/news/content/505466</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MGR Online: ส่งออกผลไม้สด 2567 — mgronline.com/business/detail/9680000042916</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Commerce News Agency: ลำไย มังคุด มะพร้าว 2567 — commercenewsagency.com/columnist/7677</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Nation Thailand: ทุเรียน 2568–2569 — nationthailand.com/business/trade/40063289</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LINE Today: เกณฑ์ มกษ. 3-2567 — today.line.me/th/v3/article/yzkGZxQ</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ISHS (2010): e-nose ทุเรียน — ishs.org/ishs-article/875_41</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PMC (2025): e-nose ราคาถูกกับทุเรียน — pmc.ncbi.nlm.nih.gov/articles/PMC12393072</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phtnet: GC-MS และ SPME ทุเรียนหมอนทอง · MFU: flash-GC e-nose หมอนทอง</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ISHS / IEEE Access: NIR ทุเรียน · KMITL: น้ำหนักแห้งหมอนทอง 32%</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Dasgupta et al. (2017) Science: A neural algorithm for a fundamental computing problem</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FlyNN: federated classification with fruit-fly algorithms</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ScienceDirect (2022): สารระเหยบ่งชี้มะม่วงถูก B. dorsalis วางไข่ · Bangkok Biz News: ลำไยกับ SO₂</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Mockup: github.com/marawanmak/flyhash-mockup</a:t>
            </a:r>
            <a:endParaRPr lang="en-US" sz="1200" dirty="0"/>
          </a:p>
        </p:txBody>
      </p:sp>
      <p:sp>
        <p:nvSpPr>
          <p:cNvPr id="4" name="Text 2"/>
          <p:cNvSpPr txBox="1"/>
          <p:nvPr/>
        </p:nvSpPr>
        <p:spPr>
          <a:xfrm>
            <a:off x="6309360" y="1280160"/>
            <a:ext cx="5330952" cy="5029200"/>
          </a:xfrm>
          <a:prstGeom prst="rect">
            <a:avLst/>
          </a:prstGeom>
          <a:noFill/>
          <a:ln/>
        </p:spPr>
        <p:txBody>
          <a:bodyPr wrap="square" lIns="0" tIns="0" rIns="0" bIns="0" rtlCol="0" anchor="t"/>
          <a:lstStyle/>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Sun et al. 2025, Food Chem X 29:102866 — doi:10.1016/j.fochx.2025.102866</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Chiu et al. 2025, PeerJ 13:e19936 — doi:10.7717/peerj.19936</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Chawengkijwanich et al. 2008, Acta Hort 804:321–326 — doi:10.17660/ActaHortic.2008.804.45</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Kim et al. 2018, Postharvest Biol Technol 146:51–59 — doi:10.1016/j.postharvbio.2018.08.003</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Larsen 1994, Acta Hort 368:78–82 — doi:10.17660/ActaHortic.1994.368.7</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Silva et al. 2022, Plant Physiol 191(1):575–590 — doi:10.1093/plphys/kiac408</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Foods 2025, 14(18):3155 — doi:10.3390/foods14183155 (partial: อ่านจาก abstract)</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Datasheet: Figaro TGS2602/TGS2603, Bosch BME688/BME680, Hanwei MQ-3, Winsen MQ-135</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ราคา: Lazada.co.th, allnewstep.com, RS Thailand (26 ต.ค. 2026) — ไม่รวมค่าส่ง</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Simulation / 3D / ผังต่อสาย / FlyHash Brain Lab: moolek02.github.io/e-nose-hub</a:t>
            </a:r>
            <a:endParaRPr lang="en-US" sz="1200" dirty="0"/>
          </a:p>
          <a:p>
            <a:pPr algn="l" marL="152400" indent="-152400">
              <a:spcAft>
                <a:spcPts val="400"/>
              </a:spcAft>
              <a:buSzPct val="100000"/>
              <a:buChar char="•"/>
            </a:pPr>
            <a:r>
              <a:rPr lang="en-US" sz="1200" dirty="0">
                <a:solidFill>
                  <a:srgbClr val="1F2A23"/>
                </a:solidFill>
                <a:latin typeface="Tahoma" pitchFamily="34" charset="0"/>
                <a:ea typeface="Tahoma" pitchFamily="34" charset="-122"/>
                <a:cs typeface="Tahoma" pitchFamily="34" charset="-120"/>
              </a:rPr>
              <a:t>ไฟล์วิจัยของทีม: fruit-spoilage-compounds, fruit-spoilage-voc, sensor-alternatives, sensor-accuracy-compare, e-nose-bom</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FFFFFF"/>
                </a:solidFill>
                <a:latin typeface="Tahoma" pitchFamily="34" charset="0"/>
                <a:ea typeface="Tahoma" pitchFamily="34" charset="-122"/>
                <a:cs typeface="Tahoma" pitchFamily="34" charset="-120"/>
              </a:rPr>
              <a:t>Backup</a:t>
            </a:r>
            <a:endParaRPr lang="en-US" sz="3000" dirty="0"/>
          </a:p>
        </p:txBody>
      </p:sp>
      <p:sp>
        <p:nvSpPr>
          <p:cNvPr id="3" name="Text 1"/>
          <p:cNvSpPr txBox="1"/>
          <p:nvPr/>
        </p:nvSpPr>
        <p:spPr>
          <a:xfrm>
            <a:off x="548640" y="1554480"/>
            <a:ext cx="10515600" cy="3200400"/>
          </a:xfrm>
          <a:prstGeom prst="rect">
            <a:avLst/>
          </a:prstGeom>
          <a:noFill/>
          <a:ln/>
        </p:spPr>
        <p:txBody>
          <a:bodyPr wrap="square" lIns="0" tIns="0" rIns="0" bIns="0" rtlCol="0" anchor="t"/>
          <a:lstStyle/>
          <a:p>
            <a:pPr algn="l" marL="254000" indent="-254000">
              <a:spcAft>
                <a:spcPts val="1400"/>
              </a:spcAft>
              <a:buSzPct val="100000"/>
              <a:buChar char="•"/>
            </a:pPr>
            <a:r>
              <a:rPr lang="en-US" sz="2400" dirty="0">
                <a:solidFill>
                  <a:srgbClr val="FFFFFF"/>
                </a:solidFill>
                <a:latin typeface="Tahoma" pitchFamily="34" charset="0"/>
                <a:ea typeface="Tahoma" pitchFamily="34" charset="-122"/>
                <a:cs typeface="Tahoma" pitchFamily="34" charset="-120"/>
              </a:rPr>
              <a:t>หลักฐาน e-nose ในผลไม้อื่น</a:t>
            </a:r>
            <a:endParaRPr lang="en-US" sz="2400" dirty="0"/>
          </a:p>
          <a:p>
            <a:pPr algn="l" marL="254000" indent="-254000">
              <a:spcAft>
                <a:spcPts val="1400"/>
              </a:spcAft>
              <a:buSzPct val="100000"/>
              <a:buChar char="•"/>
            </a:pPr>
            <a:r>
              <a:rPr lang="en-US" sz="2400" dirty="0">
                <a:solidFill>
                  <a:srgbClr val="FFFFFF"/>
                </a:solidFill>
                <a:latin typeface="Tahoma" pitchFamily="34" charset="0"/>
                <a:ea typeface="Tahoma" pitchFamily="34" charset="-122"/>
                <a:cs typeface="Tahoma" pitchFamily="34" charset="-120"/>
              </a:rPr>
              <a:t>ESP8266 vs ESP32-S3: สิ่งที่ต้องเช็ก</a:t>
            </a:r>
            <a:endParaRPr lang="en-US" sz="2400" dirty="0"/>
          </a:p>
          <a:p>
            <a:pPr algn="l" marL="254000" indent="-254000">
              <a:spcAft>
                <a:spcPts val="1400"/>
              </a:spcAft>
              <a:buSzPct val="100000"/>
              <a:buChar char="•"/>
            </a:pPr>
            <a:r>
              <a:rPr lang="en-US" sz="2400" dirty="0">
                <a:solidFill>
                  <a:srgbClr val="FFFFFF"/>
                </a:solidFill>
                <a:latin typeface="Tahoma" pitchFamily="34" charset="0"/>
                <a:ea typeface="Tahoma" pitchFamily="34" charset="-122"/>
                <a:cs typeface="Tahoma" pitchFamily="34" charset="-120"/>
              </a:rPr>
              <a:t>ผังต่อสาย prototype</a:t>
            </a:r>
            <a:endParaRPr lang="en-US" sz="2400" dirty="0"/>
          </a:p>
          <a:p>
            <a:pPr algn="l" marL="254000" indent="-254000">
              <a:spcAft>
                <a:spcPts val="1400"/>
              </a:spcAft>
              <a:buSzPct val="100000"/>
              <a:buChar char="•"/>
            </a:pPr>
            <a:r>
              <a:rPr lang="en-US" sz="2400" dirty="0">
                <a:solidFill>
                  <a:srgbClr val="FFFFFF"/>
                </a:solidFill>
                <a:latin typeface="Tahoma" pitchFamily="34" charset="0"/>
                <a:ea typeface="Tahoma" pitchFamily="34" charset="-122"/>
                <a:cs typeface="Tahoma" pitchFamily="34" charset="-120"/>
              </a:rPr>
              <a:t>เซนเซอร์ตาม datasheet</a:t>
            </a:r>
            <a:endParaRPr lang="en-US" sz="2400" dirty="0"/>
          </a:p>
          <a:p>
            <a:pPr algn="l" marL="254000" indent="-254000">
              <a:spcAft>
                <a:spcPts val="1400"/>
              </a:spcAft>
              <a:buSzPct val="100000"/>
              <a:buChar char="•"/>
            </a:pPr>
            <a:r>
              <a:rPr lang="en-US" sz="2400" dirty="0">
                <a:solidFill>
                  <a:srgbClr val="FFFFFF"/>
                </a:solidFill>
                <a:latin typeface="Tahoma" pitchFamily="34" charset="0"/>
                <a:ea typeface="Tahoma" pitchFamily="34" charset="-122"/>
                <a:cs typeface="Tahoma" pitchFamily="34" charset="-120"/>
              </a:rPr>
              <a:t>รายการอุปกรณ์และราคา (BOM)</a:t>
            </a:r>
            <a:endParaRPr lang="en-US" sz="2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D5DFC6"/>
                </a:solidFill>
                <a:latin typeface="Tahoma"/>
                <a:ea typeface="Tahoma"/>
                <a:cs typeface="Tahoma"/>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หลักฐาน e-nose ในผลไม้ (งานของคนอื่น)</a:t>
            </a:r>
            <a:endParaRPr lang="en-US" sz="3000" dirty="0"/>
          </a:p>
        </p:txBody>
      </p:sp>
      <p:sp>
        <p:nvSpPr>
          <p:cNvPr id="3" name="Shape 1"/>
          <p:cNvSpPr/>
          <p:nvPr/>
        </p:nvSpPr>
        <p:spPr>
          <a:xfrm>
            <a:off x="10104120" y="502920"/>
            <a:ext cx="1536192" cy="365760"/>
          </a:xfrm>
          <a:prstGeom prst="roundRect">
            <a:avLst>
              <a:gd name="adj" fmla="val 50000"/>
            </a:avLst>
          </a:prstGeom>
          <a:solidFill>
            <a:srgbClr val="FFF3D4"/>
          </a:solidFill>
          <a:ln/>
        </p:spPr>
      </p:sp>
      <p:sp>
        <p:nvSpPr>
          <p:cNvPr id="4" name="Text 2"/>
          <p:cNvSpPr txBox="1"/>
          <p:nvPr/>
        </p:nvSpPr>
        <p:spPr>
          <a:xfrm>
            <a:off x="10104120" y="502920"/>
            <a:ext cx="1536192" cy="365760"/>
          </a:xfrm>
          <a:prstGeom prst="rect">
            <a:avLst/>
          </a:prstGeom>
          <a:noFill/>
          <a:ln/>
        </p:spPr>
        <p:txBody>
          <a:bodyPr wrap="square" lIns="0" tIns="0" rIns="0" bIns="0" rtlCol="0" anchor="ctr"/>
          <a:lstStyle/>
          <a:p>
            <a:pPr algn="ctr" indent="0" marL="0">
              <a:buNone/>
            </a:pPr>
            <a:r>
              <a:rPr lang="en-US" sz="1400" b="1" dirty="0">
                <a:solidFill>
                  <a:srgbClr val="7A4F00"/>
                </a:solidFill>
                <a:latin typeface="Tahoma" pitchFamily="34" charset="0"/>
                <a:ea typeface="Tahoma" pitchFamily="34" charset="-122"/>
                <a:cs typeface="Tahoma" pitchFamily="34" charset="-120"/>
              </a:rPr>
              <a:t>BACKUP</a:t>
            </a:r>
            <a:endParaRPr lang="en-US" sz="1400" dirty="0"/>
          </a:p>
        </p:txBody>
      </p:sp>
      <p:sp>
        <p:nvSpPr>
          <p:cNvPr id="5" name="Shape 3"/>
          <p:cNvSpPr/>
          <p:nvPr/>
        </p:nvSpPr>
        <p:spPr>
          <a:xfrm>
            <a:off x="548640" y="1371600"/>
            <a:ext cx="3593592" cy="4114800"/>
          </a:xfrm>
          <a:prstGeom prst="roundRect">
            <a:avLst>
              <a:gd name="adj" fmla="val 4580"/>
            </a:avLst>
          </a:prstGeom>
          <a:solidFill>
            <a:srgbClr val="EDF2E8"/>
          </a:solidFill>
          <a:ln w="12700">
            <a:solidFill>
              <a:srgbClr val="D5DFCB"/>
            </a:solidFill>
            <a:prstDash val="solid"/>
          </a:ln>
        </p:spPr>
      </p:sp>
      <p:sp>
        <p:nvSpPr>
          <p:cNvPr id="6" name="Text 4"/>
          <p:cNvSpPr txBox="1"/>
          <p:nvPr/>
        </p:nvSpPr>
        <p:spPr>
          <a:xfrm>
            <a:off x="822960" y="1508760"/>
            <a:ext cx="3108960" cy="640080"/>
          </a:xfrm>
          <a:prstGeom prst="rect">
            <a:avLst/>
          </a:prstGeom>
          <a:noFill/>
          <a:ln/>
        </p:spPr>
        <p:txBody>
          <a:bodyPr wrap="square" lIns="0" tIns="0" rIns="0" bIns="0" rtlCol="0" anchor="ctr"/>
          <a:lstStyle/>
          <a:p>
            <a:pPr algn="l" indent="0" marL="0">
              <a:buNone/>
            </a:pPr>
            <a:r>
              <a:rPr lang="en-US" sz="1600" b="1" dirty="0">
                <a:solidFill>
                  <a:srgbClr val="2E6B3E"/>
                </a:solidFill>
                <a:latin typeface="Tahoma" pitchFamily="34" charset="0"/>
                <a:ea typeface="Tahoma" pitchFamily="34" charset="-122"/>
                <a:cs typeface="Tahoma" pitchFamily="34" charset="-120"/>
              </a:rPr>
              <a:t>ทุเรียน Monthong · ESP32</a:t>
            </a:r>
            <a:endParaRPr lang="en-US" sz="1600" dirty="0"/>
          </a:p>
        </p:txBody>
      </p:sp>
      <p:sp>
        <p:nvSpPr>
          <p:cNvPr id="7" name="Text 5"/>
          <p:cNvSpPr txBox="1"/>
          <p:nvPr/>
        </p:nvSpPr>
        <p:spPr>
          <a:xfrm>
            <a:off x="822960" y="2194560"/>
            <a:ext cx="3017520" cy="822960"/>
          </a:xfrm>
          <a:prstGeom prst="rect">
            <a:avLst/>
          </a:prstGeom>
          <a:noFill/>
          <a:ln/>
        </p:spPr>
        <p:txBody>
          <a:bodyPr wrap="square" lIns="0" tIns="0" rIns="0" bIns="0" rtlCol="0" anchor="ctr"/>
          <a:lstStyle/>
          <a:p>
            <a:pPr algn="l" indent="0" marL="0">
              <a:buNone/>
            </a:pPr>
            <a:r>
              <a:rPr lang="en-US" sz="4000" b="1" dirty="0">
                <a:solidFill>
                  <a:srgbClr val="17301F"/>
                </a:solidFill>
                <a:latin typeface="Tahoma" pitchFamily="34" charset="0"/>
                <a:ea typeface="Tahoma" pitchFamily="34" charset="-122"/>
                <a:cs typeface="Tahoma" pitchFamily="34" charset="-120"/>
              </a:rPr>
              <a:t>61%</a:t>
            </a:r>
            <a:endParaRPr lang="en-US" sz="4000" dirty="0"/>
          </a:p>
        </p:txBody>
      </p:sp>
      <p:sp>
        <p:nvSpPr>
          <p:cNvPr id="8" name="Text 6"/>
          <p:cNvSpPr txBox="1"/>
          <p:nvPr/>
        </p:nvSpPr>
        <p:spPr>
          <a:xfrm>
            <a:off x="822960" y="3108960"/>
            <a:ext cx="3063240" cy="1554480"/>
          </a:xfrm>
          <a:prstGeom prst="rect">
            <a:avLst/>
          </a:prstGeom>
          <a:noFill/>
          <a:ln/>
        </p:spPr>
        <p:txBody>
          <a:bodyPr wrap="square" lIns="0" tIns="0" rIns="0" bIns="0" rtlCol="0" anchor="t"/>
          <a:lstStyle/>
          <a:p>
            <a:pPr algn="l" indent="0" marL="0">
              <a:buNone/>
            </a:pPr>
            <a:r>
              <a:rPr lang="en-US" sz="1400" dirty="0">
                <a:solidFill>
                  <a:srgbClr val="1F2A23"/>
                </a:solidFill>
                <a:latin typeface="Tahoma" pitchFamily="34" charset="0"/>
                <a:ea typeface="Tahoma" pitchFamily="34" charset="-122"/>
                <a:cs typeface="Tahoma" pitchFamily="34" charset="-120"/>
              </a:rPr>
              <a:t>ตรวจเพลี้ยแป้งกลางแจ้ง (LDA) จำแนกถูก 92/150 และ 91/150 — คำนวณเอง เปเปอร์ไม่ได้รายงานค่ารวม ไม่ใช่การเน่า ตัวอย่างน้อย</a:t>
            </a:r>
            <a:endParaRPr lang="en-US" sz="1400" dirty="0"/>
          </a:p>
        </p:txBody>
      </p:sp>
      <p:sp>
        <p:nvSpPr>
          <p:cNvPr id="9" name="Shape 7"/>
          <p:cNvSpPr/>
          <p:nvPr/>
        </p:nvSpPr>
        <p:spPr>
          <a:xfrm>
            <a:off x="822960" y="4754880"/>
            <a:ext cx="1051560" cy="274320"/>
          </a:xfrm>
          <a:prstGeom prst="roundRect">
            <a:avLst>
              <a:gd name="adj" fmla="val 50000"/>
            </a:avLst>
          </a:prstGeom>
          <a:solidFill>
            <a:srgbClr val="DDF0E3"/>
          </a:solidFill>
          <a:ln/>
        </p:spPr>
      </p:sp>
      <p:sp>
        <p:nvSpPr>
          <p:cNvPr id="10" name="Text 8"/>
          <p:cNvSpPr txBox="1"/>
          <p:nvPr/>
        </p:nvSpPr>
        <p:spPr>
          <a:xfrm>
            <a:off x="822960" y="4754880"/>
            <a:ext cx="1051560" cy="274320"/>
          </a:xfrm>
          <a:prstGeom prst="rect">
            <a:avLst/>
          </a:prstGeom>
          <a:noFill/>
          <a:ln/>
        </p:spPr>
        <p:txBody>
          <a:bodyPr wrap="square" lIns="0" tIns="0" rIns="0" bIns="0" rtlCol="0" anchor="ctr"/>
          <a:lstStyle/>
          <a:p>
            <a:pPr algn="ctr" indent="0" marL="0">
              <a:buNone/>
            </a:pPr>
            <a:r>
              <a:rPr lang="en-US" sz="1200" b="1" dirty="0">
                <a:solidFill>
                  <a:srgbClr val="2E7D4F"/>
                </a:solidFill>
                <a:latin typeface="Tahoma" pitchFamily="34" charset="0"/>
                <a:ea typeface="Tahoma" pitchFamily="34" charset="-122"/>
                <a:cs typeface="Tahoma" pitchFamily="34" charset="-120"/>
              </a:rPr>
              <a:t>confirmed</a:t>
            </a:r>
            <a:endParaRPr lang="en-US" sz="1200" dirty="0"/>
          </a:p>
        </p:txBody>
      </p:sp>
      <p:sp>
        <p:nvSpPr>
          <p:cNvPr id="11" name="Text 9"/>
          <p:cNvSpPr txBox="1"/>
          <p:nvPr/>
        </p:nvSpPr>
        <p:spPr>
          <a:xfrm>
            <a:off x="822960" y="5074920"/>
            <a:ext cx="3063240" cy="32004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Chiu et al. 2025, PeerJ</a:t>
            </a:r>
            <a:endParaRPr lang="en-US" sz="1200" dirty="0"/>
          </a:p>
        </p:txBody>
      </p:sp>
      <p:sp>
        <p:nvSpPr>
          <p:cNvPr id="12" name="Shape 10"/>
          <p:cNvSpPr/>
          <p:nvPr/>
        </p:nvSpPr>
        <p:spPr>
          <a:xfrm>
            <a:off x="4297680" y="1371600"/>
            <a:ext cx="3593592" cy="4114800"/>
          </a:xfrm>
          <a:prstGeom prst="roundRect">
            <a:avLst>
              <a:gd name="adj" fmla="val 4580"/>
            </a:avLst>
          </a:prstGeom>
          <a:solidFill>
            <a:srgbClr val="EDF2E8"/>
          </a:solidFill>
          <a:ln w="12700">
            <a:solidFill>
              <a:srgbClr val="D5DFCB"/>
            </a:solidFill>
            <a:prstDash val="solid"/>
          </a:ln>
        </p:spPr>
      </p:sp>
      <p:sp>
        <p:nvSpPr>
          <p:cNvPr id="13" name="Text 11"/>
          <p:cNvSpPr txBox="1"/>
          <p:nvPr/>
        </p:nvSpPr>
        <p:spPr>
          <a:xfrm>
            <a:off x="4572000" y="1508760"/>
            <a:ext cx="3108960" cy="640080"/>
          </a:xfrm>
          <a:prstGeom prst="rect">
            <a:avLst/>
          </a:prstGeom>
          <a:noFill/>
          <a:ln/>
        </p:spPr>
        <p:txBody>
          <a:bodyPr wrap="square" lIns="0" tIns="0" rIns="0" bIns="0" rtlCol="0" anchor="ctr"/>
          <a:lstStyle/>
          <a:p>
            <a:pPr algn="l" indent="0" marL="0">
              <a:buNone/>
            </a:pPr>
            <a:r>
              <a:rPr lang="en-US" sz="1600" b="1" dirty="0">
                <a:solidFill>
                  <a:srgbClr val="2E6B3E"/>
                </a:solidFill>
                <a:latin typeface="Tahoma" pitchFamily="34" charset="0"/>
                <a:ea typeface="Tahoma" pitchFamily="34" charset="-122"/>
                <a:cs typeface="Tahoma" pitchFamily="34" charset="-120"/>
              </a:rPr>
              <a:t>พีชติดเชื้อ Monilinia laxa</a:t>
            </a:r>
            <a:endParaRPr lang="en-US" sz="1600" dirty="0"/>
          </a:p>
        </p:txBody>
      </p:sp>
      <p:sp>
        <p:nvSpPr>
          <p:cNvPr id="14" name="Text 12"/>
          <p:cNvSpPr txBox="1"/>
          <p:nvPr/>
        </p:nvSpPr>
        <p:spPr>
          <a:xfrm>
            <a:off x="4572000" y="2194560"/>
            <a:ext cx="3017520" cy="822960"/>
          </a:xfrm>
          <a:prstGeom prst="rect">
            <a:avLst/>
          </a:prstGeom>
          <a:noFill/>
          <a:ln/>
        </p:spPr>
        <p:txBody>
          <a:bodyPr wrap="square" lIns="0" tIns="0" rIns="0" bIns="0" rtlCol="0" anchor="ctr"/>
          <a:lstStyle/>
          <a:p>
            <a:pPr algn="l" indent="0" marL="0">
              <a:buNone/>
            </a:pPr>
            <a:r>
              <a:rPr lang="en-US" sz="4000" b="1" dirty="0">
                <a:solidFill>
                  <a:srgbClr val="17301F"/>
                </a:solidFill>
                <a:latin typeface="Tahoma" pitchFamily="34" charset="0"/>
                <a:ea typeface="Tahoma" pitchFamily="34" charset="-122"/>
                <a:cs typeface="Tahoma" pitchFamily="34" charset="-120"/>
              </a:rPr>
              <a:t>&gt;97%</a:t>
            </a:r>
            <a:endParaRPr lang="en-US" sz="4000" dirty="0"/>
          </a:p>
        </p:txBody>
      </p:sp>
      <p:sp>
        <p:nvSpPr>
          <p:cNvPr id="15" name="Text 13"/>
          <p:cNvSpPr txBox="1"/>
          <p:nvPr/>
        </p:nvSpPr>
        <p:spPr>
          <a:xfrm>
            <a:off x="4572000" y="3108960"/>
            <a:ext cx="3063240" cy="1554480"/>
          </a:xfrm>
          <a:prstGeom prst="rect">
            <a:avLst/>
          </a:prstGeom>
          <a:noFill/>
          <a:ln/>
        </p:spPr>
        <p:txBody>
          <a:bodyPr wrap="square" lIns="0" tIns="0" rIns="0" bIns="0" rtlCol="0" anchor="t"/>
          <a:lstStyle/>
          <a:p>
            <a:pPr algn="l" indent="0" marL="0">
              <a:buNone/>
            </a:pPr>
            <a:r>
              <a:rPr lang="en-US" sz="1400" dirty="0">
                <a:solidFill>
                  <a:srgbClr val="1F2A23"/>
                </a:solidFill>
                <a:latin typeface="Tahoma" pitchFamily="34" charset="0"/>
                <a:ea typeface="Tahoma" pitchFamily="34" charset="-122"/>
                <a:cs typeface="Tahoma" pitchFamily="34" charset="-120"/>
              </a:rPr>
              <a:t>e-nose + LDA แยก 3 กลุ่ม (ปกติ/เริ่มเน่า/เน่ากลาง) 100% ระยะเริ่มต้น ตามสรุป abstract พันธุ์เดียว ฉีดเชื้อเอง</a:t>
            </a:r>
            <a:endParaRPr lang="en-US" sz="1400" dirty="0"/>
          </a:p>
        </p:txBody>
      </p:sp>
      <p:sp>
        <p:nvSpPr>
          <p:cNvPr id="16" name="Shape 14"/>
          <p:cNvSpPr/>
          <p:nvPr/>
        </p:nvSpPr>
        <p:spPr>
          <a:xfrm>
            <a:off x="4572000" y="4754880"/>
            <a:ext cx="822960" cy="274320"/>
          </a:xfrm>
          <a:prstGeom prst="roundRect">
            <a:avLst>
              <a:gd name="adj" fmla="val 50000"/>
            </a:avLst>
          </a:prstGeom>
          <a:solidFill>
            <a:srgbClr val="FFF3D4"/>
          </a:solidFill>
          <a:ln/>
        </p:spPr>
      </p:sp>
      <p:sp>
        <p:nvSpPr>
          <p:cNvPr id="17" name="Text 15"/>
          <p:cNvSpPr txBox="1"/>
          <p:nvPr/>
        </p:nvSpPr>
        <p:spPr>
          <a:xfrm>
            <a:off x="4572000" y="4754880"/>
            <a:ext cx="822960" cy="274320"/>
          </a:xfrm>
          <a:prstGeom prst="rect">
            <a:avLst/>
          </a:prstGeom>
          <a:noFill/>
          <a:ln/>
        </p:spPr>
        <p:txBody>
          <a:bodyPr wrap="square" lIns="0" tIns="0" rIns="0" bIns="0" rtlCol="0" anchor="ctr"/>
          <a:lstStyle/>
          <a:p>
            <a:pPr algn="ctr" indent="0" marL="0">
              <a:buNone/>
            </a:pPr>
            <a:r>
              <a:rPr lang="en-US" sz="1200" b="1" dirty="0">
                <a:solidFill>
                  <a:srgbClr val="7A4F00"/>
                </a:solidFill>
                <a:latin typeface="Tahoma" pitchFamily="34" charset="0"/>
                <a:ea typeface="Tahoma" pitchFamily="34" charset="-122"/>
                <a:cs typeface="Tahoma" pitchFamily="34" charset="-120"/>
              </a:rPr>
              <a:t>partial</a:t>
            </a:r>
            <a:endParaRPr lang="en-US" sz="1200" dirty="0"/>
          </a:p>
        </p:txBody>
      </p:sp>
      <p:sp>
        <p:nvSpPr>
          <p:cNvPr id="18" name="Text 16"/>
          <p:cNvSpPr txBox="1"/>
          <p:nvPr/>
        </p:nvSpPr>
        <p:spPr>
          <a:xfrm>
            <a:off x="4572000" y="5074920"/>
            <a:ext cx="3063240" cy="32004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Foods 2025, 14(18):3155</a:t>
            </a:r>
            <a:endParaRPr lang="en-US" sz="1200" dirty="0"/>
          </a:p>
        </p:txBody>
      </p:sp>
      <p:sp>
        <p:nvSpPr>
          <p:cNvPr id="19" name="Shape 17"/>
          <p:cNvSpPr/>
          <p:nvPr/>
        </p:nvSpPr>
        <p:spPr>
          <a:xfrm>
            <a:off x="8046720" y="1371600"/>
            <a:ext cx="3593592" cy="4114800"/>
          </a:xfrm>
          <a:prstGeom prst="roundRect">
            <a:avLst>
              <a:gd name="adj" fmla="val 4580"/>
            </a:avLst>
          </a:prstGeom>
          <a:solidFill>
            <a:srgbClr val="EDF2E8"/>
          </a:solidFill>
          <a:ln w="12700">
            <a:solidFill>
              <a:srgbClr val="D5DFCB"/>
            </a:solidFill>
            <a:prstDash val="solid"/>
          </a:ln>
        </p:spPr>
      </p:sp>
      <p:sp>
        <p:nvSpPr>
          <p:cNvPr id="20" name="Text 18"/>
          <p:cNvSpPr txBox="1"/>
          <p:nvPr/>
        </p:nvSpPr>
        <p:spPr>
          <a:xfrm>
            <a:off x="8321040" y="1508760"/>
            <a:ext cx="3108960" cy="640080"/>
          </a:xfrm>
          <a:prstGeom prst="rect">
            <a:avLst/>
          </a:prstGeom>
          <a:noFill/>
          <a:ln/>
        </p:spPr>
        <p:txBody>
          <a:bodyPr wrap="square" lIns="0" tIns="0" rIns="0" bIns="0" rtlCol="0" anchor="ctr"/>
          <a:lstStyle/>
          <a:p>
            <a:pPr algn="l" indent="0" marL="0">
              <a:buNone/>
            </a:pPr>
            <a:r>
              <a:rPr lang="en-US" sz="1600" b="1" dirty="0">
                <a:solidFill>
                  <a:srgbClr val="2E6B3E"/>
                </a:solidFill>
                <a:latin typeface="Tahoma" pitchFamily="34" charset="0"/>
                <a:ea typeface="Tahoma" pitchFamily="34" charset="-122"/>
                <a:cs typeface="Tahoma" pitchFamily="34" charset="-120"/>
              </a:rPr>
              <a:t>เบอร์รี: ระดับความสุก</a:t>
            </a:r>
            <a:endParaRPr lang="en-US" sz="1600" dirty="0"/>
          </a:p>
        </p:txBody>
      </p:sp>
      <p:sp>
        <p:nvSpPr>
          <p:cNvPr id="21" name="Text 19"/>
          <p:cNvSpPr txBox="1"/>
          <p:nvPr/>
        </p:nvSpPr>
        <p:spPr>
          <a:xfrm>
            <a:off x="8321040" y="2194560"/>
            <a:ext cx="3017520" cy="822960"/>
          </a:xfrm>
          <a:prstGeom prst="rect">
            <a:avLst/>
          </a:prstGeom>
          <a:noFill/>
          <a:ln/>
        </p:spPr>
        <p:txBody>
          <a:bodyPr wrap="square" lIns="0" tIns="0" rIns="0" bIns="0" rtlCol="0" anchor="ctr"/>
          <a:lstStyle/>
          <a:p>
            <a:pPr algn="l" indent="0" marL="0">
              <a:buNone/>
            </a:pPr>
            <a:r>
              <a:rPr lang="en-US" sz="4000" b="1" dirty="0">
                <a:solidFill>
                  <a:srgbClr val="17301F"/>
                </a:solidFill>
                <a:latin typeface="Tahoma" pitchFamily="34" charset="0"/>
                <a:ea typeface="Tahoma" pitchFamily="34" charset="-122"/>
                <a:cs typeface="Tahoma" pitchFamily="34" charset="-120"/>
              </a:rPr>
              <a:t>100%</a:t>
            </a:r>
            <a:endParaRPr lang="en-US" sz="4000" dirty="0"/>
          </a:p>
        </p:txBody>
      </p:sp>
      <p:sp>
        <p:nvSpPr>
          <p:cNvPr id="22" name="Text 20"/>
          <p:cNvSpPr txBox="1"/>
          <p:nvPr/>
        </p:nvSpPr>
        <p:spPr>
          <a:xfrm>
            <a:off x="8321040" y="3108960"/>
            <a:ext cx="3063240" cy="1554480"/>
          </a:xfrm>
          <a:prstGeom prst="rect">
            <a:avLst/>
          </a:prstGeom>
          <a:noFill/>
          <a:ln/>
        </p:spPr>
        <p:txBody>
          <a:bodyPr wrap="square" lIns="0" tIns="0" rIns="0" bIns="0" rtlCol="0" anchor="t"/>
          <a:lstStyle/>
          <a:p>
            <a:pPr algn="l" indent="0" marL="0">
              <a:buNone/>
            </a:pPr>
            <a:r>
              <a:rPr lang="en-US" sz="1400" dirty="0">
                <a:solidFill>
                  <a:srgbClr val="1F2A23"/>
                </a:solidFill>
                <a:latin typeface="Tahoma" pitchFamily="34" charset="0"/>
                <a:ea typeface="Tahoma" pitchFamily="34" charset="-122"/>
                <a:cs typeface="Tahoma" pitchFamily="34" charset="-120"/>
              </a:rPr>
              <a:t>ANN 10 เซนเซอร์ (MQ + TGS2602 ฯลฯ) 120 ผล blackberry 100%, whiteberry 88.3% — จำแนกระดับสุก ไม่ใช่เน่า</a:t>
            </a:r>
            <a:endParaRPr lang="en-US" sz="1400" dirty="0"/>
          </a:p>
        </p:txBody>
      </p:sp>
      <p:sp>
        <p:nvSpPr>
          <p:cNvPr id="23" name="Shape 21"/>
          <p:cNvSpPr/>
          <p:nvPr/>
        </p:nvSpPr>
        <p:spPr>
          <a:xfrm>
            <a:off x="8321040" y="4754880"/>
            <a:ext cx="1051560" cy="274320"/>
          </a:xfrm>
          <a:prstGeom prst="roundRect">
            <a:avLst>
              <a:gd name="adj" fmla="val 50000"/>
            </a:avLst>
          </a:prstGeom>
          <a:solidFill>
            <a:srgbClr val="DDF0E3"/>
          </a:solidFill>
          <a:ln/>
        </p:spPr>
      </p:sp>
      <p:sp>
        <p:nvSpPr>
          <p:cNvPr id="24" name="Text 22"/>
          <p:cNvSpPr txBox="1"/>
          <p:nvPr/>
        </p:nvSpPr>
        <p:spPr>
          <a:xfrm>
            <a:off x="8321040" y="4754880"/>
            <a:ext cx="1051560" cy="274320"/>
          </a:xfrm>
          <a:prstGeom prst="rect">
            <a:avLst/>
          </a:prstGeom>
          <a:noFill/>
          <a:ln/>
        </p:spPr>
        <p:txBody>
          <a:bodyPr wrap="square" lIns="0" tIns="0" rIns="0" bIns="0" rtlCol="0" anchor="ctr"/>
          <a:lstStyle/>
          <a:p>
            <a:pPr algn="ctr" indent="0" marL="0">
              <a:buNone/>
            </a:pPr>
            <a:r>
              <a:rPr lang="en-US" sz="1200" b="1" dirty="0">
                <a:solidFill>
                  <a:srgbClr val="2E7D4F"/>
                </a:solidFill>
                <a:latin typeface="Tahoma" pitchFamily="34" charset="0"/>
                <a:ea typeface="Tahoma" pitchFamily="34" charset="-122"/>
                <a:cs typeface="Tahoma" pitchFamily="34" charset="-120"/>
              </a:rPr>
              <a:t>confirmed</a:t>
            </a:r>
            <a:endParaRPr lang="en-US" sz="1200" dirty="0"/>
          </a:p>
        </p:txBody>
      </p:sp>
      <p:sp>
        <p:nvSpPr>
          <p:cNvPr id="25" name="Text 23"/>
          <p:cNvSpPr txBox="1"/>
          <p:nvPr/>
        </p:nvSpPr>
        <p:spPr>
          <a:xfrm>
            <a:off x="8321040" y="5074920"/>
            <a:ext cx="3063240" cy="32004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Aghilinategh 2020</a:t>
            </a:r>
            <a:endParaRPr lang="en-US" sz="1200" dirty="0"/>
          </a:p>
        </p:txBody>
      </p:sp>
      <p:sp>
        <p:nvSpPr>
          <p:cNvPr id="26" name="Shape 24"/>
          <p:cNvSpPr/>
          <p:nvPr/>
        </p:nvSpPr>
        <p:spPr>
          <a:xfrm>
            <a:off x="548640" y="5669280"/>
            <a:ext cx="11091672" cy="594360"/>
          </a:xfrm>
          <a:prstGeom prst="roundRect">
            <a:avLst>
              <a:gd name="adj" fmla="val 27692"/>
            </a:avLst>
          </a:prstGeom>
          <a:solidFill>
            <a:srgbClr val="17301F"/>
          </a:solidFill>
          <a:ln/>
        </p:spPr>
      </p:sp>
      <p:sp>
        <p:nvSpPr>
          <p:cNvPr id="27" name="Text 25"/>
          <p:cNvSpPr txBox="1"/>
          <p:nvPr/>
        </p:nvSpPr>
        <p:spPr>
          <a:xfrm>
            <a:off x="822960" y="5669280"/>
            <a:ext cx="10515600" cy="594360"/>
          </a:xfrm>
          <a:prstGeom prst="rect">
            <a:avLst/>
          </a:prstGeom>
          <a:noFill/>
          <a:ln/>
        </p:spPr>
        <p:txBody>
          <a:bodyPr wrap="square" lIns="0" tIns="0" rIns="0" bIns="0" rtlCol="0" anchor="ctr"/>
          <a:lstStyle/>
          <a:p>
            <a:pPr algn="l" indent="0" marL="0">
              <a:buNone/>
            </a:pPr>
            <a:r>
              <a:rPr lang="en-US" sz="1400" b="1" dirty="0">
                <a:solidFill>
                  <a:srgbClr val="FFFFFF"/>
                </a:solidFill>
                <a:latin typeface="Tahoma" pitchFamily="34" charset="0"/>
                <a:ea typeface="Tahoma" pitchFamily="34" charset="-122"/>
                <a:cs typeface="Tahoma" pitchFamily="34" charset="-120"/>
              </a:rPr>
              <a:t>ทุกงานเป็นห้องทดลอง/ฉีดเชื้อเอง ผลไม้พันธุ์เดียว ตัวอย่างน้อย — ไม่ใช่ตัวเลขของเครื่องเรา</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ใช้ ESP8266 ที่มีอยู่แทน ESP32-S3</a:t>
            </a:r>
            <a:endParaRPr lang="en-US" sz="3000" dirty="0"/>
          </a:p>
        </p:txBody>
      </p:sp>
      <p:sp>
        <p:nvSpPr>
          <p:cNvPr id="3" name="Shape 1"/>
          <p:cNvSpPr/>
          <p:nvPr/>
        </p:nvSpPr>
        <p:spPr>
          <a:xfrm>
            <a:off x="10104120" y="502920"/>
            <a:ext cx="1536192" cy="365760"/>
          </a:xfrm>
          <a:prstGeom prst="roundRect">
            <a:avLst>
              <a:gd name="adj" fmla="val 50000"/>
            </a:avLst>
          </a:prstGeom>
          <a:solidFill>
            <a:srgbClr val="FFF3D4"/>
          </a:solidFill>
          <a:ln/>
        </p:spPr>
      </p:sp>
      <p:sp>
        <p:nvSpPr>
          <p:cNvPr id="4" name="Text 2"/>
          <p:cNvSpPr txBox="1"/>
          <p:nvPr/>
        </p:nvSpPr>
        <p:spPr>
          <a:xfrm>
            <a:off x="10104120" y="502920"/>
            <a:ext cx="1536192" cy="365760"/>
          </a:xfrm>
          <a:prstGeom prst="rect">
            <a:avLst/>
          </a:prstGeom>
          <a:noFill/>
          <a:ln/>
        </p:spPr>
        <p:txBody>
          <a:bodyPr wrap="square" lIns="0" tIns="0" rIns="0" bIns="0" rtlCol="0" anchor="ctr"/>
          <a:lstStyle/>
          <a:p>
            <a:pPr algn="ctr" indent="0" marL="0">
              <a:buNone/>
            </a:pPr>
            <a:r>
              <a:rPr lang="en-US" sz="1400" b="1" dirty="0">
                <a:solidFill>
                  <a:srgbClr val="7A4F00"/>
                </a:solidFill>
                <a:latin typeface="Tahoma" pitchFamily="34" charset="0"/>
                <a:ea typeface="Tahoma" pitchFamily="34" charset="-122"/>
                <a:cs typeface="Tahoma" pitchFamily="34" charset="-120"/>
              </a:rPr>
              <a:t>BACKUP</a:t>
            </a:r>
            <a:endParaRPr lang="en-US" sz="1400" dirty="0"/>
          </a:p>
        </p:txBody>
      </p:sp>
      <p:sp>
        <p:nvSpPr>
          <p:cNvPr id="5" name="Shape 3"/>
          <p:cNvSpPr/>
          <p:nvPr/>
        </p:nvSpPr>
        <p:spPr>
          <a:xfrm>
            <a:off x="548640" y="1371600"/>
            <a:ext cx="11091672" cy="457200"/>
          </a:xfrm>
          <a:prstGeom prst="roundRect">
            <a:avLst>
              <a:gd name="adj" fmla="val 24000"/>
            </a:avLst>
          </a:prstGeom>
          <a:solidFill>
            <a:srgbClr val="17301F"/>
          </a:solidFill>
          <a:ln/>
        </p:spPr>
      </p:sp>
      <p:sp>
        <p:nvSpPr>
          <p:cNvPr id="6" name="Text 4"/>
          <p:cNvSpPr txBox="1"/>
          <p:nvPr/>
        </p:nvSpPr>
        <p:spPr>
          <a:xfrm>
            <a:off x="731520" y="1371600"/>
            <a:ext cx="137160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หัวข้อ</a:t>
            </a:r>
            <a:endParaRPr lang="en-US" sz="1400" dirty="0"/>
          </a:p>
        </p:txBody>
      </p:sp>
      <p:sp>
        <p:nvSpPr>
          <p:cNvPr id="7" name="Text 5"/>
          <p:cNvSpPr txBox="1"/>
          <p:nvPr/>
        </p:nvSpPr>
        <p:spPr>
          <a:xfrm>
            <a:off x="2286000" y="1371600"/>
            <a:ext cx="237744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ESP32-S3 (ผังเดิม)</a:t>
            </a:r>
            <a:endParaRPr lang="en-US" sz="1400" dirty="0"/>
          </a:p>
        </p:txBody>
      </p:sp>
      <p:sp>
        <p:nvSpPr>
          <p:cNvPr id="8" name="Text 6"/>
          <p:cNvSpPr txBox="1"/>
          <p:nvPr/>
        </p:nvSpPr>
        <p:spPr>
          <a:xfrm>
            <a:off x="4846320" y="1371600"/>
            <a:ext cx="292608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ESP8266 (ที่มีอยู่)</a:t>
            </a:r>
            <a:endParaRPr lang="en-US" sz="1400" dirty="0"/>
          </a:p>
        </p:txBody>
      </p:sp>
      <p:sp>
        <p:nvSpPr>
          <p:cNvPr id="9" name="Text 7"/>
          <p:cNvSpPr txBox="1"/>
          <p:nvPr/>
        </p:nvSpPr>
        <p:spPr>
          <a:xfrm>
            <a:off x="7955280" y="1371600"/>
            <a:ext cx="3685032"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ผลกับโปรเจกต์</a:t>
            </a:r>
            <a:endParaRPr lang="en-US" sz="1400" dirty="0"/>
          </a:p>
        </p:txBody>
      </p:sp>
      <p:sp>
        <p:nvSpPr>
          <p:cNvPr id="10" name="Shape 8"/>
          <p:cNvSpPr/>
          <p:nvPr/>
        </p:nvSpPr>
        <p:spPr>
          <a:xfrm>
            <a:off x="548640" y="1892808"/>
            <a:ext cx="11091672" cy="530352"/>
          </a:xfrm>
          <a:prstGeom prst="roundRect">
            <a:avLst>
              <a:gd name="adj" fmla="val 13793"/>
            </a:avLst>
          </a:prstGeom>
          <a:solidFill>
            <a:srgbClr val="EDF2E8"/>
          </a:solidFill>
          <a:ln w="12700">
            <a:solidFill>
              <a:srgbClr val="D5DFCB"/>
            </a:solidFill>
            <a:prstDash val="solid"/>
          </a:ln>
        </p:spPr>
      </p:sp>
      <p:sp>
        <p:nvSpPr>
          <p:cNvPr id="11" name="Text 9"/>
          <p:cNvSpPr txBox="1"/>
          <p:nvPr/>
        </p:nvSpPr>
        <p:spPr>
          <a:xfrm>
            <a:off x="731520" y="1892808"/>
            <a:ext cx="128016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ADC</a:t>
            </a:r>
            <a:endParaRPr lang="en-US" sz="1400" dirty="0"/>
          </a:p>
        </p:txBody>
      </p:sp>
      <p:sp>
        <p:nvSpPr>
          <p:cNvPr id="12" name="Text 10"/>
          <p:cNvSpPr txBox="1"/>
          <p:nvPr/>
        </p:nvSpPr>
        <p:spPr>
          <a:xfrm>
            <a:off x="2286000" y="1892808"/>
            <a:ext cx="228600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หลายช่อง</a:t>
            </a:r>
            <a:endParaRPr lang="en-US" sz="1400" dirty="0"/>
          </a:p>
        </p:txBody>
      </p:sp>
      <p:sp>
        <p:nvSpPr>
          <p:cNvPr id="13" name="Text 11"/>
          <p:cNvSpPr txBox="1"/>
          <p:nvPr/>
        </p:nvSpPr>
        <p:spPr>
          <a:xfrm>
            <a:off x="4846320" y="1892808"/>
            <a:ext cx="283464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1 ช่อง 10 บิต</a:t>
            </a:r>
            <a:endParaRPr lang="en-US" sz="1400" dirty="0"/>
          </a:p>
        </p:txBody>
      </p:sp>
      <p:sp>
        <p:nvSpPr>
          <p:cNvPr id="14" name="Text 12"/>
          <p:cNvSpPr txBox="1"/>
          <p:nvPr/>
        </p:nvSpPr>
        <p:spPr>
          <a:xfrm>
            <a:off x="7955280" y="1892808"/>
            <a:ext cx="359359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ไม่กระทบ: อ่านเซนเซอร์ผ่าน ADS1115 (I²C)</a:t>
            </a:r>
            <a:endParaRPr lang="en-US" sz="1400" dirty="0"/>
          </a:p>
        </p:txBody>
      </p:sp>
      <p:sp>
        <p:nvSpPr>
          <p:cNvPr id="15" name="Shape 13"/>
          <p:cNvSpPr/>
          <p:nvPr/>
        </p:nvSpPr>
        <p:spPr>
          <a:xfrm>
            <a:off x="548640" y="2478024"/>
            <a:ext cx="11091672" cy="530352"/>
          </a:xfrm>
          <a:prstGeom prst="roundRect">
            <a:avLst>
              <a:gd name="adj" fmla="val 13793"/>
            </a:avLst>
          </a:prstGeom>
          <a:solidFill>
            <a:srgbClr val="FFFFFF"/>
          </a:solidFill>
          <a:ln w="12700">
            <a:solidFill>
              <a:srgbClr val="D5DFCB"/>
            </a:solidFill>
            <a:prstDash val="solid"/>
          </a:ln>
        </p:spPr>
      </p:sp>
      <p:sp>
        <p:nvSpPr>
          <p:cNvPr id="16" name="Text 14"/>
          <p:cNvSpPr txBox="1"/>
          <p:nvPr/>
        </p:nvSpPr>
        <p:spPr>
          <a:xfrm>
            <a:off x="731520" y="2478024"/>
            <a:ext cx="128016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I²C</a:t>
            </a:r>
            <a:endParaRPr lang="en-US" sz="1400" dirty="0"/>
          </a:p>
        </p:txBody>
      </p:sp>
      <p:sp>
        <p:nvSpPr>
          <p:cNvPr id="17" name="Text 15"/>
          <p:cNvSpPr txBox="1"/>
          <p:nvPr/>
        </p:nvSpPr>
        <p:spPr>
          <a:xfrm>
            <a:off x="2286000" y="2478024"/>
            <a:ext cx="228600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ฮาร์ดแวร์ GPIO8/9</a:t>
            </a:r>
            <a:endParaRPr lang="en-US" sz="1400" dirty="0"/>
          </a:p>
        </p:txBody>
      </p:sp>
      <p:sp>
        <p:nvSpPr>
          <p:cNvPr id="18" name="Text 16"/>
          <p:cNvSpPr txBox="1"/>
          <p:nvPr/>
        </p:nvSpPr>
        <p:spPr>
          <a:xfrm>
            <a:off x="4846320" y="2478024"/>
            <a:ext cx="283464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ซอฟต์แวร์ D2=GPIO4, D1=GPIO5</a:t>
            </a:r>
            <a:endParaRPr lang="en-US" sz="1400" dirty="0"/>
          </a:p>
        </p:txBody>
      </p:sp>
      <p:sp>
        <p:nvSpPr>
          <p:cNvPr id="19" name="Text 17"/>
          <p:cNvSpPr txBox="1"/>
          <p:nvPr/>
        </p:nvSpPr>
        <p:spPr>
          <a:xfrm>
            <a:off x="7955280" y="2478024"/>
            <a:ext cx="359359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ใช้ขาใดก็ได้</a:t>
            </a:r>
            <a:endParaRPr lang="en-US" sz="1400" dirty="0"/>
          </a:p>
        </p:txBody>
      </p:sp>
      <p:sp>
        <p:nvSpPr>
          <p:cNvPr id="20" name="Shape 18"/>
          <p:cNvSpPr/>
          <p:nvPr/>
        </p:nvSpPr>
        <p:spPr>
          <a:xfrm>
            <a:off x="548640" y="3063240"/>
            <a:ext cx="11091672" cy="530352"/>
          </a:xfrm>
          <a:prstGeom prst="roundRect">
            <a:avLst>
              <a:gd name="adj" fmla="val 13793"/>
            </a:avLst>
          </a:prstGeom>
          <a:solidFill>
            <a:srgbClr val="EDF2E8"/>
          </a:solidFill>
          <a:ln w="12700">
            <a:solidFill>
              <a:srgbClr val="D5DFCB"/>
            </a:solidFill>
            <a:prstDash val="solid"/>
          </a:ln>
        </p:spPr>
      </p:sp>
      <p:sp>
        <p:nvSpPr>
          <p:cNvPr id="21" name="Text 19"/>
          <p:cNvSpPr txBox="1"/>
          <p:nvPr/>
        </p:nvSpPr>
        <p:spPr>
          <a:xfrm>
            <a:off x="731520" y="3063240"/>
            <a:ext cx="128016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ปั๊ม/วาล์ว</a:t>
            </a:r>
            <a:endParaRPr lang="en-US" sz="1400" dirty="0"/>
          </a:p>
        </p:txBody>
      </p:sp>
      <p:sp>
        <p:nvSpPr>
          <p:cNvPr id="22" name="Text 20"/>
          <p:cNvSpPr txBox="1"/>
          <p:nvPr/>
        </p:nvSpPr>
        <p:spPr>
          <a:xfrm>
            <a:off x="2286000" y="3063240"/>
            <a:ext cx="228600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GPIO4 / GPIO5</a:t>
            </a:r>
            <a:endParaRPr lang="en-US" sz="1400" dirty="0"/>
          </a:p>
        </p:txBody>
      </p:sp>
      <p:sp>
        <p:nvSpPr>
          <p:cNvPr id="23" name="Text 21"/>
          <p:cNvSpPr txBox="1"/>
          <p:nvPr/>
        </p:nvSpPr>
        <p:spPr>
          <a:xfrm>
            <a:off x="4846320" y="3063240"/>
            <a:ext cx="283464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D5=GPIO14 (PWM), D6=GPIO12</a:t>
            </a:r>
            <a:endParaRPr lang="en-US" sz="1400" dirty="0"/>
          </a:p>
        </p:txBody>
      </p:sp>
      <p:sp>
        <p:nvSpPr>
          <p:cNvPr id="24" name="Text 22"/>
          <p:cNvSpPr txBox="1"/>
          <p:nvPr/>
        </p:nvSpPr>
        <p:spPr>
          <a:xfrm>
            <a:off x="7955280" y="3063240"/>
            <a:ext cx="359359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เลี่ยง GPIO0/2/15 (ขาบูต)</a:t>
            </a:r>
            <a:endParaRPr lang="en-US" sz="1400" dirty="0"/>
          </a:p>
        </p:txBody>
      </p:sp>
      <p:sp>
        <p:nvSpPr>
          <p:cNvPr id="25" name="Shape 23"/>
          <p:cNvSpPr/>
          <p:nvPr/>
        </p:nvSpPr>
        <p:spPr>
          <a:xfrm>
            <a:off x="548640" y="3648456"/>
            <a:ext cx="11091672" cy="530352"/>
          </a:xfrm>
          <a:prstGeom prst="roundRect">
            <a:avLst>
              <a:gd name="adj" fmla="val 13793"/>
            </a:avLst>
          </a:prstGeom>
          <a:solidFill>
            <a:srgbClr val="FFF3D4"/>
          </a:solidFill>
          <a:ln w="12700">
            <a:solidFill>
              <a:srgbClr val="D5DFCB"/>
            </a:solidFill>
            <a:prstDash val="solid"/>
          </a:ln>
        </p:spPr>
      </p:sp>
      <p:sp>
        <p:nvSpPr>
          <p:cNvPr id="26" name="Text 24"/>
          <p:cNvSpPr txBox="1"/>
          <p:nvPr/>
        </p:nvSpPr>
        <p:spPr>
          <a:xfrm>
            <a:off x="731520" y="3648456"/>
            <a:ext cx="128016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RAM</a:t>
            </a:r>
            <a:endParaRPr lang="en-US" sz="1400" dirty="0"/>
          </a:p>
        </p:txBody>
      </p:sp>
      <p:sp>
        <p:nvSpPr>
          <p:cNvPr id="27" name="Text 25"/>
          <p:cNvSpPr txBox="1"/>
          <p:nvPr/>
        </p:nvSpPr>
        <p:spPr>
          <a:xfrm>
            <a:off x="2286000" y="3648456"/>
            <a:ext cx="228600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512 KB + PSRAM 8 MB</a:t>
            </a:r>
            <a:endParaRPr lang="en-US" sz="1400" dirty="0"/>
          </a:p>
        </p:txBody>
      </p:sp>
      <p:sp>
        <p:nvSpPr>
          <p:cNvPr id="28" name="Text 26"/>
          <p:cNvSpPr txBox="1"/>
          <p:nvPr/>
        </p:nvSpPr>
        <p:spPr>
          <a:xfrm>
            <a:off x="4846320" y="3648456"/>
            <a:ext cx="283464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~80 KB ไม่มี PSRAM</a:t>
            </a:r>
            <a:endParaRPr lang="en-US" sz="1400" dirty="0"/>
          </a:p>
        </p:txBody>
      </p:sp>
      <p:sp>
        <p:nvSpPr>
          <p:cNvPr id="29" name="Text 27"/>
          <p:cNvSpPr txBox="1"/>
          <p:nvPr/>
        </p:nvSpPr>
        <p:spPr>
          <a:xfrm>
            <a:off x="7955280" y="3648456"/>
            <a:ext cx="3593592"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ต้องเช็ก: BSEC ×2 + FlyHash อาจไม่พอ</a:t>
            </a:r>
            <a:endParaRPr lang="en-US" sz="1400" dirty="0"/>
          </a:p>
        </p:txBody>
      </p:sp>
      <p:sp>
        <p:nvSpPr>
          <p:cNvPr id="30" name="Shape 28"/>
          <p:cNvSpPr/>
          <p:nvPr/>
        </p:nvSpPr>
        <p:spPr>
          <a:xfrm>
            <a:off x="548640" y="4233672"/>
            <a:ext cx="11091672" cy="530352"/>
          </a:xfrm>
          <a:prstGeom prst="roundRect">
            <a:avLst>
              <a:gd name="adj" fmla="val 13793"/>
            </a:avLst>
          </a:prstGeom>
          <a:solidFill>
            <a:srgbClr val="EDF2E8"/>
          </a:solidFill>
          <a:ln w="12700">
            <a:solidFill>
              <a:srgbClr val="D5DFCB"/>
            </a:solidFill>
            <a:prstDash val="solid"/>
          </a:ln>
        </p:spPr>
      </p:sp>
      <p:sp>
        <p:nvSpPr>
          <p:cNvPr id="31" name="Text 29"/>
          <p:cNvSpPr txBox="1"/>
          <p:nvPr/>
        </p:nvSpPr>
        <p:spPr>
          <a:xfrm>
            <a:off x="731520" y="4233672"/>
            <a:ext cx="128016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Wi-Fi</a:t>
            </a:r>
            <a:endParaRPr lang="en-US" sz="1400" dirty="0"/>
          </a:p>
        </p:txBody>
      </p:sp>
      <p:sp>
        <p:nvSpPr>
          <p:cNvPr id="32" name="Text 30"/>
          <p:cNvSpPr txBox="1"/>
          <p:nvPr/>
        </p:nvSpPr>
        <p:spPr>
          <a:xfrm>
            <a:off x="2286000" y="4233672"/>
            <a:ext cx="228600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มี</a:t>
            </a:r>
            <a:endParaRPr lang="en-US" sz="1400" dirty="0"/>
          </a:p>
        </p:txBody>
      </p:sp>
      <p:sp>
        <p:nvSpPr>
          <p:cNvPr id="33" name="Text 31"/>
          <p:cNvSpPr txBox="1"/>
          <p:nvPr/>
        </p:nvSpPr>
        <p:spPr>
          <a:xfrm>
            <a:off x="4846320" y="4233672"/>
            <a:ext cx="283464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มี</a:t>
            </a:r>
            <a:endParaRPr lang="en-US" sz="1400" dirty="0"/>
          </a:p>
        </p:txBody>
      </p:sp>
      <p:sp>
        <p:nvSpPr>
          <p:cNvPr id="34" name="Text 32"/>
          <p:cNvSpPr txBox="1"/>
          <p:nvPr/>
        </p:nvSpPr>
        <p:spPr>
          <a:xfrm>
            <a:off x="7955280" y="4233672"/>
            <a:ext cx="359359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ส่งข้อมูลขึ้นเว็บ/แดชบอร์ดได้เหมือนกัน</a:t>
            </a:r>
            <a:endParaRPr lang="en-US" sz="1400" dirty="0"/>
          </a:p>
        </p:txBody>
      </p:sp>
      <p:sp>
        <p:nvSpPr>
          <p:cNvPr id="35" name="Shape 33"/>
          <p:cNvSpPr/>
          <p:nvPr/>
        </p:nvSpPr>
        <p:spPr>
          <a:xfrm>
            <a:off x="548640" y="4818888"/>
            <a:ext cx="11091672" cy="530352"/>
          </a:xfrm>
          <a:prstGeom prst="roundRect">
            <a:avLst>
              <a:gd name="adj" fmla="val 13793"/>
            </a:avLst>
          </a:prstGeom>
          <a:solidFill>
            <a:srgbClr val="FFFFFF"/>
          </a:solidFill>
          <a:ln w="12700">
            <a:solidFill>
              <a:srgbClr val="D5DFCB"/>
            </a:solidFill>
            <a:prstDash val="solid"/>
          </a:ln>
        </p:spPr>
      </p:sp>
      <p:sp>
        <p:nvSpPr>
          <p:cNvPr id="36" name="Text 34"/>
          <p:cNvSpPr txBox="1"/>
          <p:nvPr/>
        </p:nvSpPr>
        <p:spPr>
          <a:xfrm>
            <a:off x="731520" y="4818888"/>
            <a:ext cx="128016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ราคา</a:t>
            </a:r>
            <a:endParaRPr lang="en-US" sz="1400" dirty="0"/>
          </a:p>
        </p:txBody>
      </p:sp>
      <p:sp>
        <p:nvSpPr>
          <p:cNvPr id="37" name="Text 35"/>
          <p:cNvSpPr txBox="1"/>
          <p:nvPr/>
        </p:nvSpPr>
        <p:spPr>
          <a:xfrm>
            <a:off x="2286000" y="4818888"/>
            <a:ext cx="228600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฿200</a:t>
            </a:r>
            <a:endParaRPr lang="en-US" sz="1400" dirty="0"/>
          </a:p>
        </p:txBody>
      </p:sp>
      <p:sp>
        <p:nvSpPr>
          <p:cNvPr id="38" name="Text 36"/>
          <p:cNvSpPr txBox="1"/>
          <p:nvPr/>
        </p:nvSpPr>
        <p:spPr>
          <a:xfrm>
            <a:off x="4846320" y="4818888"/>
            <a:ext cx="283464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฿0 (มีแล้ว)</a:t>
            </a:r>
            <a:endParaRPr lang="en-US" sz="1400" dirty="0"/>
          </a:p>
        </p:txBody>
      </p:sp>
      <p:sp>
        <p:nvSpPr>
          <p:cNvPr id="39" name="Text 37"/>
          <p:cNvSpPr txBox="1"/>
          <p:nvPr/>
        </p:nvSpPr>
        <p:spPr>
          <a:xfrm>
            <a:off x="7955280" y="4818888"/>
            <a:ext cx="359359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หักออกจากทั้งสองชุดแล้ว ไม่ประหยัดซ้ำ</a:t>
            </a:r>
            <a:endParaRPr lang="en-US" sz="1400" dirty="0"/>
          </a:p>
        </p:txBody>
      </p:sp>
      <p:sp>
        <p:nvSpPr>
          <p:cNvPr id="40" name="Shape 38"/>
          <p:cNvSpPr/>
          <p:nvPr/>
        </p:nvSpPr>
        <p:spPr>
          <a:xfrm>
            <a:off x="548640" y="5486400"/>
            <a:ext cx="11091672" cy="777240"/>
          </a:xfrm>
          <a:prstGeom prst="roundRect">
            <a:avLst>
              <a:gd name="adj" fmla="val 21176"/>
            </a:avLst>
          </a:prstGeom>
          <a:solidFill>
            <a:srgbClr val="17301F"/>
          </a:solidFill>
          <a:ln/>
        </p:spPr>
      </p:sp>
      <p:sp>
        <p:nvSpPr>
          <p:cNvPr id="41" name="Text 39"/>
          <p:cNvSpPr txBox="1"/>
          <p:nvPr/>
        </p:nvSpPr>
        <p:spPr>
          <a:xfrm>
            <a:off x="822960" y="5486400"/>
            <a:ext cx="10561320" cy="777240"/>
          </a:xfrm>
          <a:prstGeom prst="rect">
            <a:avLst/>
          </a:prstGeom>
          <a:noFill/>
          <a:ln/>
        </p:spPr>
        <p:txBody>
          <a:bodyPr wrap="square" lIns="0" tIns="0" rIns="0" bIns="0" rtlCol="0" anchor="ctr"/>
          <a:lstStyle/>
          <a:p>
            <a:pPr algn="l" indent="0" marL="0">
              <a:buNone/>
            </a:pPr>
            <a:r>
              <a:rPr lang="en-US" sz="1400" dirty="0">
                <a:solidFill>
                  <a:srgbClr val="FFFFFF"/>
                </a:solidFill>
                <a:latin typeface="Tahoma" pitchFamily="34" charset="0"/>
                <a:ea typeface="Tahoma" pitchFamily="34" charset="-122"/>
                <a:cs typeface="Tahoma" pitchFamily="34" charset="-120"/>
              </a:rPr>
              <a:t>ถ้า RAM ไม่พอ: ส่งค่าดิบไปประมวลผลบนเครื่อง/คลาวด์ · ถ้าเป็นโมดูล ESP8266MOD เปล่า ต้องมีตัวแปลง USB-Serial และเรกูเลเตอร์ 3.3V</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ผังต่อสาย prototype (ESP32-S3)</a:t>
            </a:r>
            <a:endParaRPr lang="en-US" sz="3000" dirty="0"/>
          </a:p>
        </p:txBody>
      </p:sp>
      <p:sp>
        <p:nvSpPr>
          <p:cNvPr id="3" name="Shape 1"/>
          <p:cNvSpPr/>
          <p:nvPr/>
        </p:nvSpPr>
        <p:spPr>
          <a:xfrm>
            <a:off x="10104120" y="502920"/>
            <a:ext cx="1536192" cy="365760"/>
          </a:xfrm>
          <a:prstGeom prst="roundRect">
            <a:avLst>
              <a:gd name="adj" fmla="val 50000"/>
            </a:avLst>
          </a:prstGeom>
          <a:solidFill>
            <a:srgbClr val="FFF3D4"/>
          </a:solidFill>
          <a:ln/>
        </p:spPr>
      </p:sp>
      <p:sp>
        <p:nvSpPr>
          <p:cNvPr id="4" name="Text 2"/>
          <p:cNvSpPr txBox="1"/>
          <p:nvPr/>
        </p:nvSpPr>
        <p:spPr>
          <a:xfrm>
            <a:off x="10104120" y="502920"/>
            <a:ext cx="1536192" cy="365760"/>
          </a:xfrm>
          <a:prstGeom prst="rect">
            <a:avLst/>
          </a:prstGeom>
          <a:noFill/>
          <a:ln/>
        </p:spPr>
        <p:txBody>
          <a:bodyPr wrap="square" lIns="0" tIns="0" rIns="0" bIns="0" rtlCol="0" anchor="ctr"/>
          <a:lstStyle/>
          <a:p>
            <a:pPr algn="ctr" indent="0" marL="0">
              <a:buNone/>
            </a:pPr>
            <a:r>
              <a:rPr lang="en-US" sz="1400" b="1" dirty="0">
                <a:solidFill>
                  <a:srgbClr val="7A4F00"/>
                </a:solidFill>
                <a:latin typeface="Tahoma" pitchFamily="34" charset="0"/>
                <a:ea typeface="Tahoma" pitchFamily="34" charset="-122"/>
                <a:cs typeface="Tahoma" pitchFamily="34" charset="-120"/>
              </a:rPr>
              <a:t>BACKUP</a:t>
            </a:r>
            <a:endParaRPr lang="en-US" sz="1400" dirty="0"/>
          </a:p>
        </p:txBody>
      </p:sp>
      <p:sp>
        <p:nvSpPr>
          <p:cNvPr id="5" name="Shape 3"/>
          <p:cNvSpPr/>
          <p:nvPr/>
        </p:nvSpPr>
        <p:spPr>
          <a:xfrm>
            <a:off x="548640" y="2240280"/>
            <a:ext cx="2194560" cy="914400"/>
          </a:xfrm>
          <a:prstGeom prst="roundRect">
            <a:avLst>
              <a:gd name="adj" fmla="val 15000"/>
            </a:avLst>
          </a:prstGeom>
          <a:solidFill>
            <a:srgbClr val="EDF2E8"/>
          </a:solidFill>
          <a:ln w="12700">
            <a:solidFill>
              <a:srgbClr val="D5DFCB"/>
            </a:solidFill>
            <a:prstDash val="solid"/>
          </a:ln>
        </p:spPr>
      </p:sp>
      <p:sp>
        <p:nvSpPr>
          <p:cNvPr id="6" name="Text 4"/>
          <p:cNvSpPr txBox="1"/>
          <p:nvPr/>
        </p:nvSpPr>
        <p:spPr>
          <a:xfrm>
            <a:off x="640080" y="2240280"/>
            <a:ext cx="2011680" cy="914400"/>
          </a:xfrm>
          <a:prstGeom prst="rect">
            <a:avLst/>
          </a:prstGeom>
          <a:noFill/>
          <a:ln/>
        </p:spPr>
        <p:txBody>
          <a:bodyPr wrap="square" lIns="0" tIns="0" rIns="0" bIns="0" rtlCol="0" anchor="ctr"/>
          <a:lstStyle/>
          <a:p>
            <a:pPr algn="ctr" indent="0" marL="0">
              <a:buNone/>
            </a:pPr>
            <a:r>
              <a:rPr lang="en-US" sz="1400" b="1" dirty="0">
                <a:solidFill>
                  <a:srgbClr val="17301F"/>
                </a:solidFill>
                <a:latin typeface="Tahoma" pitchFamily="34" charset="0"/>
                <a:ea typeface="Tahoma" pitchFamily="34" charset="-122"/>
                <a:cs typeface="Tahoma" pitchFamily="34" charset="-120"/>
              </a:rPr>
              <a:t>อะแดปเตอร์ 5V 3A</a:t>
            </a:r>
            <a:endParaRPr lang="en-US" sz="1400" dirty="0"/>
          </a:p>
          <a:p>
            <a:pPr algn="ctr" indent="0" marL="0">
              <a:buNone/>
            </a:pPr>
            <a:r>
              <a:rPr lang="en-US" sz="1200" dirty="0">
                <a:solidFill>
                  <a:srgbClr val="56665B"/>
                </a:solidFill>
                <a:latin typeface="Tahoma" pitchFamily="34" charset="0"/>
                <a:ea typeface="Tahoma" pitchFamily="34" charset="-122"/>
                <a:cs typeface="Tahoma" pitchFamily="34" charset="-120"/>
              </a:rPr>
              <a:t>เลี้ยงทั้งระบบ · GND ร่วม</a:t>
            </a:r>
            <a:endParaRPr lang="en-US" sz="1400" dirty="0"/>
          </a:p>
        </p:txBody>
      </p:sp>
      <p:sp>
        <p:nvSpPr>
          <p:cNvPr id="7" name="Text 5"/>
          <p:cNvSpPr txBox="1"/>
          <p:nvPr/>
        </p:nvSpPr>
        <p:spPr>
          <a:xfrm>
            <a:off x="548640" y="3291840"/>
            <a:ext cx="2468880" cy="54864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5V → ESP32, ฮีตเตอร์ TGS, ปั๊ม, วาล์ว</a:t>
            </a:r>
            <a:endParaRPr lang="en-US" sz="1200" dirty="0"/>
          </a:p>
        </p:txBody>
      </p:sp>
      <p:sp>
        <p:nvSpPr>
          <p:cNvPr id="8" name="Shape 6"/>
          <p:cNvSpPr/>
          <p:nvPr/>
        </p:nvSpPr>
        <p:spPr>
          <a:xfrm>
            <a:off x="3291840" y="2103120"/>
            <a:ext cx="2651760" cy="2011680"/>
          </a:xfrm>
          <a:prstGeom prst="roundRect">
            <a:avLst>
              <a:gd name="adj" fmla="val 6818"/>
            </a:avLst>
          </a:prstGeom>
          <a:solidFill>
            <a:srgbClr val="17301F"/>
          </a:solidFill>
          <a:ln/>
        </p:spPr>
      </p:sp>
      <p:sp>
        <p:nvSpPr>
          <p:cNvPr id="9" name="Text 7"/>
          <p:cNvSpPr txBox="1"/>
          <p:nvPr/>
        </p:nvSpPr>
        <p:spPr>
          <a:xfrm>
            <a:off x="3383280" y="2103120"/>
            <a:ext cx="2468880" cy="201168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ESP32-S3 DevKitC-1</a:t>
            </a:r>
            <a:endParaRPr lang="en-US" sz="1400" dirty="0"/>
          </a:p>
          <a:p>
            <a:pPr algn="ctr" indent="0" marL="0">
              <a:buNone/>
            </a:pPr>
            <a:r>
              <a:rPr lang="en-US" sz="1200" dirty="0">
                <a:solidFill>
                  <a:srgbClr val="D5DFC6"/>
                </a:solidFill>
                <a:latin typeface="Tahoma" pitchFamily="34" charset="0"/>
                <a:ea typeface="Tahoma" pitchFamily="34" charset="-122"/>
                <a:cs typeface="Tahoma" pitchFamily="34" charset="-120"/>
              </a:rPr>
              <a:t>GPIO8 SDA · GPIO9 SCL</a:t>
            </a:r>
            <a:endParaRPr lang="en-US" sz="1400" dirty="0"/>
          </a:p>
          <a:p>
            <a:pPr algn="ctr" indent="0" marL="0">
              <a:buNone/>
            </a:pPr>
            <a:r>
              <a:rPr lang="en-US" sz="1200" dirty="0">
                <a:solidFill>
                  <a:srgbClr val="D5DFC6"/>
                </a:solidFill>
                <a:latin typeface="Tahoma" pitchFamily="34" charset="0"/>
                <a:ea typeface="Tahoma" pitchFamily="34" charset="-122"/>
                <a:cs typeface="Tahoma" pitchFamily="34" charset="-120"/>
              </a:rPr>
              <a:t>GPIO4 → ปั๊ม · GPIO5 → วาล์ว</a:t>
            </a:r>
            <a:endParaRPr lang="en-US" sz="1400" dirty="0"/>
          </a:p>
        </p:txBody>
      </p:sp>
      <p:sp>
        <p:nvSpPr>
          <p:cNvPr id="10" name="Shape 8"/>
          <p:cNvSpPr/>
          <p:nvPr/>
        </p:nvSpPr>
        <p:spPr>
          <a:xfrm>
            <a:off x="2788920" y="2697480"/>
            <a:ext cx="457200" cy="0"/>
          </a:xfrm>
          <a:prstGeom prst="line">
            <a:avLst/>
          </a:prstGeom>
          <a:noFill/>
          <a:ln w="31750">
            <a:solidFill>
              <a:srgbClr val="2E6B3E"/>
            </a:solidFill>
            <a:prstDash val="solid"/>
            <a:tailEnd type="triangle"/>
          </a:ln>
        </p:spPr>
      </p:sp>
      <p:sp>
        <p:nvSpPr>
          <p:cNvPr id="11" name="Shape 9"/>
          <p:cNvSpPr/>
          <p:nvPr/>
        </p:nvSpPr>
        <p:spPr>
          <a:xfrm>
            <a:off x="5989320" y="3108960"/>
            <a:ext cx="411480" cy="0"/>
          </a:xfrm>
          <a:prstGeom prst="line">
            <a:avLst/>
          </a:prstGeom>
          <a:noFill/>
          <a:ln w="31750">
            <a:solidFill>
              <a:srgbClr val="2E6B3E"/>
            </a:solidFill>
            <a:prstDash val="solid"/>
          </a:ln>
        </p:spPr>
      </p:sp>
      <p:sp>
        <p:nvSpPr>
          <p:cNvPr id="12" name="Shape 10"/>
          <p:cNvSpPr/>
          <p:nvPr/>
        </p:nvSpPr>
        <p:spPr>
          <a:xfrm>
            <a:off x="6400800" y="1920240"/>
            <a:ext cx="0" cy="2194560"/>
          </a:xfrm>
          <a:prstGeom prst="line">
            <a:avLst/>
          </a:prstGeom>
          <a:noFill/>
          <a:ln w="31750">
            <a:solidFill>
              <a:srgbClr val="2E6B3E"/>
            </a:solidFill>
            <a:prstDash val="solid"/>
          </a:ln>
        </p:spPr>
      </p:sp>
      <p:sp>
        <p:nvSpPr>
          <p:cNvPr id="13" name="Text 11"/>
          <p:cNvSpPr txBox="1"/>
          <p:nvPr/>
        </p:nvSpPr>
        <p:spPr>
          <a:xfrm>
            <a:off x="6035040" y="2788920"/>
            <a:ext cx="822960" cy="274320"/>
          </a:xfrm>
          <a:prstGeom prst="rect">
            <a:avLst/>
          </a:prstGeom>
          <a:noFill/>
          <a:ln/>
        </p:spPr>
        <p:txBody>
          <a:bodyPr wrap="square" lIns="0" tIns="0" rIns="0" bIns="0" rtlCol="0" anchor="t"/>
          <a:lstStyle/>
          <a:p>
            <a:pPr algn="l" indent="0" marL="0">
              <a:buNone/>
            </a:pPr>
            <a:r>
              <a:rPr lang="en-US" sz="1200" b="1" dirty="0">
                <a:solidFill>
                  <a:srgbClr val="2E6B3E"/>
                </a:solidFill>
                <a:latin typeface="Tahoma" pitchFamily="34" charset="0"/>
                <a:ea typeface="Tahoma" pitchFamily="34" charset="-122"/>
                <a:cs typeface="Tahoma" pitchFamily="34" charset="-120"/>
              </a:rPr>
              <a:t>I²C</a:t>
            </a:r>
            <a:endParaRPr lang="en-US" sz="1200" dirty="0"/>
          </a:p>
        </p:txBody>
      </p:sp>
      <p:sp>
        <p:nvSpPr>
          <p:cNvPr id="14" name="Shape 12"/>
          <p:cNvSpPr/>
          <p:nvPr/>
        </p:nvSpPr>
        <p:spPr>
          <a:xfrm>
            <a:off x="6400800" y="1920240"/>
            <a:ext cx="411480" cy="0"/>
          </a:xfrm>
          <a:prstGeom prst="line">
            <a:avLst/>
          </a:prstGeom>
          <a:noFill/>
          <a:ln w="31750">
            <a:solidFill>
              <a:srgbClr val="2E6B3E"/>
            </a:solidFill>
            <a:prstDash val="solid"/>
            <a:tailEnd type="triangle"/>
          </a:ln>
        </p:spPr>
      </p:sp>
      <p:sp>
        <p:nvSpPr>
          <p:cNvPr id="15" name="Shape 13"/>
          <p:cNvSpPr/>
          <p:nvPr/>
        </p:nvSpPr>
        <p:spPr>
          <a:xfrm>
            <a:off x="6400800" y="3154680"/>
            <a:ext cx="411480" cy="0"/>
          </a:xfrm>
          <a:prstGeom prst="line">
            <a:avLst/>
          </a:prstGeom>
          <a:noFill/>
          <a:ln w="31750">
            <a:solidFill>
              <a:srgbClr val="2E6B3E"/>
            </a:solidFill>
            <a:prstDash val="solid"/>
            <a:tailEnd type="triangle"/>
          </a:ln>
        </p:spPr>
      </p:sp>
      <p:sp>
        <p:nvSpPr>
          <p:cNvPr id="16" name="Shape 14"/>
          <p:cNvSpPr/>
          <p:nvPr/>
        </p:nvSpPr>
        <p:spPr>
          <a:xfrm>
            <a:off x="6400800" y="4069080"/>
            <a:ext cx="411480" cy="0"/>
          </a:xfrm>
          <a:prstGeom prst="line">
            <a:avLst/>
          </a:prstGeom>
          <a:noFill/>
          <a:ln w="31750">
            <a:solidFill>
              <a:srgbClr val="2E6B3E"/>
            </a:solidFill>
            <a:prstDash val="solid"/>
            <a:tailEnd type="triangle"/>
          </a:ln>
        </p:spPr>
      </p:sp>
      <p:sp>
        <p:nvSpPr>
          <p:cNvPr id="17" name="Shape 15"/>
          <p:cNvSpPr/>
          <p:nvPr/>
        </p:nvSpPr>
        <p:spPr>
          <a:xfrm>
            <a:off x="6858000" y="1417320"/>
            <a:ext cx="2377440" cy="1005840"/>
          </a:xfrm>
          <a:prstGeom prst="roundRect">
            <a:avLst>
              <a:gd name="adj" fmla="val 13636"/>
            </a:avLst>
          </a:prstGeom>
          <a:solidFill>
            <a:srgbClr val="EDF2E8"/>
          </a:solidFill>
          <a:ln w="12700">
            <a:solidFill>
              <a:srgbClr val="D5DFCB"/>
            </a:solidFill>
            <a:prstDash val="solid"/>
          </a:ln>
        </p:spPr>
      </p:sp>
      <p:sp>
        <p:nvSpPr>
          <p:cNvPr id="18" name="Text 16"/>
          <p:cNvSpPr txBox="1"/>
          <p:nvPr/>
        </p:nvSpPr>
        <p:spPr>
          <a:xfrm>
            <a:off x="6949440" y="1417320"/>
            <a:ext cx="2194560" cy="1005840"/>
          </a:xfrm>
          <a:prstGeom prst="rect">
            <a:avLst/>
          </a:prstGeom>
          <a:noFill/>
          <a:ln/>
        </p:spPr>
        <p:txBody>
          <a:bodyPr wrap="square" lIns="0" tIns="0" rIns="0" bIns="0" rtlCol="0" anchor="ctr"/>
          <a:lstStyle/>
          <a:p>
            <a:pPr algn="ctr" indent="0" marL="0">
              <a:buNone/>
            </a:pPr>
            <a:r>
              <a:rPr lang="en-US" sz="1400" b="1" dirty="0">
                <a:solidFill>
                  <a:srgbClr val="17301F"/>
                </a:solidFill>
                <a:latin typeface="Tahoma" pitchFamily="34" charset="0"/>
                <a:ea typeface="Tahoma" pitchFamily="34" charset="-122"/>
                <a:cs typeface="Tahoma" pitchFamily="34" charset="-120"/>
              </a:rPr>
              <a:t>ADS1115</a:t>
            </a:r>
            <a:endParaRPr lang="en-US" sz="1400" dirty="0"/>
          </a:p>
          <a:p>
            <a:pPr algn="ctr" indent="0" marL="0">
              <a:buNone/>
            </a:pPr>
            <a:r>
              <a:rPr lang="en-US" sz="1200" dirty="0">
                <a:solidFill>
                  <a:srgbClr val="56665B"/>
                </a:solidFill>
                <a:latin typeface="Tahoma" pitchFamily="34" charset="0"/>
                <a:ea typeface="Tahoma" pitchFamily="34" charset="-122"/>
                <a:cs typeface="Tahoma" pitchFamily="34" charset="-120"/>
              </a:rPr>
              <a:t>0x48 · ADC 16 บิต</a:t>
            </a:r>
            <a:endParaRPr lang="en-US" sz="1400" dirty="0"/>
          </a:p>
        </p:txBody>
      </p:sp>
      <p:sp>
        <p:nvSpPr>
          <p:cNvPr id="19" name="Shape 17"/>
          <p:cNvSpPr/>
          <p:nvPr/>
        </p:nvSpPr>
        <p:spPr>
          <a:xfrm>
            <a:off x="6858000" y="2743200"/>
            <a:ext cx="2377440" cy="822960"/>
          </a:xfrm>
          <a:prstGeom prst="roundRect">
            <a:avLst>
              <a:gd name="adj" fmla="val 16667"/>
            </a:avLst>
          </a:prstGeom>
          <a:solidFill>
            <a:srgbClr val="EDF2E8"/>
          </a:solidFill>
          <a:ln w="12700">
            <a:solidFill>
              <a:srgbClr val="D5DFCB"/>
            </a:solidFill>
            <a:prstDash val="solid"/>
          </a:ln>
        </p:spPr>
      </p:sp>
      <p:sp>
        <p:nvSpPr>
          <p:cNvPr id="20" name="Text 18"/>
          <p:cNvSpPr txBox="1"/>
          <p:nvPr/>
        </p:nvSpPr>
        <p:spPr>
          <a:xfrm>
            <a:off x="6949440" y="2743200"/>
            <a:ext cx="2194560" cy="822960"/>
          </a:xfrm>
          <a:prstGeom prst="rect">
            <a:avLst/>
          </a:prstGeom>
          <a:noFill/>
          <a:ln/>
        </p:spPr>
        <p:txBody>
          <a:bodyPr wrap="square" lIns="0" tIns="0" rIns="0" bIns="0" rtlCol="0" anchor="ctr"/>
          <a:lstStyle/>
          <a:p>
            <a:pPr algn="ctr" indent="0" marL="0">
              <a:buNone/>
            </a:pPr>
            <a:r>
              <a:rPr lang="en-US" sz="1400" b="1" dirty="0">
                <a:solidFill>
                  <a:srgbClr val="17301F"/>
                </a:solidFill>
                <a:latin typeface="Tahoma" pitchFamily="34" charset="0"/>
                <a:ea typeface="Tahoma" pitchFamily="34" charset="-122"/>
                <a:cs typeface="Tahoma" pitchFamily="34" charset="-120"/>
              </a:rPr>
              <a:t>BME688 #1</a:t>
            </a:r>
            <a:endParaRPr lang="en-US" sz="1400" dirty="0"/>
          </a:p>
          <a:p>
            <a:pPr algn="ctr" indent="0" marL="0">
              <a:buNone/>
            </a:pPr>
            <a:r>
              <a:rPr lang="en-US" sz="1200" dirty="0">
                <a:solidFill>
                  <a:srgbClr val="56665B"/>
                </a:solidFill>
                <a:latin typeface="Tahoma" pitchFamily="34" charset="0"/>
                <a:ea typeface="Tahoma" pitchFamily="34" charset="-122"/>
                <a:cs typeface="Tahoma" pitchFamily="34" charset="-120"/>
              </a:rPr>
              <a:t>0x76 · ห้องเซนเซอร์</a:t>
            </a:r>
            <a:endParaRPr lang="en-US" sz="1400" dirty="0"/>
          </a:p>
        </p:txBody>
      </p:sp>
      <p:sp>
        <p:nvSpPr>
          <p:cNvPr id="21" name="Shape 19"/>
          <p:cNvSpPr/>
          <p:nvPr/>
        </p:nvSpPr>
        <p:spPr>
          <a:xfrm>
            <a:off x="6858000" y="3657600"/>
            <a:ext cx="2377440" cy="822960"/>
          </a:xfrm>
          <a:prstGeom prst="roundRect">
            <a:avLst>
              <a:gd name="adj" fmla="val 16667"/>
            </a:avLst>
          </a:prstGeom>
          <a:solidFill>
            <a:srgbClr val="EDF2E8"/>
          </a:solidFill>
          <a:ln w="12700">
            <a:solidFill>
              <a:srgbClr val="D5DFCB"/>
            </a:solidFill>
            <a:prstDash val="solid"/>
          </a:ln>
        </p:spPr>
      </p:sp>
      <p:sp>
        <p:nvSpPr>
          <p:cNvPr id="22" name="Text 20"/>
          <p:cNvSpPr txBox="1"/>
          <p:nvPr/>
        </p:nvSpPr>
        <p:spPr>
          <a:xfrm>
            <a:off x="6949440" y="3657600"/>
            <a:ext cx="2194560" cy="822960"/>
          </a:xfrm>
          <a:prstGeom prst="rect">
            <a:avLst/>
          </a:prstGeom>
          <a:noFill/>
          <a:ln/>
        </p:spPr>
        <p:txBody>
          <a:bodyPr wrap="square" lIns="0" tIns="0" rIns="0" bIns="0" rtlCol="0" anchor="ctr"/>
          <a:lstStyle/>
          <a:p>
            <a:pPr algn="ctr" indent="0" marL="0">
              <a:buNone/>
            </a:pPr>
            <a:r>
              <a:rPr lang="en-US" sz="1400" b="1" dirty="0">
                <a:solidFill>
                  <a:srgbClr val="17301F"/>
                </a:solidFill>
                <a:latin typeface="Tahoma" pitchFamily="34" charset="0"/>
                <a:ea typeface="Tahoma" pitchFamily="34" charset="-122"/>
                <a:cs typeface="Tahoma" pitchFamily="34" charset="-120"/>
              </a:rPr>
              <a:t>BME688 #2</a:t>
            </a:r>
            <a:endParaRPr lang="en-US" sz="1400" dirty="0"/>
          </a:p>
          <a:p>
            <a:pPr algn="ctr" indent="0" marL="0">
              <a:buNone/>
            </a:pPr>
            <a:r>
              <a:rPr lang="en-US" sz="1200" dirty="0">
                <a:solidFill>
                  <a:srgbClr val="56665B"/>
                </a:solidFill>
                <a:latin typeface="Tahoma" pitchFamily="34" charset="0"/>
                <a:ea typeface="Tahoma" pitchFamily="34" charset="-122"/>
                <a:cs typeface="Tahoma" pitchFamily="34" charset="-120"/>
              </a:rPr>
              <a:t>0x77 · อากาศอ้างอิง</a:t>
            </a:r>
            <a:endParaRPr lang="en-US" sz="1400" dirty="0"/>
          </a:p>
        </p:txBody>
      </p:sp>
      <p:sp>
        <p:nvSpPr>
          <p:cNvPr id="23" name="Shape 21"/>
          <p:cNvSpPr/>
          <p:nvPr/>
        </p:nvSpPr>
        <p:spPr>
          <a:xfrm>
            <a:off x="9281160" y="1691640"/>
            <a:ext cx="228600" cy="0"/>
          </a:xfrm>
          <a:prstGeom prst="line">
            <a:avLst/>
          </a:prstGeom>
          <a:noFill/>
          <a:ln w="31750">
            <a:solidFill>
              <a:srgbClr val="2E6B3E"/>
            </a:solidFill>
            <a:prstDash val="solid"/>
          </a:ln>
        </p:spPr>
      </p:sp>
      <p:sp>
        <p:nvSpPr>
          <p:cNvPr id="24" name="Shape 22"/>
          <p:cNvSpPr/>
          <p:nvPr/>
        </p:nvSpPr>
        <p:spPr>
          <a:xfrm>
            <a:off x="9509760" y="1691640"/>
            <a:ext cx="0" cy="566928"/>
          </a:xfrm>
          <a:prstGeom prst="line">
            <a:avLst/>
          </a:prstGeom>
          <a:noFill/>
          <a:ln w="31750">
            <a:solidFill>
              <a:srgbClr val="2E6B3E"/>
            </a:solidFill>
            <a:prstDash val="solid"/>
          </a:ln>
        </p:spPr>
      </p:sp>
      <p:sp>
        <p:nvSpPr>
          <p:cNvPr id="25" name="Shape 23"/>
          <p:cNvSpPr/>
          <p:nvPr/>
        </p:nvSpPr>
        <p:spPr>
          <a:xfrm>
            <a:off x="9509760" y="2258568"/>
            <a:ext cx="182880" cy="0"/>
          </a:xfrm>
          <a:prstGeom prst="line">
            <a:avLst/>
          </a:prstGeom>
          <a:noFill/>
          <a:ln w="31750">
            <a:solidFill>
              <a:srgbClr val="2E6B3E"/>
            </a:solidFill>
            <a:prstDash val="solid"/>
          </a:ln>
        </p:spPr>
      </p:sp>
      <p:sp>
        <p:nvSpPr>
          <p:cNvPr id="26" name="Shape 24"/>
          <p:cNvSpPr/>
          <p:nvPr/>
        </p:nvSpPr>
        <p:spPr>
          <a:xfrm>
            <a:off x="9509760" y="1691640"/>
            <a:ext cx="182880" cy="0"/>
          </a:xfrm>
          <a:prstGeom prst="line">
            <a:avLst/>
          </a:prstGeom>
          <a:noFill/>
          <a:ln w="31750">
            <a:solidFill>
              <a:srgbClr val="2E6B3E"/>
            </a:solidFill>
            <a:prstDash val="solid"/>
          </a:ln>
        </p:spPr>
      </p:sp>
      <p:sp>
        <p:nvSpPr>
          <p:cNvPr id="27" name="Shape 25"/>
          <p:cNvSpPr/>
          <p:nvPr/>
        </p:nvSpPr>
        <p:spPr>
          <a:xfrm>
            <a:off x="9738360" y="1417320"/>
            <a:ext cx="1874520" cy="502920"/>
          </a:xfrm>
          <a:prstGeom prst="roundRect">
            <a:avLst>
              <a:gd name="adj" fmla="val 27273"/>
            </a:avLst>
          </a:prstGeom>
          <a:solidFill>
            <a:srgbClr val="EDF2E8"/>
          </a:solidFill>
          <a:ln w="12700">
            <a:solidFill>
              <a:srgbClr val="D5DFCB"/>
            </a:solidFill>
            <a:prstDash val="solid"/>
          </a:ln>
        </p:spPr>
      </p:sp>
      <p:sp>
        <p:nvSpPr>
          <p:cNvPr id="28" name="Text 26"/>
          <p:cNvSpPr txBox="1"/>
          <p:nvPr/>
        </p:nvSpPr>
        <p:spPr>
          <a:xfrm>
            <a:off x="9829800" y="1417320"/>
            <a:ext cx="1691640" cy="502920"/>
          </a:xfrm>
          <a:prstGeom prst="rect">
            <a:avLst/>
          </a:prstGeom>
          <a:noFill/>
          <a:ln/>
        </p:spPr>
        <p:txBody>
          <a:bodyPr wrap="square" lIns="0" tIns="0" rIns="0" bIns="0" rtlCol="0" anchor="ctr"/>
          <a:lstStyle/>
          <a:p>
            <a:pPr algn="ctr" indent="0" marL="0">
              <a:buNone/>
            </a:pPr>
            <a:r>
              <a:rPr lang="en-US" sz="1400" b="1" dirty="0">
                <a:solidFill>
                  <a:srgbClr val="17301F"/>
                </a:solidFill>
                <a:latin typeface="Tahoma" pitchFamily="34" charset="0"/>
                <a:ea typeface="Tahoma" pitchFamily="34" charset="-122"/>
                <a:cs typeface="Tahoma" pitchFamily="34" charset="-120"/>
              </a:rPr>
              <a:t>TGS2602 (A0)</a:t>
            </a:r>
            <a:endParaRPr lang="en-US" sz="1400" dirty="0"/>
          </a:p>
        </p:txBody>
      </p:sp>
      <p:sp>
        <p:nvSpPr>
          <p:cNvPr id="29" name="Shape 27"/>
          <p:cNvSpPr/>
          <p:nvPr/>
        </p:nvSpPr>
        <p:spPr>
          <a:xfrm>
            <a:off x="9738360" y="2011680"/>
            <a:ext cx="1874520" cy="502920"/>
          </a:xfrm>
          <a:prstGeom prst="roundRect">
            <a:avLst>
              <a:gd name="adj" fmla="val 27273"/>
            </a:avLst>
          </a:prstGeom>
          <a:solidFill>
            <a:srgbClr val="EDF2E8"/>
          </a:solidFill>
          <a:ln w="12700">
            <a:solidFill>
              <a:srgbClr val="D5DFCB"/>
            </a:solidFill>
            <a:prstDash val="solid"/>
          </a:ln>
        </p:spPr>
      </p:sp>
      <p:sp>
        <p:nvSpPr>
          <p:cNvPr id="30" name="Text 28"/>
          <p:cNvSpPr txBox="1"/>
          <p:nvPr/>
        </p:nvSpPr>
        <p:spPr>
          <a:xfrm>
            <a:off x="9829800" y="2011680"/>
            <a:ext cx="1691640" cy="502920"/>
          </a:xfrm>
          <a:prstGeom prst="rect">
            <a:avLst/>
          </a:prstGeom>
          <a:noFill/>
          <a:ln/>
        </p:spPr>
        <p:txBody>
          <a:bodyPr wrap="square" lIns="0" tIns="0" rIns="0" bIns="0" rtlCol="0" anchor="ctr"/>
          <a:lstStyle/>
          <a:p>
            <a:pPr algn="ctr" indent="0" marL="0">
              <a:buNone/>
            </a:pPr>
            <a:r>
              <a:rPr lang="en-US" sz="1400" b="1" dirty="0">
                <a:solidFill>
                  <a:srgbClr val="17301F"/>
                </a:solidFill>
                <a:latin typeface="Tahoma" pitchFamily="34" charset="0"/>
                <a:ea typeface="Tahoma" pitchFamily="34" charset="-122"/>
                <a:cs typeface="Tahoma" pitchFamily="34" charset="-120"/>
              </a:rPr>
              <a:t>TGS2603 (A1)</a:t>
            </a:r>
            <a:endParaRPr lang="en-US" sz="1400" dirty="0"/>
          </a:p>
        </p:txBody>
      </p:sp>
      <p:sp>
        <p:nvSpPr>
          <p:cNvPr id="31" name="Shape 29"/>
          <p:cNvSpPr/>
          <p:nvPr/>
        </p:nvSpPr>
        <p:spPr>
          <a:xfrm>
            <a:off x="3703320" y="4114800"/>
            <a:ext cx="0" cy="640080"/>
          </a:xfrm>
          <a:prstGeom prst="line">
            <a:avLst/>
          </a:prstGeom>
          <a:noFill/>
          <a:ln w="31750">
            <a:solidFill>
              <a:srgbClr val="2E6B3E"/>
            </a:solidFill>
            <a:prstDash val="solid"/>
            <a:tailEnd type="triangle"/>
          </a:ln>
        </p:spPr>
      </p:sp>
      <p:sp>
        <p:nvSpPr>
          <p:cNvPr id="32" name="Shape 30"/>
          <p:cNvSpPr/>
          <p:nvPr/>
        </p:nvSpPr>
        <p:spPr>
          <a:xfrm>
            <a:off x="5532120" y="4114800"/>
            <a:ext cx="0" cy="640080"/>
          </a:xfrm>
          <a:prstGeom prst="line">
            <a:avLst/>
          </a:prstGeom>
          <a:noFill/>
          <a:ln w="31750">
            <a:solidFill>
              <a:srgbClr val="2E6B3E"/>
            </a:solidFill>
            <a:prstDash val="solid"/>
            <a:tailEnd type="triangle"/>
          </a:ln>
        </p:spPr>
      </p:sp>
      <p:sp>
        <p:nvSpPr>
          <p:cNvPr id="33" name="Shape 31"/>
          <p:cNvSpPr/>
          <p:nvPr/>
        </p:nvSpPr>
        <p:spPr>
          <a:xfrm>
            <a:off x="2926080" y="4800600"/>
            <a:ext cx="1554480" cy="548640"/>
          </a:xfrm>
          <a:prstGeom prst="roundRect">
            <a:avLst>
              <a:gd name="adj" fmla="val 25000"/>
            </a:avLst>
          </a:prstGeom>
          <a:solidFill>
            <a:srgbClr val="EDF2E8"/>
          </a:solidFill>
          <a:ln w="12700">
            <a:solidFill>
              <a:srgbClr val="D5DFCB"/>
            </a:solidFill>
            <a:prstDash val="solid"/>
          </a:ln>
        </p:spPr>
      </p:sp>
      <p:sp>
        <p:nvSpPr>
          <p:cNvPr id="34" name="Text 32"/>
          <p:cNvSpPr txBox="1"/>
          <p:nvPr/>
        </p:nvSpPr>
        <p:spPr>
          <a:xfrm>
            <a:off x="3017520" y="4800600"/>
            <a:ext cx="1371600" cy="548640"/>
          </a:xfrm>
          <a:prstGeom prst="rect">
            <a:avLst/>
          </a:prstGeom>
          <a:noFill/>
          <a:ln/>
        </p:spPr>
        <p:txBody>
          <a:bodyPr wrap="square" lIns="0" tIns="0" rIns="0" bIns="0" rtlCol="0" anchor="ctr"/>
          <a:lstStyle/>
          <a:p>
            <a:pPr algn="ctr" indent="0" marL="0">
              <a:buNone/>
            </a:pPr>
            <a:r>
              <a:rPr lang="en-US" sz="1400" b="1" dirty="0">
                <a:solidFill>
                  <a:srgbClr val="17301F"/>
                </a:solidFill>
                <a:latin typeface="Tahoma" pitchFamily="34" charset="0"/>
                <a:ea typeface="Tahoma" pitchFamily="34" charset="-122"/>
                <a:cs typeface="Tahoma" pitchFamily="34" charset="-120"/>
              </a:rPr>
              <a:t>MOSFET</a:t>
            </a:r>
            <a:endParaRPr lang="en-US" sz="1400" dirty="0"/>
          </a:p>
        </p:txBody>
      </p:sp>
      <p:sp>
        <p:nvSpPr>
          <p:cNvPr id="35" name="Shape 33"/>
          <p:cNvSpPr/>
          <p:nvPr/>
        </p:nvSpPr>
        <p:spPr>
          <a:xfrm>
            <a:off x="4754880" y="4800600"/>
            <a:ext cx="1554480" cy="548640"/>
          </a:xfrm>
          <a:prstGeom prst="roundRect">
            <a:avLst>
              <a:gd name="adj" fmla="val 25000"/>
            </a:avLst>
          </a:prstGeom>
          <a:solidFill>
            <a:srgbClr val="EDF2E8"/>
          </a:solidFill>
          <a:ln w="12700">
            <a:solidFill>
              <a:srgbClr val="D5DFCB"/>
            </a:solidFill>
            <a:prstDash val="solid"/>
          </a:ln>
        </p:spPr>
      </p:sp>
      <p:sp>
        <p:nvSpPr>
          <p:cNvPr id="36" name="Text 34"/>
          <p:cNvSpPr txBox="1"/>
          <p:nvPr/>
        </p:nvSpPr>
        <p:spPr>
          <a:xfrm>
            <a:off x="4846320" y="4800600"/>
            <a:ext cx="1371600" cy="548640"/>
          </a:xfrm>
          <a:prstGeom prst="rect">
            <a:avLst/>
          </a:prstGeom>
          <a:noFill/>
          <a:ln/>
        </p:spPr>
        <p:txBody>
          <a:bodyPr wrap="square" lIns="0" tIns="0" rIns="0" bIns="0" rtlCol="0" anchor="ctr"/>
          <a:lstStyle/>
          <a:p>
            <a:pPr algn="ctr" indent="0" marL="0">
              <a:buNone/>
            </a:pPr>
            <a:r>
              <a:rPr lang="en-US" sz="1400" b="1" dirty="0">
                <a:solidFill>
                  <a:srgbClr val="17301F"/>
                </a:solidFill>
                <a:latin typeface="Tahoma" pitchFamily="34" charset="0"/>
                <a:ea typeface="Tahoma" pitchFamily="34" charset="-122"/>
                <a:cs typeface="Tahoma" pitchFamily="34" charset="-120"/>
              </a:rPr>
              <a:t>MOSFET</a:t>
            </a:r>
            <a:endParaRPr lang="en-US" sz="1400" dirty="0"/>
          </a:p>
        </p:txBody>
      </p:sp>
      <p:sp>
        <p:nvSpPr>
          <p:cNvPr id="37" name="Shape 35"/>
          <p:cNvSpPr/>
          <p:nvPr/>
        </p:nvSpPr>
        <p:spPr>
          <a:xfrm>
            <a:off x="2926080" y="5623560"/>
            <a:ext cx="1554480" cy="548640"/>
          </a:xfrm>
          <a:prstGeom prst="roundRect">
            <a:avLst>
              <a:gd name="adj" fmla="val 25000"/>
            </a:avLst>
          </a:prstGeom>
          <a:solidFill>
            <a:srgbClr val="17301F"/>
          </a:solidFill>
          <a:ln/>
        </p:spPr>
      </p:sp>
      <p:sp>
        <p:nvSpPr>
          <p:cNvPr id="38" name="Text 36"/>
          <p:cNvSpPr txBox="1"/>
          <p:nvPr/>
        </p:nvSpPr>
        <p:spPr>
          <a:xfrm>
            <a:off x="3017520" y="5623560"/>
            <a:ext cx="13716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ปั๊มลม 5V</a:t>
            </a:r>
            <a:endParaRPr lang="en-US" sz="1400" dirty="0"/>
          </a:p>
        </p:txBody>
      </p:sp>
      <p:sp>
        <p:nvSpPr>
          <p:cNvPr id="39" name="Shape 37"/>
          <p:cNvSpPr/>
          <p:nvPr/>
        </p:nvSpPr>
        <p:spPr>
          <a:xfrm>
            <a:off x="4754880" y="5623560"/>
            <a:ext cx="1554480" cy="548640"/>
          </a:xfrm>
          <a:prstGeom prst="roundRect">
            <a:avLst>
              <a:gd name="adj" fmla="val 25000"/>
            </a:avLst>
          </a:prstGeom>
          <a:solidFill>
            <a:srgbClr val="17301F"/>
          </a:solidFill>
          <a:ln/>
        </p:spPr>
      </p:sp>
      <p:sp>
        <p:nvSpPr>
          <p:cNvPr id="40" name="Text 38"/>
          <p:cNvSpPr txBox="1"/>
          <p:nvPr/>
        </p:nvSpPr>
        <p:spPr>
          <a:xfrm>
            <a:off x="4846320" y="5623560"/>
            <a:ext cx="137160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Tahoma" pitchFamily="34" charset="0"/>
                <a:ea typeface="Tahoma" pitchFamily="34" charset="-122"/>
                <a:cs typeface="Tahoma" pitchFamily="34" charset="-120"/>
              </a:rPr>
              <a:t>วาล์ว 3 ทาง</a:t>
            </a:r>
            <a:endParaRPr lang="en-US" sz="1400" dirty="0"/>
          </a:p>
        </p:txBody>
      </p:sp>
      <p:sp>
        <p:nvSpPr>
          <p:cNvPr id="41" name="Shape 39"/>
          <p:cNvSpPr/>
          <p:nvPr/>
        </p:nvSpPr>
        <p:spPr>
          <a:xfrm>
            <a:off x="3703320" y="5349240"/>
            <a:ext cx="0" cy="228600"/>
          </a:xfrm>
          <a:prstGeom prst="line">
            <a:avLst/>
          </a:prstGeom>
          <a:noFill/>
          <a:ln w="31750">
            <a:solidFill>
              <a:srgbClr val="2E6B3E"/>
            </a:solidFill>
            <a:prstDash val="solid"/>
            <a:tailEnd type="triangle"/>
          </a:ln>
        </p:spPr>
      </p:sp>
      <p:sp>
        <p:nvSpPr>
          <p:cNvPr id="42" name="Shape 40"/>
          <p:cNvSpPr/>
          <p:nvPr/>
        </p:nvSpPr>
        <p:spPr>
          <a:xfrm>
            <a:off x="5532120" y="5349240"/>
            <a:ext cx="0" cy="228600"/>
          </a:xfrm>
          <a:prstGeom prst="line">
            <a:avLst/>
          </a:prstGeom>
          <a:noFill/>
          <a:ln w="31750">
            <a:solidFill>
              <a:srgbClr val="2E6B3E"/>
            </a:solidFill>
            <a:prstDash val="solid"/>
            <a:tailEnd type="triangle"/>
          </a:ln>
        </p:spPr>
      </p:sp>
      <p:sp>
        <p:nvSpPr>
          <p:cNvPr id="43" name="Shape 41"/>
          <p:cNvSpPr/>
          <p:nvPr/>
        </p:nvSpPr>
        <p:spPr>
          <a:xfrm>
            <a:off x="6858000" y="4754880"/>
            <a:ext cx="4782312" cy="1463040"/>
          </a:xfrm>
          <a:prstGeom prst="roundRect">
            <a:avLst>
              <a:gd name="adj" fmla="val 11250"/>
            </a:avLst>
          </a:prstGeom>
          <a:solidFill>
            <a:srgbClr val="FFF3D4"/>
          </a:solidFill>
          <a:ln/>
        </p:spPr>
      </p:sp>
      <p:sp>
        <p:nvSpPr>
          <p:cNvPr id="44" name="Text 42"/>
          <p:cNvSpPr txBox="1"/>
          <p:nvPr/>
        </p:nvSpPr>
        <p:spPr>
          <a:xfrm>
            <a:off x="7086600" y="4754880"/>
            <a:ext cx="4389120" cy="1463040"/>
          </a:xfrm>
          <a:prstGeom prst="rect">
            <a:avLst/>
          </a:prstGeom>
          <a:noFill/>
          <a:ln/>
        </p:spPr>
        <p:txBody>
          <a:bodyPr wrap="square" lIns="0" tIns="0" rIns="0" bIns="0" rtlCol="0" anchor="ctr"/>
          <a:lstStyle/>
          <a:p>
            <a:pPr algn="l" indent="0" marL="0">
              <a:spcAft>
                <a:spcPts val="300"/>
              </a:spcAft>
              <a:buNone/>
            </a:pPr>
            <a:r>
              <a:rPr lang="en-US" sz="1400" dirty="0">
                <a:solidFill>
                  <a:srgbClr val="17301F"/>
                </a:solidFill>
                <a:latin typeface="Tahoma" pitchFamily="34" charset="0"/>
                <a:ea typeface="Tahoma" pitchFamily="34" charset="-122"/>
                <a:cs typeface="Tahoma" pitchFamily="34" charset="-120"/>
              </a:rPr>
              <a:t>ผังออกแบบ ยังไม่มีผลวัดจริง · ผังนี้เป็น ESP32-S3 (ESP8266 ดูสไลด์ก่อนหน้า)</a:t>
            </a:r>
            <a:endParaRPr lang="en-US" sz="1400" dirty="0"/>
          </a:p>
          <a:p>
            <a:pPr algn="l" indent="0" marL="0">
              <a:spcAft>
                <a:spcPts val="300"/>
              </a:spcAft>
              <a:buNone/>
            </a:pPr>
            <a:r>
              <a:rPr lang="en-US" sz="1400" dirty="0">
                <a:solidFill>
                  <a:srgbClr val="17301F"/>
                </a:solidFill>
                <a:latin typeface="Tahoma" pitchFamily="34" charset="0"/>
                <a:ea typeface="Tahoma" pitchFamily="34" charset="-122"/>
                <a:cs typeface="Tahoma" pitchFamily="34" charset="-120"/>
              </a:rPr>
              <a:t>ถ้าวาล์วเป็น 12V ใช้ไฟ 12V แยก GND ร่วม</a:t>
            </a:r>
            <a:endParaRPr lang="en-US" sz="1400" dirty="0"/>
          </a:p>
          <a:p>
            <a:pPr algn="l" indent="0" marL="0">
              <a:spcAft>
                <a:spcPts val="300"/>
              </a:spcAft>
              <a:buNone/>
            </a:pPr>
            <a:r>
              <a:rPr lang="en-US" sz="1400" dirty="0">
                <a:solidFill>
                  <a:srgbClr val="17301F"/>
                </a:solidFill>
                <a:latin typeface="Tahoma" pitchFamily="34" charset="0"/>
                <a:ea typeface="Tahoma" pitchFamily="34" charset="-122"/>
                <a:cs typeface="Tahoma" pitchFamily="34" charset="-120"/>
              </a:rPr>
              <a:t>ไดโอด 1N5819 คร่อมโหลด · 470µF ใกล้ปั๊ม</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เซนเซอร์ตาม datasheet</a:t>
            </a:r>
            <a:endParaRPr lang="en-US" sz="3000" dirty="0"/>
          </a:p>
        </p:txBody>
      </p:sp>
      <p:sp>
        <p:nvSpPr>
          <p:cNvPr id="3" name="Shape 1"/>
          <p:cNvSpPr/>
          <p:nvPr/>
        </p:nvSpPr>
        <p:spPr>
          <a:xfrm>
            <a:off x="10104120" y="502920"/>
            <a:ext cx="1536192" cy="365760"/>
          </a:xfrm>
          <a:prstGeom prst="roundRect">
            <a:avLst>
              <a:gd name="adj" fmla="val 50000"/>
            </a:avLst>
          </a:prstGeom>
          <a:solidFill>
            <a:srgbClr val="FFF3D4"/>
          </a:solidFill>
          <a:ln/>
        </p:spPr>
      </p:sp>
      <p:sp>
        <p:nvSpPr>
          <p:cNvPr id="4" name="Text 2"/>
          <p:cNvSpPr txBox="1"/>
          <p:nvPr/>
        </p:nvSpPr>
        <p:spPr>
          <a:xfrm>
            <a:off x="10104120" y="502920"/>
            <a:ext cx="1536192" cy="365760"/>
          </a:xfrm>
          <a:prstGeom prst="rect">
            <a:avLst/>
          </a:prstGeom>
          <a:noFill/>
          <a:ln/>
        </p:spPr>
        <p:txBody>
          <a:bodyPr wrap="square" lIns="0" tIns="0" rIns="0" bIns="0" rtlCol="0" anchor="ctr"/>
          <a:lstStyle/>
          <a:p>
            <a:pPr algn="ctr" indent="0" marL="0">
              <a:buNone/>
            </a:pPr>
            <a:r>
              <a:rPr lang="en-US" sz="1400" b="1" dirty="0">
                <a:solidFill>
                  <a:srgbClr val="7A4F00"/>
                </a:solidFill>
                <a:latin typeface="Tahoma" pitchFamily="34" charset="0"/>
                <a:ea typeface="Tahoma" pitchFamily="34" charset="-122"/>
                <a:cs typeface="Tahoma" pitchFamily="34" charset="-120"/>
              </a:rPr>
              <a:t>BACKUP</a:t>
            </a:r>
            <a:endParaRPr lang="en-US" sz="1400" dirty="0"/>
          </a:p>
        </p:txBody>
      </p:sp>
      <p:sp>
        <p:nvSpPr>
          <p:cNvPr id="5" name="Shape 3"/>
          <p:cNvSpPr/>
          <p:nvPr/>
        </p:nvSpPr>
        <p:spPr>
          <a:xfrm>
            <a:off x="548640" y="1280160"/>
            <a:ext cx="11091672" cy="457200"/>
          </a:xfrm>
          <a:prstGeom prst="roundRect">
            <a:avLst>
              <a:gd name="adj" fmla="val 20000"/>
            </a:avLst>
          </a:prstGeom>
          <a:solidFill>
            <a:srgbClr val="17301F"/>
          </a:solidFill>
          <a:ln/>
        </p:spPr>
      </p:sp>
      <p:sp>
        <p:nvSpPr>
          <p:cNvPr id="6" name="Text 4"/>
          <p:cNvSpPr txBox="1"/>
          <p:nvPr/>
        </p:nvSpPr>
        <p:spPr>
          <a:xfrm>
            <a:off x="685800" y="1280160"/>
            <a:ext cx="192024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รุ่น</a:t>
            </a:r>
            <a:endParaRPr lang="en-US" sz="1400" dirty="0"/>
          </a:p>
        </p:txBody>
      </p:sp>
      <p:sp>
        <p:nvSpPr>
          <p:cNvPr id="7" name="Text 5"/>
          <p:cNvSpPr txBox="1"/>
          <p:nvPr/>
        </p:nvSpPr>
        <p:spPr>
          <a:xfrm>
            <a:off x="2788920" y="1280160"/>
            <a:ext cx="658368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ตอบสนองต่อ (ตาม datasheet)</a:t>
            </a:r>
            <a:endParaRPr lang="en-US" sz="1400" dirty="0"/>
          </a:p>
        </p:txBody>
      </p:sp>
      <p:sp>
        <p:nvSpPr>
          <p:cNvPr id="8" name="Text 6"/>
          <p:cNvSpPr txBox="1"/>
          <p:nvPr/>
        </p:nvSpPr>
        <p:spPr>
          <a:xfrm>
            <a:off x="9555480" y="1280160"/>
            <a:ext cx="2039112"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ชุด</a:t>
            </a:r>
            <a:endParaRPr lang="en-US" sz="1400" dirty="0"/>
          </a:p>
        </p:txBody>
      </p:sp>
      <p:sp>
        <p:nvSpPr>
          <p:cNvPr id="9" name="Shape 7"/>
          <p:cNvSpPr/>
          <p:nvPr/>
        </p:nvSpPr>
        <p:spPr>
          <a:xfrm>
            <a:off x="548640" y="1792224"/>
            <a:ext cx="11091672" cy="530352"/>
          </a:xfrm>
          <a:prstGeom prst="roundRect">
            <a:avLst>
              <a:gd name="adj" fmla="val 10345"/>
            </a:avLst>
          </a:prstGeom>
          <a:solidFill>
            <a:srgbClr val="EDF2E8"/>
          </a:solidFill>
          <a:ln w="12700">
            <a:solidFill>
              <a:srgbClr val="D5DFCB"/>
            </a:solidFill>
            <a:prstDash val="solid"/>
          </a:ln>
        </p:spPr>
      </p:sp>
      <p:sp>
        <p:nvSpPr>
          <p:cNvPr id="10" name="Text 8"/>
          <p:cNvSpPr txBox="1"/>
          <p:nvPr/>
        </p:nvSpPr>
        <p:spPr>
          <a:xfrm>
            <a:off x="685800" y="1792224"/>
            <a:ext cx="187452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TGS2602</a:t>
            </a:r>
            <a:endParaRPr lang="en-US" sz="1400" dirty="0"/>
          </a:p>
        </p:txBody>
      </p:sp>
      <p:sp>
        <p:nvSpPr>
          <p:cNvPr id="11" name="Text 9"/>
          <p:cNvSpPr txBox="1"/>
          <p:nvPr/>
        </p:nvSpPr>
        <p:spPr>
          <a:xfrm>
            <a:off x="2788920" y="1792224"/>
            <a:ext cx="653796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สารอินทรีย์ระเหย แอมโมเนีย H₂S · กราฟมี ethanol, toluene</a:t>
            </a:r>
            <a:endParaRPr lang="en-US" sz="1400" dirty="0"/>
          </a:p>
        </p:txBody>
      </p:sp>
      <p:sp>
        <p:nvSpPr>
          <p:cNvPr id="12" name="Text 10"/>
          <p:cNvSpPr txBox="1"/>
          <p:nvPr/>
        </p:nvSpPr>
        <p:spPr>
          <a:xfrm>
            <a:off x="9555480" y="1792224"/>
            <a:ext cx="199339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ชุดเดิม</a:t>
            </a:r>
            <a:endParaRPr lang="en-US" sz="1400" dirty="0"/>
          </a:p>
        </p:txBody>
      </p:sp>
      <p:sp>
        <p:nvSpPr>
          <p:cNvPr id="13" name="Shape 11"/>
          <p:cNvSpPr/>
          <p:nvPr/>
        </p:nvSpPr>
        <p:spPr>
          <a:xfrm>
            <a:off x="548640" y="2359152"/>
            <a:ext cx="11091672" cy="530352"/>
          </a:xfrm>
          <a:prstGeom prst="roundRect">
            <a:avLst>
              <a:gd name="adj" fmla="val 10345"/>
            </a:avLst>
          </a:prstGeom>
          <a:solidFill>
            <a:srgbClr val="FFFFFF"/>
          </a:solidFill>
          <a:ln w="12700">
            <a:solidFill>
              <a:srgbClr val="D5DFCB"/>
            </a:solidFill>
            <a:prstDash val="solid"/>
          </a:ln>
        </p:spPr>
      </p:sp>
      <p:sp>
        <p:nvSpPr>
          <p:cNvPr id="14" name="Text 12"/>
          <p:cNvSpPr txBox="1"/>
          <p:nvPr/>
        </p:nvSpPr>
        <p:spPr>
          <a:xfrm>
            <a:off x="685800" y="2359152"/>
            <a:ext cx="187452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TGS2603</a:t>
            </a:r>
            <a:endParaRPr lang="en-US" sz="1400" dirty="0"/>
          </a:p>
        </p:txBody>
      </p:sp>
      <p:sp>
        <p:nvSpPr>
          <p:cNvPr id="15" name="Text 13"/>
          <p:cNvSpPr txBox="1"/>
          <p:nvPr/>
        </p:nvSpPr>
        <p:spPr>
          <a:xfrm>
            <a:off x="2788920" y="2359152"/>
            <a:ext cx="653796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กลิ่นอมีนและกำมะถัน (trimethylamine, methyl mercaptan) "อาหารเสีย เช่น ปลา"</a:t>
            </a:r>
            <a:endParaRPr lang="en-US" sz="1400" dirty="0"/>
          </a:p>
        </p:txBody>
      </p:sp>
      <p:sp>
        <p:nvSpPr>
          <p:cNvPr id="16" name="Text 14"/>
          <p:cNvSpPr txBox="1"/>
          <p:nvPr/>
        </p:nvSpPr>
        <p:spPr>
          <a:xfrm>
            <a:off x="9555480" y="2359152"/>
            <a:ext cx="199339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ชุดเดิม</a:t>
            </a:r>
            <a:endParaRPr lang="en-US" sz="1400" dirty="0"/>
          </a:p>
        </p:txBody>
      </p:sp>
      <p:sp>
        <p:nvSpPr>
          <p:cNvPr id="17" name="Shape 15"/>
          <p:cNvSpPr/>
          <p:nvPr/>
        </p:nvSpPr>
        <p:spPr>
          <a:xfrm>
            <a:off x="548640" y="2926080"/>
            <a:ext cx="11091672" cy="530352"/>
          </a:xfrm>
          <a:prstGeom prst="roundRect">
            <a:avLst>
              <a:gd name="adj" fmla="val 10345"/>
            </a:avLst>
          </a:prstGeom>
          <a:solidFill>
            <a:srgbClr val="EDF2E8"/>
          </a:solidFill>
          <a:ln w="12700">
            <a:solidFill>
              <a:srgbClr val="D5DFCB"/>
            </a:solidFill>
            <a:prstDash val="solid"/>
          </a:ln>
        </p:spPr>
      </p:sp>
      <p:sp>
        <p:nvSpPr>
          <p:cNvPr id="18" name="Text 16"/>
          <p:cNvSpPr txBox="1"/>
          <p:nvPr/>
        </p:nvSpPr>
        <p:spPr>
          <a:xfrm>
            <a:off x="685800" y="2926080"/>
            <a:ext cx="187452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BME688</a:t>
            </a:r>
            <a:endParaRPr lang="en-US" sz="1400" dirty="0"/>
          </a:p>
        </p:txBody>
      </p:sp>
      <p:sp>
        <p:nvSpPr>
          <p:cNvPr id="19" name="Text 17"/>
          <p:cNvSpPr txBox="1"/>
          <p:nvPr/>
        </p:nvSpPr>
        <p:spPr>
          <a:xfrm>
            <a:off x="2788920" y="2926080"/>
            <a:ext cx="653796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VOC และสารกำมะถัน ช่วง ppb · ผลเป็น gas resistance (ไม่ใช่ ppm รายสาร)</a:t>
            </a:r>
            <a:endParaRPr lang="en-US" sz="1400" dirty="0"/>
          </a:p>
        </p:txBody>
      </p:sp>
      <p:sp>
        <p:nvSpPr>
          <p:cNvPr id="20" name="Text 18"/>
          <p:cNvSpPr txBox="1"/>
          <p:nvPr/>
        </p:nvSpPr>
        <p:spPr>
          <a:xfrm>
            <a:off x="9555480" y="2926080"/>
            <a:ext cx="199339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ชุดเดิม ×2</a:t>
            </a:r>
            <a:endParaRPr lang="en-US" sz="1400" dirty="0"/>
          </a:p>
        </p:txBody>
      </p:sp>
      <p:sp>
        <p:nvSpPr>
          <p:cNvPr id="21" name="Shape 19"/>
          <p:cNvSpPr/>
          <p:nvPr/>
        </p:nvSpPr>
        <p:spPr>
          <a:xfrm>
            <a:off x="548640" y="3493008"/>
            <a:ext cx="11091672" cy="530352"/>
          </a:xfrm>
          <a:prstGeom prst="roundRect">
            <a:avLst>
              <a:gd name="adj" fmla="val 10345"/>
            </a:avLst>
          </a:prstGeom>
          <a:solidFill>
            <a:srgbClr val="FFFFFF"/>
          </a:solidFill>
          <a:ln w="12700">
            <a:solidFill>
              <a:srgbClr val="D5DFCB"/>
            </a:solidFill>
            <a:prstDash val="solid"/>
          </a:ln>
        </p:spPr>
      </p:sp>
      <p:sp>
        <p:nvSpPr>
          <p:cNvPr id="22" name="Text 20"/>
          <p:cNvSpPr txBox="1"/>
          <p:nvPr/>
        </p:nvSpPr>
        <p:spPr>
          <a:xfrm>
            <a:off x="685800" y="3493008"/>
            <a:ext cx="187452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BME680</a:t>
            </a:r>
            <a:endParaRPr lang="en-US" sz="1400" dirty="0"/>
          </a:p>
        </p:txBody>
      </p:sp>
      <p:sp>
        <p:nvSpPr>
          <p:cNvPr id="23" name="Text 21"/>
          <p:cNvSpPr txBox="1"/>
          <p:nvPr/>
        </p:nvSpPr>
        <p:spPr>
          <a:xfrm>
            <a:off x="2788920" y="3493008"/>
            <a:ext cx="653796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VOC (ethanol เป็นแก๊สทดสอบ) · ไม่มีการจัดประเภท VSC/H₂S ในหัวข้อที่อ่าน</a:t>
            </a:r>
            <a:endParaRPr lang="en-US" sz="1400" dirty="0"/>
          </a:p>
        </p:txBody>
      </p:sp>
      <p:sp>
        <p:nvSpPr>
          <p:cNvPr id="24" name="Text 22"/>
          <p:cNvSpPr txBox="1"/>
          <p:nvPr/>
        </p:nvSpPr>
        <p:spPr>
          <a:xfrm>
            <a:off x="9555480" y="3493008"/>
            <a:ext cx="199339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ชุดประหยัด ×1</a:t>
            </a:r>
            <a:endParaRPr lang="en-US" sz="1400" dirty="0"/>
          </a:p>
        </p:txBody>
      </p:sp>
      <p:sp>
        <p:nvSpPr>
          <p:cNvPr id="25" name="Shape 23"/>
          <p:cNvSpPr/>
          <p:nvPr/>
        </p:nvSpPr>
        <p:spPr>
          <a:xfrm>
            <a:off x="548640" y="4059936"/>
            <a:ext cx="11091672" cy="530352"/>
          </a:xfrm>
          <a:prstGeom prst="roundRect">
            <a:avLst>
              <a:gd name="adj" fmla="val 10345"/>
            </a:avLst>
          </a:prstGeom>
          <a:solidFill>
            <a:srgbClr val="EDF2E8"/>
          </a:solidFill>
          <a:ln w="12700">
            <a:solidFill>
              <a:srgbClr val="D5DFCB"/>
            </a:solidFill>
            <a:prstDash val="solid"/>
          </a:ln>
        </p:spPr>
      </p:sp>
      <p:sp>
        <p:nvSpPr>
          <p:cNvPr id="26" name="Text 24"/>
          <p:cNvSpPr txBox="1"/>
          <p:nvPr/>
        </p:nvSpPr>
        <p:spPr>
          <a:xfrm>
            <a:off x="685800" y="4059936"/>
            <a:ext cx="187452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MQ-3</a:t>
            </a:r>
            <a:endParaRPr lang="en-US" sz="1400" dirty="0"/>
          </a:p>
        </p:txBody>
      </p:sp>
      <p:sp>
        <p:nvSpPr>
          <p:cNvPr id="27" name="Text 25"/>
          <p:cNvSpPr txBox="1"/>
          <p:nvPr/>
        </p:nvSpPr>
        <p:spPr>
          <a:xfrm>
            <a:off x="2788920" y="4059936"/>
            <a:ext cx="653796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แอลกอฮอล์ไวมาก ไวน้อยต่อ benzine · กราฟ: alcohol, benzine, CH₄, hexane, LPG, CO</a:t>
            </a:r>
            <a:endParaRPr lang="en-US" sz="1400" dirty="0"/>
          </a:p>
        </p:txBody>
      </p:sp>
      <p:sp>
        <p:nvSpPr>
          <p:cNvPr id="28" name="Text 26"/>
          <p:cNvSpPr txBox="1"/>
          <p:nvPr/>
        </p:nvSpPr>
        <p:spPr>
          <a:xfrm>
            <a:off x="9555480" y="4059936"/>
            <a:ext cx="199339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ชุดประหยัด</a:t>
            </a:r>
            <a:endParaRPr lang="en-US" sz="1400" dirty="0"/>
          </a:p>
        </p:txBody>
      </p:sp>
      <p:sp>
        <p:nvSpPr>
          <p:cNvPr id="29" name="Shape 27"/>
          <p:cNvSpPr/>
          <p:nvPr/>
        </p:nvSpPr>
        <p:spPr>
          <a:xfrm>
            <a:off x="548640" y="4626864"/>
            <a:ext cx="11091672" cy="530352"/>
          </a:xfrm>
          <a:prstGeom prst="roundRect">
            <a:avLst>
              <a:gd name="adj" fmla="val 10345"/>
            </a:avLst>
          </a:prstGeom>
          <a:solidFill>
            <a:srgbClr val="FFFFFF"/>
          </a:solidFill>
          <a:ln w="12700">
            <a:solidFill>
              <a:srgbClr val="D5DFCB"/>
            </a:solidFill>
            <a:prstDash val="solid"/>
          </a:ln>
        </p:spPr>
      </p:sp>
      <p:sp>
        <p:nvSpPr>
          <p:cNvPr id="30" name="Text 28"/>
          <p:cNvSpPr txBox="1"/>
          <p:nvPr/>
        </p:nvSpPr>
        <p:spPr>
          <a:xfrm>
            <a:off x="685800" y="4626864"/>
            <a:ext cx="1874520" cy="530352"/>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MQ-135</a:t>
            </a:r>
            <a:endParaRPr lang="en-US" sz="1400" dirty="0"/>
          </a:p>
        </p:txBody>
      </p:sp>
      <p:sp>
        <p:nvSpPr>
          <p:cNvPr id="31" name="Text 29"/>
          <p:cNvSpPr txBox="1"/>
          <p:nvPr/>
        </p:nvSpPr>
        <p:spPr>
          <a:xfrm>
            <a:off x="2788920" y="4626864"/>
            <a:ext cx="6537960"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ammonia, sulfide, benzene series · กราฟ: H₂, NH₃, toluene (ไม่มี ethanol) · partial</a:t>
            </a:r>
            <a:endParaRPr lang="en-US" sz="1400" dirty="0"/>
          </a:p>
        </p:txBody>
      </p:sp>
      <p:sp>
        <p:nvSpPr>
          <p:cNvPr id="32" name="Text 30"/>
          <p:cNvSpPr txBox="1"/>
          <p:nvPr/>
        </p:nvSpPr>
        <p:spPr>
          <a:xfrm>
            <a:off x="9555480" y="4626864"/>
            <a:ext cx="1993392" cy="530352"/>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ชุดประหยัด</a:t>
            </a:r>
            <a:endParaRPr lang="en-US" sz="1400" dirty="0"/>
          </a:p>
        </p:txBody>
      </p:sp>
      <p:sp>
        <p:nvSpPr>
          <p:cNvPr id="33" name="Shape 31"/>
          <p:cNvSpPr/>
          <p:nvPr/>
        </p:nvSpPr>
        <p:spPr>
          <a:xfrm>
            <a:off x="548640" y="5349240"/>
            <a:ext cx="11091672" cy="868680"/>
          </a:xfrm>
          <a:prstGeom prst="roundRect">
            <a:avLst>
              <a:gd name="adj" fmla="val 18947"/>
            </a:avLst>
          </a:prstGeom>
          <a:solidFill>
            <a:srgbClr val="FFF3D4"/>
          </a:solidFill>
          <a:ln/>
        </p:spPr>
      </p:sp>
      <p:sp>
        <p:nvSpPr>
          <p:cNvPr id="34" name="Text 32"/>
          <p:cNvSpPr txBox="1"/>
          <p:nvPr/>
        </p:nvSpPr>
        <p:spPr>
          <a:xfrm>
            <a:off x="822960" y="5349240"/>
            <a:ext cx="10543032" cy="868680"/>
          </a:xfrm>
          <a:prstGeom prst="rect">
            <a:avLst/>
          </a:prstGeom>
          <a:noFill/>
          <a:ln/>
        </p:spPr>
        <p:txBody>
          <a:bodyPr wrap="square" lIns="0" tIns="0" rIns="0" bIns="0" rtlCol="0" anchor="ctr"/>
          <a:lstStyle/>
          <a:p>
            <a:pPr algn="l" indent="0" marL="0">
              <a:spcAft>
                <a:spcPts val="300"/>
              </a:spcAft>
              <a:buNone/>
            </a:pPr>
            <a:r>
              <a:rPr lang="en-US" sz="1400" dirty="0">
                <a:solidFill>
                  <a:srgbClr val="17301F"/>
                </a:solidFill>
                <a:latin typeface="Tahoma" pitchFamily="34" charset="0"/>
                <a:ea typeface="Tahoma" pitchFamily="34" charset="-122"/>
                <a:cs typeface="Tahoma" pitchFamily="34" charset="-120"/>
              </a:rPr>
              <a:t>datasheet ไม่ระบุความแม่นยำของค่า ppm และไม่มีรุ่นไหนระบุ acetaldehyde / ethyl acetate / ethylene</a:t>
            </a:r>
            <a:endParaRPr lang="en-US" sz="1400" dirty="0"/>
          </a:p>
          <a:p>
            <a:pPr algn="l" indent="0" marL="0">
              <a:spcAft>
                <a:spcPts val="300"/>
              </a:spcAft>
              <a:buNone/>
            </a:pPr>
            <a:r>
              <a:rPr lang="en-US" sz="1400" dirty="0">
                <a:solidFill>
                  <a:srgbClr val="17301F"/>
                </a:solidFill>
                <a:latin typeface="Tahoma" pitchFamily="34" charset="0"/>
                <a:ea typeface="Tahoma" pitchFamily="34" charset="-122"/>
                <a:cs typeface="Tahoma" pitchFamily="34" charset="-120"/>
              </a:rPr>
              <a:t>Chiu 2025 (ทุเรียน) ใช้ Grove GM102B/302B/502B/702B คัดจาก 13 รุ่นที่รวม MQ-2…MQ-135 แล้วเลือก GM</a:t>
            </a:r>
            <a:endParaRPr lang="en-US" sz="1400" dirty="0"/>
          </a:p>
        </p:txBody>
      </p:sp>
      <p:sp>
        <p:nvSpPr>
          <p:cNvPr id="35" name="Text 33"/>
          <p:cNvSpPr txBox="1"/>
          <p:nvPr/>
        </p:nvSpPr>
        <p:spPr>
          <a:xfrm>
            <a:off x="548640" y="6327648"/>
            <a:ext cx="10424160" cy="27432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ที่มา: datasheet Figaro, Bosch, Hanwei, Winsen · PeerJ 2025 · ค่า warm-up ของผู้ผลิตเป็นเงื่อนไขทดสอบ ไม่ใช่เวลาใช้งานจริง</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000" b="1" dirty="0">
                <a:solidFill>
                  <a:srgbClr val="17301F"/>
                </a:solidFill>
                <a:latin typeface="Tahoma" pitchFamily="34" charset="0"/>
                <a:ea typeface="Tahoma" pitchFamily="34" charset="-122"/>
                <a:cs typeface="Tahoma" pitchFamily="34" charset="-120"/>
              </a:rPr>
              <a:t>รายการอุปกรณ์และราคา (BOM)</a:t>
            </a:r>
            <a:endParaRPr lang="en-US" sz="3000" dirty="0"/>
          </a:p>
        </p:txBody>
      </p:sp>
      <p:sp>
        <p:nvSpPr>
          <p:cNvPr id="3" name="Shape 1"/>
          <p:cNvSpPr/>
          <p:nvPr/>
        </p:nvSpPr>
        <p:spPr>
          <a:xfrm>
            <a:off x="10104120" y="502920"/>
            <a:ext cx="1536192" cy="365760"/>
          </a:xfrm>
          <a:prstGeom prst="roundRect">
            <a:avLst>
              <a:gd name="adj" fmla="val 50000"/>
            </a:avLst>
          </a:prstGeom>
          <a:solidFill>
            <a:srgbClr val="FFF3D4"/>
          </a:solidFill>
          <a:ln/>
        </p:spPr>
      </p:sp>
      <p:sp>
        <p:nvSpPr>
          <p:cNvPr id="4" name="Text 2"/>
          <p:cNvSpPr txBox="1"/>
          <p:nvPr/>
        </p:nvSpPr>
        <p:spPr>
          <a:xfrm>
            <a:off x="10104120" y="502920"/>
            <a:ext cx="1536192" cy="365760"/>
          </a:xfrm>
          <a:prstGeom prst="rect">
            <a:avLst/>
          </a:prstGeom>
          <a:noFill/>
          <a:ln/>
        </p:spPr>
        <p:txBody>
          <a:bodyPr wrap="square" lIns="0" tIns="0" rIns="0" bIns="0" rtlCol="0" anchor="ctr"/>
          <a:lstStyle/>
          <a:p>
            <a:pPr algn="ctr" indent="0" marL="0">
              <a:buNone/>
            </a:pPr>
            <a:r>
              <a:rPr lang="en-US" sz="1400" b="1" dirty="0">
                <a:solidFill>
                  <a:srgbClr val="7A4F00"/>
                </a:solidFill>
                <a:latin typeface="Tahoma" pitchFamily="34" charset="0"/>
                <a:ea typeface="Tahoma" pitchFamily="34" charset="-122"/>
                <a:cs typeface="Tahoma" pitchFamily="34" charset="-120"/>
              </a:rPr>
              <a:t>BACKUP</a:t>
            </a:r>
            <a:endParaRPr lang="en-US" sz="1400" dirty="0"/>
          </a:p>
        </p:txBody>
      </p:sp>
      <p:sp>
        <p:nvSpPr>
          <p:cNvPr id="5" name="Shape 3"/>
          <p:cNvSpPr/>
          <p:nvPr/>
        </p:nvSpPr>
        <p:spPr>
          <a:xfrm>
            <a:off x="548640" y="1280160"/>
            <a:ext cx="11091672" cy="457200"/>
          </a:xfrm>
          <a:prstGeom prst="roundRect">
            <a:avLst>
              <a:gd name="adj" fmla="val 20000"/>
            </a:avLst>
          </a:prstGeom>
          <a:solidFill>
            <a:srgbClr val="17301F"/>
          </a:solidFill>
          <a:ln/>
        </p:spPr>
      </p:sp>
      <p:sp>
        <p:nvSpPr>
          <p:cNvPr id="6" name="Text 4"/>
          <p:cNvSpPr txBox="1"/>
          <p:nvPr/>
        </p:nvSpPr>
        <p:spPr>
          <a:xfrm>
            <a:off x="685800" y="1280160"/>
            <a:ext cx="411480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รายการ</a:t>
            </a:r>
            <a:endParaRPr lang="en-US" sz="1400" dirty="0"/>
          </a:p>
        </p:txBody>
      </p:sp>
      <p:sp>
        <p:nvSpPr>
          <p:cNvPr id="7" name="Text 5"/>
          <p:cNvSpPr txBox="1"/>
          <p:nvPr/>
        </p:nvSpPr>
        <p:spPr>
          <a:xfrm>
            <a:off x="4983480" y="1280160"/>
            <a:ext cx="146304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ชุดเดิม (฿)</a:t>
            </a:r>
            <a:endParaRPr lang="en-US" sz="1400" dirty="0"/>
          </a:p>
        </p:txBody>
      </p:sp>
      <p:sp>
        <p:nvSpPr>
          <p:cNvPr id="8" name="Text 6"/>
          <p:cNvSpPr txBox="1"/>
          <p:nvPr/>
        </p:nvSpPr>
        <p:spPr>
          <a:xfrm>
            <a:off x="6629400" y="1280160"/>
            <a:ext cx="1737360"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ชุดประหยัด (฿)</a:t>
            </a:r>
            <a:endParaRPr lang="en-US" sz="1400" dirty="0"/>
          </a:p>
        </p:txBody>
      </p:sp>
      <p:sp>
        <p:nvSpPr>
          <p:cNvPr id="9" name="Text 7"/>
          <p:cNvSpPr txBox="1"/>
          <p:nvPr/>
        </p:nvSpPr>
        <p:spPr>
          <a:xfrm>
            <a:off x="8549640" y="1280160"/>
            <a:ext cx="3044952" cy="457200"/>
          </a:xfrm>
          <a:prstGeom prst="rect">
            <a:avLst/>
          </a:prstGeom>
          <a:noFill/>
          <a:ln/>
        </p:spPr>
        <p:txBody>
          <a:bodyPr wrap="square" lIns="0" tIns="0" rIns="0" bIns="0" rtlCol="0" anchor="ctr"/>
          <a:lstStyle/>
          <a:p>
            <a:pPr algn="l" indent="0" marL="0">
              <a:buNone/>
            </a:pPr>
            <a:r>
              <a:rPr lang="en-US" sz="1400" b="1" dirty="0">
                <a:solidFill>
                  <a:srgbClr val="F5A742"/>
                </a:solidFill>
                <a:latin typeface="Tahoma" pitchFamily="34" charset="0"/>
                <a:ea typeface="Tahoma" pitchFamily="34" charset="-122"/>
                <a:cs typeface="Tahoma" pitchFamily="34" charset="-120"/>
              </a:rPr>
              <a:t>ป้ายราคา</a:t>
            </a:r>
            <a:endParaRPr lang="en-US" sz="1400" dirty="0"/>
          </a:p>
        </p:txBody>
      </p:sp>
      <p:sp>
        <p:nvSpPr>
          <p:cNvPr id="10" name="Shape 8"/>
          <p:cNvSpPr/>
          <p:nvPr/>
        </p:nvSpPr>
        <p:spPr>
          <a:xfrm>
            <a:off x="548640" y="1792224"/>
            <a:ext cx="11091672" cy="402336"/>
          </a:xfrm>
          <a:prstGeom prst="roundRect">
            <a:avLst>
              <a:gd name="adj" fmla="val 13636"/>
            </a:avLst>
          </a:prstGeom>
          <a:solidFill>
            <a:srgbClr val="EDF2E8"/>
          </a:solidFill>
          <a:ln w="12700">
            <a:solidFill>
              <a:srgbClr val="D5DFCB"/>
            </a:solidFill>
            <a:prstDash val="solid"/>
          </a:ln>
        </p:spPr>
      </p:sp>
      <p:sp>
        <p:nvSpPr>
          <p:cNvPr id="11" name="Text 9"/>
          <p:cNvSpPr txBox="1"/>
          <p:nvPr/>
        </p:nvSpPr>
        <p:spPr>
          <a:xfrm>
            <a:off x="685800" y="1792224"/>
            <a:ext cx="4069080" cy="402336"/>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ADS1115 โมดูล</a:t>
            </a:r>
            <a:endParaRPr lang="en-US" sz="1400" dirty="0"/>
          </a:p>
        </p:txBody>
      </p:sp>
      <p:sp>
        <p:nvSpPr>
          <p:cNvPr id="12" name="Text 10"/>
          <p:cNvSpPr txBox="1"/>
          <p:nvPr/>
        </p:nvSpPr>
        <p:spPr>
          <a:xfrm>
            <a:off x="4983480" y="1792224"/>
            <a:ext cx="1417320"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73.00</a:t>
            </a:r>
            <a:endParaRPr lang="en-US" sz="1400" dirty="0"/>
          </a:p>
        </p:txBody>
      </p:sp>
      <p:sp>
        <p:nvSpPr>
          <p:cNvPr id="13" name="Text 11"/>
          <p:cNvSpPr txBox="1"/>
          <p:nvPr/>
        </p:nvSpPr>
        <p:spPr>
          <a:xfrm>
            <a:off x="6629400" y="1792224"/>
            <a:ext cx="1691640"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73.00</a:t>
            </a:r>
            <a:endParaRPr lang="en-US" sz="1400" dirty="0"/>
          </a:p>
        </p:txBody>
      </p:sp>
      <p:sp>
        <p:nvSpPr>
          <p:cNvPr id="14" name="Text 12"/>
          <p:cNvSpPr txBox="1"/>
          <p:nvPr/>
        </p:nvSpPr>
        <p:spPr>
          <a:xfrm>
            <a:off x="8549640" y="1792224"/>
            <a:ext cx="2999232"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confirmed</a:t>
            </a:r>
            <a:endParaRPr lang="en-US" sz="1400" dirty="0"/>
          </a:p>
        </p:txBody>
      </p:sp>
      <p:sp>
        <p:nvSpPr>
          <p:cNvPr id="15" name="Shape 13"/>
          <p:cNvSpPr/>
          <p:nvPr/>
        </p:nvSpPr>
        <p:spPr>
          <a:xfrm>
            <a:off x="548640" y="2231136"/>
            <a:ext cx="11091672" cy="676656"/>
          </a:xfrm>
          <a:prstGeom prst="roundRect">
            <a:avLst>
              <a:gd name="adj" fmla="val 8108"/>
            </a:avLst>
          </a:prstGeom>
          <a:solidFill>
            <a:srgbClr val="FFFFFF"/>
          </a:solidFill>
          <a:ln w="12700">
            <a:solidFill>
              <a:srgbClr val="D5DFCB"/>
            </a:solidFill>
            <a:prstDash val="solid"/>
          </a:ln>
        </p:spPr>
      </p:sp>
      <p:sp>
        <p:nvSpPr>
          <p:cNvPr id="16" name="Text 14"/>
          <p:cNvSpPr txBox="1"/>
          <p:nvPr/>
        </p:nvSpPr>
        <p:spPr>
          <a:xfrm>
            <a:off x="685800" y="2231136"/>
            <a:ext cx="4069080" cy="676656"/>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เซนเซอร์แก๊ส — เดิม: TGS2602 810 + TGS2603 460.88 + BME688 ×2 1,289.28 · ประหยัด: MQ-3 40 + MQ-135 45 + BME680 341.95</a:t>
            </a:r>
            <a:endParaRPr lang="en-US" sz="1400" dirty="0"/>
          </a:p>
        </p:txBody>
      </p:sp>
      <p:sp>
        <p:nvSpPr>
          <p:cNvPr id="17" name="Text 15"/>
          <p:cNvSpPr txBox="1"/>
          <p:nvPr/>
        </p:nvSpPr>
        <p:spPr>
          <a:xfrm>
            <a:off x="4983480" y="2231136"/>
            <a:ext cx="1417320" cy="67665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2,560.16</a:t>
            </a:r>
            <a:endParaRPr lang="en-US" sz="1400" dirty="0"/>
          </a:p>
        </p:txBody>
      </p:sp>
      <p:sp>
        <p:nvSpPr>
          <p:cNvPr id="18" name="Text 16"/>
          <p:cNvSpPr txBox="1"/>
          <p:nvPr/>
        </p:nvSpPr>
        <p:spPr>
          <a:xfrm>
            <a:off x="6629400" y="2231136"/>
            <a:ext cx="1691640" cy="67665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426.95</a:t>
            </a:r>
            <a:endParaRPr lang="en-US" sz="1400" dirty="0"/>
          </a:p>
        </p:txBody>
      </p:sp>
      <p:sp>
        <p:nvSpPr>
          <p:cNvPr id="19" name="Text 17"/>
          <p:cNvSpPr txBox="1"/>
          <p:nvPr/>
        </p:nvSpPr>
        <p:spPr>
          <a:xfrm>
            <a:off x="8549640" y="2231136"/>
            <a:ext cx="2999232" cy="67665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ผสม (TGS2602, BME680 = partial)</a:t>
            </a:r>
            <a:endParaRPr lang="en-US" sz="1400" dirty="0"/>
          </a:p>
        </p:txBody>
      </p:sp>
      <p:sp>
        <p:nvSpPr>
          <p:cNvPr id="20" name="Shape 18"/>
          <p:cNvSpPr/>
          <p:nvPr/>
        </p:nvSpPr>
        <p:spPr>
          <a:xfrm>
            <a:off x="548640" y="2944368"/>
            <a:ext cx="11091672" cy="402336"/>
          </a:xfrm>
          <a:prstGeom prst="roundRect">
            <a:avLst>
              <a:gd name="adj" fmla="val 13636"/>
            </a:avLst>
          </a:prstGeom>
          <a:solidFill>
            <a:srgbClr val="EDF2E8"/>
          </a:solidFill>
          <a:ln w="12700">
            <a:solidFill>
              <a:srgbClr val="D5DFCB"/>
            </a:solidFill>
            <a:prstDash val="solid"/>
          </a:ln>
        </p:spPr>
      </p:sp>
      <p:sp>
        <p:nvSpPr>
          <p:cNvPr id="21" name="Text 19"/>
          <p:cNvSpPr txBox="1"/>
          <p:nvPr/>
        </p:nvSpPr>
        <p:spPr>
          <a:xfrm>
            <a:off x="685800" y="2944368"/>
            <a:ext cx="4069080" cy="402336"/>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MOSFET, ไดโอด, ตัวเก็บประจุ, ตัวต้านทาน</a:t>
            </a:r>
            <a:endParaRPr lang="en-US" sz="1400" dirty="0"/>
          </a:p>
        </p:txBody>
      </p:sp>
      <p:sp>
        <p:nvSpPr>
          <p:cNvPr id="22" name="Text 20"/>
          <p:cNvSpPr txBox="1"/>
          <p:nvPr/>
        </p:nvSpPr>
        <p:spPr>
          <a:xfrm>
            <a:off x="4983480" y="2944368"/>
            <a:ext cx="1417320"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142.08</a:t>
            </a:r>
            <a:endParaRPr lang="en-US" sz="1400" dirty="0"/>
          </a:p>
        </p:txBody>
      </p:sp>
      <p:sp>
        <p:nvSpPr>
          <p:cNvPr id="23" name="Text 21"/>
          <p:cNvSpPr txBox="1"/>
          <p:nvPr/>
        </p:nvSpPr>
        <p:spPr>
          <a:xfrm>
            <a:off x="6629400" y="2944368"/>
            <a:ext cx="1691640"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142.08</a:t>
            </a:r>
            <a:endParaRPr lang="en-US" sz="1400" dirty="0"/>
          </a:p>
        </p:txBody>
      </p:sp>
      <p:sp>
        <p:nvSpPr>
          <p:cNvPr id="24" name="Text 22"/>
          <p:cNvSpPr txBox="1"/>
          <p:nvPr/>
        </p:nvSpPr>
        <p:spPr>
          <a:xfrm>
            <a:off x="8549640" y="2944368"/>
            <a:ext cx="2999232"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ตัวต้านทาน/MOSFET partial</a:t>
            </a:r>
            <a:endParaRPr lang="en-US" sz="1400" dirty="0"/>
          </a:p>
        </p:txBody>
      </p:sp>
      <p:sp>
        <p:nvSpPr>
          <p:cNvPr id="25" name="Shape 23"/>
          <p:cNvSpPr/>
          <p:nvPr/>
        </p:nvSpPr>
        <p:spPr>
          <a:xfrm>
            <a:off x="548640" y="3383280"/>
            <a:ext cx="11091672" cy="402336"/>
          </a:xfrm>
          <a:prstGeom prst="roundRect">
            <a:avLst>
              <a:gd name="adj" fmla="val 13636"/>
            </a:avLst>
          </a:prstGeom>
          <a:solidFill>
            <a:srgbClr val="FFFFFF"/>
          </a:solidFill>
          <a:ln w="12700">
            <a:solidFill>
              <a:srgbClr val="D5DFCB"/>
            </a:solidFill>
            <a:prstDash val="solid"/>
          </a:ln>
        </p:spPr>
      </p:sp>
      <p:sp>
        <p:nvSpPr>
          <p:cNvPr id="26" name="Text 24"/>
          <p:cNvSpPr txBox="1"/>
          <p:nvPr/>
        </p:nvSpPr>
        <p:spPr>
          <a:xfrm>
            <a:off x="685800" y="3383280"/>
            <a:ext cx="4069080" cy="402336"/>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ปั๊มลม 5V</a:t>
            </a:r>
            <a:endParaRPr lang="en-US" sz="1400" dirty="0"/>
          </a:p>
        </p:txBody>
      </p:sp>
      <p:sp>
        <p:nvSpPr>
          <p:cNvPr id="27" name="Text 25"/>
          <p:cNvSpPr txBox="1"/>
          <p:nvPr/>
        </p:nvSpPr>
        <p:spPr>
          <a:xfrm>
            <a:off x="4983480" y="3383280"/>
            <a:ext cx="1417320"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173.71</a:t>
            </a:r>
            <a:endParaRPr lang="en-US" sz="1400" dirty="0"/>
          </a:p>
        </p:txBody>
      </p:sp>
      <p:sp>
        <p:nvSpPr>
          <p:cNvPr id="28" name="Text 26"/>
          <p:cNvSpPr txBox="1"/>
          <p:nvPr/>
        </p:nvSpPr>
        <p:spPr>
          <a:xfrm>
            <a:off x="6629400" y="3383280"/>
            <a:ext cx="1691640"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173.71</a:t>
            </a:r>
            <a:endParaRPr lang="en-US" sz="1400" dirty="0"/>
          </a:p>
        </p:txBody>
      </p:sp>
      <p:sp>
        <p:nvSpPr>
          <p:cNvPr id="29" name="Text 27"/>
          <p:cNvSpPr txBox="1"/>
          <p:nvPr/>
        </p:nvSpPr>
        <p:spPr>
          <a:xfrm>
            <a:off x="8549640" y="3383280"/>
            <a:ext cx="2999232"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partial</a:t>
            </a:r>
            <a:endParaRPr lang="en-US" sz="1400" dirty="0"/>
          </a:p>
        </p:txBody>
      </p:sp>
      <p:sp>
        <p:nvSpPr>
          <p:cNvPr id="30" name="Shape 28"/>
          <p:cNvSpPr/>
          <p:nvPr/>
        </p:nvSpPr>
        <p:spPr>
          <a:xfrm>
            <a:off x="548640" y="3822192"/>
            <a:ext cx="11091672" cy="402336"/>
          </a:xfrm>
          <a:prstGeom prst="roundRect">
            <a:avLst>
              <a:gd name="adj" fmla="val 13636"/>
            </a:avLst>
          </a:prstGeom>
          <a:solidFill>
            <a:srgbClr val="EDF2E8"/>
          </a:solidFill>
          <a:ln w="12700">
            <a:solidFill>
              <a:srgbClr val="D5DFCB"/>
            </a:solidFill>
            <a:prstDash val="solid"/>
          </a:ln>
        </p:spPr>
      </p:sp>
      <p:sp>
        <p:nvSpPr>
          <p:cNvPr id="31" name="Text 29"/>
          <p:cNvSpPr txBox="1"/>
          <p:nvPr/>
        </p:nvSpPr>
        <p:spPr>
          <a:xfrm>
            <a:off x="685800" y="3822192"/>
            <a:ext cx="4069080" cy="402336"/>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วาล์ว 3 ทาง 5V</a:t>
            </a:r>
            <a:endParaRPr lang="en-US" sz="1400" dirty="0"/>
          </a:p>
        </p:txBody>
      </p:sp>
      <p:sp>
        <p:nvSpPr>
          <p:cNvPr id="32" name="Text 30"/>
          <p:cNvSpPr txBox="1"/>
          <p:nvPr/>
        </p:nvSpPr>
        <p:spPr>
          <a:xfrm>
            <a:off x="4983480" y="3822192"/>
            <a:ext cx="1417320"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373.30</a:t>
            </a:r>
            <a:endParaRPr lang="en-US" sz="1400" dirty="0"/>
          </a:p>
        </p:txBody>
      </p:sp>
      <p:sp>
        <p:nvSpPr>
          <p:cNvPr id="33" name="Text 31"/>
          <p:cNvSpPr txBox="1"/>
          <p:nvPr/>
        </p:nvSpPr>
        <p:spPr>
          <a:xfrm>
            <a:off x="6629400" y="3822192"/>
            <a:ext cx="1691640"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373.30</a:t>
            </a:r>
            <a:endParaRPr lang="en-US" sz="1400" dirty="0"/>
          </a:p>
        </p:txBody>
      </p:sp>
      <p:sp>
        <p:nvSpPr>
          <p:cNvPr id="34" name="Text 32"/>
          <p:cNvSpPr txBox="1"/>
          <p:nvPr/>
        </p:nvSpPr>
        <p:spPr>
          <a:xfrm>
            <a:off x="8549640" y="3822192"/>
            <a:ext cx="2999232"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partial</a:t>
            </a:r>
            <a:endParaRPr lang="en-US" sz="1400" dirty="0"/>
          </a:p>
        </p:txBody>
      </p:sp>
      <p:sp>
        <p:nvSpPr>
          <p:cNvPr id="35" name="Shape 33"/>
          <p:cNvSpPr/>
          <p:nvPr/>
        </p:nvSpPr>
        <p:spPr>
          <a:xfrm>
            <a:off x="548640" y="4261104"/>
            <a:ext cx="11091672" cy="402336"/>
          </a:xfrm>
          <a:prstGeom prst="roundRect">
            <a:avLst>
              <a:gd name="adj" fmla="val 13636"/>
            </a:avLst>
          </a:prstGeom>
          <a:solidFill>
            <a:srgbClr val="FFFFFF"/>
          </a:solidFill>
          <a:ln w="12700">
            <a:solidFill>
              <a:srgbClr val="D5DFCB"/>
            </a:solidFill>
            <a:prstDash val="solid"/>
          </a:ln>
        </p:spPr>
      </p:sp>
      <p:sp>
        <p:nvSpPr>
          <p:cNvPr id="36" name="Text 34"/>
          <p:cNvSpPr txBox="1"/>
          <p:nvPr/>
        </p:nvSpPr>
        <p:spPr>
          <a:xfrm>
            <a:off x="685800" y="4261104"/>
            <a:ext cx="4069080" cy="402336"/>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อะแดปเตอร์ 5V 3A</a:t>
            </a:r>
            <a:endParaRPr lang="en-US" sz="1400" dirty="0"/>
          </a:p>
        </p:txBody>
      </p:sp>
      <p:sp>
        <p:nvSpPr>
          <p:cNvPr id="37" name="Text 35"/>
          <p:cNvSpPr txBox="1"/>
          <p:nvPr/>
        </p:nvSpPr>
        <p:spPr>
          <a:xfrm>
            <a:off x="4983480" y="4261104"/>
            <a:ext cx="1417320"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98.00</a:t>
            </a:r>
            <a:endParaRPr lang="en-US" sz="1400" dirty="0"/>
          </a:p>
        </p:txBody>
      </p:sp>
      <p:sp>
        <p:nvSpPr>
          <p:cNvPr id="38" name="Text 36"/>
          <p:cNvSpPr txBox="1"/>
          <p:nvPr/>
        </p:nvSpPr>
        <p:spPr>
          <a:xfrm>
            <a:off x="6629400" y="4261104"/>
            <a:ext cx="1691640"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98.00</a:t>
            </a:r>
            <a:endParaRPr lang="en-US" sz="1400" dirty="0"/>
          </a:p>
        </p:txBody>
      </p:sp>
      <p:sp>
        <p:nvSpPr>
          <p:cNvPr id="39" name="Text 37"/>
          <p:cNvSpPr txBox="1"/>
          <p:nvPr/>
        </p:nvSpPr>
        <p:spPr>
          <a:xfrm>
            <a:off x="8549640" y="4261104"/>
            <a:ext cx="2999232"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confirmed</a:t>
            </a:r>
            <a:endParaRPr lang="en-US" sz="1400" dirty="0"/>
          </a:p>
        </p:txBody>
      </p:sp>
      <p:sp>
        <p:nvSpPr>
          <p:cNvPr id="40" name="Shape 38"/>
          <p:cNvSpPr/>
          <p:nvPr/>
        </p:nvSpPr>
        <p:spPr>
          <a:xfrm>
            <a:off x="548640" y="4700016"/>
            <a:ext cx="11091672" cy="402336"/>
          </a:xfrm>
          <a:prstGeom prst="roundRect">
            <a:avLst>
              <a:gd name="adj" fmla="val 13636"/>
            </a:avLst>
          </a:prstGeom>
          <a:solidFill>
            <a:srgbClr val="EDF2E8"/>
          </a:solidFill>
          <a:ln w="12700">
            <a:solidFill>
              <a:srgbClr val="D5DFCB"/>
            </a:solidFill>
            <a:prstDash val="solid"/>
          </a:ln>
        </p:spPr>
      </p:sp>
      <p:sp>
        <p:nvSpPr>
          <p:cNvPr id="41" name="Text 39"/>
          <p:cNvSpPr txBox="1"/>
          <p:nvPr/>
        </p:nvSpPr>
        <p:spPr>
          <a:xfrm>
            <a:off x="685800" y="4700016"/>
            <a:ext cx="4069080" cy="402336"/>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ส่วนกลไก: สายซิลิโคน, breadboard, จัมเปอร์, แจ็ค DC</a:t>
            </a:r>
            <a:endParaRPr lang="en-US" sz="1400" dirty="0"/>
          </a:p>
        </p:txBody>
      </p:sp>
      <p:sp>
        <p:nvSpPr>
          <p:cNvPr id="42" name="Text 40"/>
          <p:cNvSpPr txBox="1"/>
          <p:nvPr/>
        </p:nvSpPr>
        <p:spPr>
          <a:xfrm>
            <a:off x="4983480" y="4700016"/>
            <a:ext cx="1417320"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97.64</a:t>
            </a:r>
            <a:endParaRPr lang="en-US" sz="1400" dirty="0"/>
          </a:p>
        </p:txBody>
      </p:sp>
      <p:sp>
        <p:nvSpPr>
          <p:cNvPr id="43" name="Text 41"/>
          <p:cNvSpPr txBox="1"/>
          <p:nvPr/>
        </p:nvSpPr>
        <p:spPr>
          <a:xfrm>
            <a:off x="6629400" y="4700016"/>
            <a:ext cx="1691640"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97.64</a:t>
            </a:r>
            <a:endParaRPr lang="en-US" sz="1400" dirty="0"/>
          </a:p>
        </p:txBody>
      </p:sp>
      <p:sp>
        <p:nvSpPr>
          <p:cNvPr id="44" name="Text 42"/>
          <p:cNvSpPr txBox="1"/>
          <p:nvPr/>
        </p:nvSpPr>
        <p:spPr>
          <a:xfrm>
            <a:off x="8549640" y="4700016"/>
            <a:ext cx="2999232" cy="402336"/>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ผสม</a:t>
            </a:r>
            <a:endParaRPr lang="en-US" sz="1400" dirty="0"/>
          </a:p>
        </p:txBody>
      </p:sp>
      <p:sp>
        <p:nvSpPr>
          <p:cNvPr id="45" name="Shape 43"/>
          <p:cNvSpPr/>
          <p:nvPr/>
        </p:nvSpPr>
        <p:spPr>
          <a:xfrm>
            <a:off x="548640" y="5138928"/>
            <a:ext cx="11091672" cy="365760"/>
          </a:xfrm>
          <a:prstGeom prst="roundRect">
            <a:avLst>
              <a:gd name="adj" fmla="val 15000"/>
            </a:avLst>
          </a:prstGeom>
          <a:solidFill>
            <a:srgbClr val="FFFFFF"/>
          </a:solidFill>
          <a:ln w="12700">
            <a:solidFill>
              <a:srgbClr val="D5DFCB"/>
            </a:solidFill>
            <a:prstDash val="solid"/>
          </a:ln>
        </p:spPr>
      </p:sp>
      <p:sp>
        <p:nvSpPr>
          <p:cNvPr id="46" name="Text 44"/>
          <p:cNvSpPr txBox="1"/>
          <p:nvPr/>
        </p:nvSpPr>
        <p:spPr>
          <a:xfrm>
            <a:off x="685800" y="5138928"/>
            <a:ext cx="4069080" cy="36576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ESP8266 (มีอยู่แล้ว)</a:t>
            </a:r>
            <a:endParaRPr lang="en-US" sz="1400" dirty="0"/>
          </a:p>
        </p:txBody>
      </p:sp>
      <p:sp>
        <p:nvSpPr>
          <p:cNvPr id="47" name="Text 45"/>
          <p:cNvSpPr txBox="1"/>
          <p:nvPr/>
        </p:nvSpPr>
        <p:spPr>
          <a:xfrm>
            <a:off x="4983480" y="5138928"/>
            <a:ext cx="1417320" cy="36576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0</a:t>
            </a:r>
            <a:endParaRPr lang="en-US" sz="1400" dirty="0"/>
          </a:p>
        </p:txBody>
      </p:sp>
      <p:sp>
        <p:nvSpPr>
          <p:cNvPr id="48" name="Text 46"/>
          <p:cNvSpPr txBox="1"/>
          <p:nvPr/>
        </p:nvSpPr>
        <p:spPr>
          <a:xfrm>
            <a:off x="6629400" y="5138928"/>
            <a:ext cx="1691640" cy="36576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0</a:t>
            </a:r>
            <a:endParaRPr lang="en-US" sz="1400" dirty="0"/>
          </a:p>
        </p:txBody>
      </p:sp>
      <p:sp>
        <p:nvSpPr>
          <p:cNvPr id="49" name="Text 47"/>
          <p:cNvSpPr txBox="1"/>
          <p:nvPr/>
        </p:nvSpPr>
        <p:spPr>
          <a:xfrm>
            <a:off x="8549640" y="5138928"/>
            <a:ext cx="2999232" cy="36576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a:t>
            </a:r>
            <a:endParaRPr lang="en-US" sz="1400" dirty="0"/>
          </a:p>
        </p:txBody>
      </p:sp>
      <p:sp>
        <p:nvSpPr>
          <p:cNvPr id="50" name="Shape 48"/>
          <p:cNvSpPr/>
          <p:nvPr/>
        </p:nvSpPr>
        <p:spPr>
          <a:xfrm>
            <a:off x="548640" y="5541264"/>
            <a:ext cx="11091672" cy="457200"/>
          </a:xfrm>
          <a:prstGeom prst="roundRect">
            <a:avLst>
              <a:gd name="adj" fmla="val 12000"/>
            </a:avLst>
          </a:prstGeom>
          <a:solidFill>
            <a:srgbClr val="EDF2E8"/>
          </a:solidFill>
          <a:ln w="12700">
            <a:solidFill>
              <a:srgbClr val="D5DFCB"/>
            </a:solidFill>
            <a:prstDash val="solid"/>
          </a:ln>
        </p:spPr>
      </p:sp>
      <p:sp>
        <p:nvSpPr>
          <p:cNvPr id="51" name="Text 49"/>
          <p:cNvSpPr txBox="1"/>
          <p:nvPr/>
        </p:nvSpPr>
        <p:spPr>
          <a:xfrm>
            <a:off x="685800" y="5541264"/>
            <a:ext cx="4069080" cy="457200"/>
          </a:xfrm>
          <a:prstGeom prst="rect">
            <a:avLst/>
          </a:prstGeom>
          <a:noFill/>
          <a:ln/>
        </p:spPr>
        <p:txBody>
          <a:bodyPr wrap="square" lIns="0" tIns="0" rIns="0" bIns="0" rtlCol="0" anchor="ctr"/>
          <a:lstStyle/>
          <a:p>
            <a:pPr algn="l" indent="0" marL="0">
              <a:buNone/>
            </a:pPr>
            <a:r>
              <a:rPr lang="en-US" sz="1400" b="1" dirty="0">
                <a:solidFill>
                  <a:srgbClr val="17301F"/>
                </a:solidFill>
                <a:latin typeface="Tahoma" pitchFamily="34" charset="0"/>
                <a:ea typeface="Tahoma" pitchFamily="34" charset="-122"/>
                <a:cs typeface="Tahoma" pitchFamily="34" charset="-120"/>
              </a:rPr>
              <a:t>รวม</a:t>
            </a:r>
            <a:endParaRPr lang="en-US" sz="1400" dirty="0"/>
          </a:p>
        </p:txBody>
      </p:sp>
      <p:sp>
        <p:nvSpPr>
          <p:cNvPr id="52" name="Text 50"/>
          <p:cNvSpPr txBox="1"/>
          <p:nvPr/>
        </p:nvSpPr>
        <p:spPr>
          <a:xfrm>
            <a:off x="4983480" y="5541264"/>
            <a:ext cx="1417320" cy="45720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3,517.89</a:t>
            </a:r>
            <a:endParaRPr lang="en-US" sz="1400" dirty="0"/>
          </a:p>
        </p:txBody>
      </p:sp>
      <p:sp>
        <p:nvSpPr>
          <p:cNvPr id="53" name="Text 51"/>
          <p:cNvSpPr txBox="1"/>
          <p:nvPr/>
        </p:nvSpPr>
        <p:spPr>
          <a:xfrm>
            <a:off x="6629400" y="5541264"/>
            <a:ext cx="1691640" cy="45720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1,384.68</a:t>
            </a:r>
            <a:endParaRPr lang="en-US" sz="1400" dirty="0"/>
          </a:p>
        </p:txBody>
      </p:sp>
      <p:sp>
        <p:nvSpPr>
          <p:cNvPr id="54" name="Text 52"/>
          <p:cNvSpPr txBox="1"/>
          <p:nvPr/>
        </p:nvSpPr>
        <p:spPr>
          <a:xfrm>
            <a:off x="8549640" y="5541264"/>
            <a:ext cx="2999232" cy="457200"/>
          </a:xfrm>
          <a:prstGeom prst="rect">
            <a:avLst/>
          </a:prstGeom>
          <a:noFill/>
          <a:ln/>
        </p:spPr>
        <p:txBody>
          <a:bodyPr wrap="square" lIns="0" tIns="0" rIns="0" bIns="0" rtlCol="0" anchor="ctr"/>
          <a:lstStyle/>
          <a:p>
            <a:pPr algn="l" indent="0" marL="0">
              <a:buNone/>
            </a:pPr>
            <a:r>
              <a:rPr lang="en-US" sz="1400" dirty="0">
                <a:solidFill>
                  <a:srgbClr val="17301F"/>
                </a:solidFill>
                <a:latin typeface="Tahoma" pitchFamily="34" charset="0"/>
                <a:ea typeface="Tahoma" pitchFamily="34" charset="-122"/>
                <a:cs typeface="Tahoma" pitchFamily="34" charset="-120"/>
              </a:rPr>
              <a:t>BME680 ฿1,078 → ≈ 2,120.73</a:t>
            </a:r>
            <a:endParaRPr lang="en-US" sz="1400" dirty="0"/>
          </a:p>
        </p:txBody>
      </p:sp>
      <p:sp>
        <p:nvSpPr>
          <p:cNvPr id="55" name="Text 53"/>
          <p:cNvSpPr txBox="1"/>
          <p:nvPr/>
        </p:nvSpPr>
        <p:spPr>
          <a:xfrm>
            <a:off x="548640" y="6355080"/>
            <a:ext cx="10424160" cy="274320"/>
          </a:xfrm>
          <a:prstGeom prst="rect">
            <a:avLst/>
          </a:prstGeom>
          <a:noFill/>
          <a:ln/>
        </p:spPr>
        <p:txBody>
          <a:bodyPr wrap="square" lIns="0" tIns="0" rIns="0" bIns="0" rtlCol="0" anchor="t"/>
          <a:lstStyle/>
          <a:p>
            <a:pPr algn="l" indent="0" marL="0">
              <a:buNone/>
            </a:pPr>
            <a:r>
              <a:rPr lang="en-US" sz="1200" dirty="0">
                <a:solidFill>
                  <a:srgbClr val="56665B"/>
                </a:solidFill>
                <a:latin typeface="Tahoma" pitchFamily="34" charset="0"/>
                <a:ea typeface="Tahoma" pitchFamily="34" charset="-122"/>
                <a:cs typeface="Tahoma" pitchFamily="34" charset="-120"/>
              </a:rPr>
              <a:t>ราคา Lazada.co.th / allnewstep.com 26 ต.ค. 2026 ไม่รวมค่าส่ง ไส้กรองคาร์บอน กล่อง ท่อ PTFE (ยังไม่พบไส้กรองอากาศสำเร็จรูป) · ถ้าซื้อ ESP32-S3 เพิ่ม +฿200</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6665B"/>
                </a:solidFill>
                <a:latin typeface="Tahoma"/>
                <a:ea typeface="Tahoma"/>
                <a:cs typeface="Tahoma"/>
              </a:defRPr>
            </a:lvl1pPr>
          </a:lstStyle>
          <a:p>
            <a:pPr algn="l"/>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จมูกแมลงหวี่ v6 — IoT เฝ้าระวังการสุกและการเสียของทุเรียนส่งออก</dc:title>
  <dc:subject>PptxGenJS Presentation</dc:subject>
  <dc:creator>ณัฐพฤทธ์ เอกประเสริฐ</dc:creator>
  <cp:lastModifiedBy>ณัฐพฤทธ์ เอกประเสริฐ</cp:lastModifiedBy>
  <cp:revision>1</cp:revision>
  <dcterms:created xsi:type="dcterms:W3CDTF">2026-10-27T01:09:01Z</dcterms:created>
  <dcterms:modified xsi:type="dcterms:W3CDTF">2026-10-27T01:09:01Z</dcterms:modified>
</cp:coreProperties>
</file>